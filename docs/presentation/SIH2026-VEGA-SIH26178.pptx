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60"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kinsoku lang="zh-CN" invalStChars="!%),.:;?]}¨·ˇˉ་―‖’”…‰∶、。〃々〉》」』】〕〗！＂＇％），．：；？］｀｜｝～￠" invalEndChars="([{·‘“〈《「『【〔〖（．［｛￡￥"/>
  <p:defaultTextStyle>
    <a:defPPr>
      <a:defRPr lang="zh-CN"/>
    </a:defPPr>
    <a:lvl1pPr algn="l" defTabSz="914400" fontAlgn="base" hangingPunct="1">
      <a:spcBef>
        <a:spcPts val="0"/>
      </a:spcBef>
      <a:spcAft>
        <a:spcPts val="0"/>
      </a:spcAft>
      <a:buNone/>
      <a:defRPr sz="1800" kern="1200">
        <a:solidFill>
          <a:schemeClr val="tx1"/>
        </a:solidFill>
        <a:latin typeface="Calibri" pitchFamily="34" charset="0"/>
        <a:ea typeface="ＭＳ Ｐゴシック" pitchFamily="1" charset="-128"/>
        <a:cs typeface="Droid Sans" charset="0"/>
      </a:defRPr>
    </a:lvl1pPr>
    <a:lvl2pPr marL="457200" indent="0" algn="l" defTabSz="914400" fontAlgn="base" hangingPunct="1">
      <a:spcBef>
        <a:spcPts val="0"/>
      </a:spcBef>
      <a:spcAft>
        <a:spcPts val="0"/>
      </a:spcAft>
      <a:buNone/>
      <a:defRPr sz="1800" kern="1200">
        <a:solidFill>
          <a:schemeClr val="tx1"/>
        </a:solidFill>
        <a:latin typeface="Calibri" pitchFamily="34" charset="0"/>
        <a:ea typeface="ＭＳ Ｐゴシック" pitchFamily="1" charset="-128"/>
        <a:cs typeface="Droid Sans" charset="0"/>
      </a:defRPr>
    </a:lvl2pPr>
    <a:lvl3pPr marL="914400" indent="0" algn="l" defTabSz="914400" fontAlgn="base" hangingPunct="1">
      <a:spcBef>
        <a:spcPts val="0"/>
      </a:spcBef>
      <a:spcAft>
        <a:spcPts val="0"/>
      </a:spcAft>
      <a:buNone/>
      <a:defRPr sz="1800" kern="1200">
        <a:solidFill>
          <a:schemeClr val="tx1"/>
        </a:solidFill>
        <a:latin typeface="Calibri" pitchFamily="34" charset="0"/>
        <a:ea typeface="ＭＳ Ｐゴシック" pitchFamily="1" charset="-128"/>
        <a:cs typeface="Droid Sans" charset="0"/>
      </a:defRPr>
    </a:lvl3pPr>
    <a:lvl4pPr marL="1371600" indent="0" algn="l" defTabSz="914400" fontAlgn="base" hangingPunct="1">
      <a:spcBef>
        <a:spcPts val="0"/>
      </a:spcBef>
      <a:spcAft>
        <a:spcPts val="0"/>
      </a:spcAft>
      <a:buNone/>
      <a:defRPr sz="1800" kern="1200">
        <a:solidFill>
          <a:schemeClr val="tx1"/>
        </a:solidFill>
        <a:latin typeface="Calibri" pitchFamily="34" charset="0"/>
        <a:ea typeface="ＭＳ Ｐゴシック" pitchFamily="1" charset="-128"/>
        <a:cs typeface="Droid Sans" charset="0"/>
      </a:defRPr>
    </a:lvl4pPr>
    <a:lvl5pPr marL="1828800" indent="0" algn="l" defTabSz="914400" fontAlgn="base" hangingPunct="1">
      <a:spcBef>
        <a:spcPts val="0"/>
      </a:spcBef>
      <a:spcAft>
        <a:spcPts val="0"/>
      </a:spcAft>
      <a:buNone/>
      <a:defRPr sz="1800" kern="1200">
        <a:solidFill>
          <a:schemeClr val="tx1"/>
        </a:solidFill>
        <a:latin typeface="Calibri" pitchFamily="34" charset="0"/>
        <a:ea typeface="ＭＳ Ｐゴシック" pitchFamily="1" charset="-128"/>
        <a:cs typeface="Droid Sans" charset="0"/>
      </a:defRPr>
    </a:lvl5pPr>
    <a:lvl6pPr marL="2286000" indent="0" algn="l" defTabSz="914400" eaLnBrk="1" fontAlgn="auto" latinLnBrk="0" hangingPunct="1">
      <a:buNone/>
      <a:defRPr sz="1800" kern="1200">
        <a:solidFill>
          <a:schemeClr val="tx1"/>
        </a:solidFill>
        <a:latin typeface="Calibri" pitchFamily="34" charset="0"/>
        <a:ea typeface="ＭＳ Ｐゴシック" pitchFamily="1" charset="-128"/>
        <a:cs typeface="Droid Sans" charset="0"/>
      </a:defRPr>
    </a:lvl6pPr>
    <a:lvl7pPr marL="2743200" indent="0" algn="l" defTabSz="914400" eaLnBrk="1" fontAlgn="auto" latinLnBrk="0" hangingPunct="1">
      <a:buNone/>
      <a:defRPr sz="1800" kern="1200">
        <a:solidFill>
          <a:schemeClr val="tx1"/>
        </a:solidFill>
        <a:latin typeface="Calibri" pitchFamily="34" charset="0"/>
        <a:ea typeface="ＭＳ Ｐゴシック" pitchFamily="1" charset="-128"/>
        <a:cs typeface="Droid Sans" charset="0"/>
      </a:defRPr>
    </a:lvl7pPr>
    <a:lvl8pPr marL="3200400" indent="0" algn="l" defTabSz="914400" eaLnBrk="1" fontAlgn="auto" latinLnBrk="0" hangingPunct="1">
      <a:buNone/>
      <a:defRPr sz="1800" kern="1200">
        <a:solidFill>
          <a:schemeClr val="tx1"/>
        </a:solidFill>
        <a:latin typeface="Calibri" pitchFamily="34" charset="0"/>
        <a:ea typeface="ＭＳ Ｐゴシック" pitchFamily="1" charset="-128"/>
        <a:cs typeface="Droid Sans" charset="0"/>
      </a:defRPr>
    </a:lvl8pPr>
    <a:lvl9pPr marL="3200400" indent="0" algn="l" defTabSz="914400" eaLnBrk="1" fontAlgn="auto" latinLnBrk="0" hangingPunct="1">
      <a:buNone/>
      <a:defRPr sz="1800" kern="1200">
        <a:solidFill>
          <a:schemeClr val="tx1"/>
        </a:solidFill>
        <a:latin typeface="Calibri" pitchFamily="34" charset="0"/>
        <a:ea typeface="ＭＳ Ｐゴシック" pitchFamily="1" charset="-128"/>
        <a:cs typeface="Droid Sans"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8CC3"/>
    <a:srgbClr val="D0DDED"/>
    <a:srgbClr val="1F497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napToGrid="0" snapToObjects="1">
      <p:cViewPr>
        <p:scale>
          <a:sx n="100" d="100"/>
          <a:sy n="100" d="100"/>
        </p:scale>
        <p:origin x="-86" y="-59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pitchFamily="34" charset="0"/>
                <a:ea typeface="ＭＳ Ｐゴシック" pitchFamily="1" charset="-128"/>
                <a:cs typeface="Calibri" pitchFamily="34" charset="0"/>
              </a:rPr>
              <a:t>‹#›</a:t>
            </a:fld>
            <a:endParaRPr lang="zh-CN" altLang="en-US" sz="1200">
              <a:latin typeface="Calibri" pitchFamily="34" charset="0"/>
              <a:ea typeface="ＭＳ Ｐゴシック" pitchFamily="1" charset="-128"/>
              <a:cs typeface="Calibri" pitchFamily="34" charset="0"/>
            </a:endParaRPr>
          </a:p>
        </p:txBody>
      </p:sp>
      <p:sp>
        <p:nvSpPr>
          <p:cNvPr id="7" name="Text box"/>
          <p:cNvSpPr>
            <a:spLocks noGrp="1"/>
          </p:cNvSpPr>
          <p:nvPr>
            <p:ph type="hdr"/>
          </p:nvPr>
        </p:nvSpPr>
        <p:spPr>
          <a:xfrm>
            <a:off x="0" y="0"/>
            <a:ext cx="2971799"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l" fontAlgn="auto">
              <a:spcBef>
                <a:spcPts val="0"/>
              </a:spcBef>
              <a:spcAft>
                <a:spcPts val="0"/>
              </a:spcAft>
            </a:pPr>
            <a:endParaRPr lang="zh-CN" altLang="en-US" sz="1200">
              <a:latin typeface="Calibri" pitchFamily="34" charset="0"/>
              <a:ea typeface="宋体" charset="0"/>
              <a:cs typeface="Calibri" pitchFamily="34" charset="0"/>
            </a:endParaRPr>
          </a:p>
        </p:txBody>
      </p:sp>
      <p:sp>
        <p:nvSpPr>
          <p:cNvPr id="8" name="Text box"/>
          <p:cNvSpPr>
            <a:spLocks noGrp="1"/>
          </p:cNvSpPr>
          <p:nvPr>
            <p:ph type="dt" idx="1"/>
          </p:nvPr>
        </p:nvSpPr>
        <p:spPr>
          <a:xfrm>
            <a:off x="3884613" y="0"/>
            <a:ext cx="2971800"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fld id="{CAD2D6BD-DE1B-4B5F-8B41-2702339687B9}" type="datetime1">
              <a:rPr lang="en-US" altLang="zh-CN" sz="1200">
                <a:latin typeface="Calibri" pitchFamily="34" charset="0"/>
                <a:ea typeface="ＭＳ Ｐゴシック" pitchFamily="1" charset="-128"/>
                <a:cs typeface="Calibri" pitchFamily="34" charset="0"/>
              </a:rPr>
              <a:t>9/29/2026</a:t>
            </a:fld>
            <a:endParaRPr lang="zh-CN" altLang="en-US" sz="1200">
              <a:latin typeface="Calibri" pitchFamily="34" charset="0"/>
              <a:ea typeface="ＭＳ Ｐゴシック" pitchFamily="1" charset="-128"/>
              <a:cs typeface="Calibri" pitchFamily="34" charset="0"/>
            </a:endParaRPr>
          </a:p>
        </p:txBody>
      </p:sp>
      <p:sp>
        <p:nvSpPr>
          <p:cNvPr id="9" name="Object"/>
          <p:cNvSpPr>
            <a:spLocks noGrp="1" noRot="1" noChangeAspect="1"/>
          </p:cNvSpPr>
          <p:nvPr>
            <p:ph type="sldImg" idx="2"/>
          </p:nvPr>
        </p:nvSpPr>
        <p:spPr>
          <a:xfrm>
            <a:off x="381000" y="685800"/>
            <a:ext cx="6096000" cy="3429000"/>
          </a:xfrm>
          <a:prstGeom prst="rect">
            <a:avLst/>
          </a:prstGeom>
          <a:noFill/>
          <a:ln w="12700" cap="flat" cmpd="sng">
            <a:solidFill>
              <a:srgbClr val="000000"/>
            </a:solidFill>
            <a:prstDash val="solid"/>
            <a:round/>
          </a:ln>
        </p:spPr>
      </p:sp>
      <p:sp>
        <p:nvSpPr>
          <p:cNvPr id="10" name="Text box"/>
          <p:cNvSpPr>
            <a:spLocks noGrp="1"/>
          </p:cNvSpPr>
          <p:nvPr>
            <p:ph type="body" idx="3"/>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11" name="Text box"/>
          <p:cNvSpPr>
            <a:spLocks noGrp="1"/>
          </p:cNvSpPr>
          <p:nvPr>
            <p:ph type="ftr" idx="4"/>
          </p:nvPr>
        </p:nvSpPr>
        <p:spPr>
          <a:xfrm>
            <a:off x="0" y="8685213"/>
            <a:ext cx="2971799"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l" fontAlgn="auto">
              <a:spcBef>
                <a:spcPts val="0"/>
              </a:spcBef>
              <a:spcAft>
                <a:spcPts val="0"/>
              </a:spcAft>
            </a:pPr>
            <a:endParaRPr lang="zh-CN" altLang="en-US" sz="1200">
              <a:latin typeface="Calibri" pitchFamily="34" charset="0"/>
              <a:ea typeface="宋体" charset="0"/>
              <a:cs typeface="Calibri" pitchFamily="34" charset="0"/>
            </a:endParaRPr>
          </a:p>
        </p:txBody>
      </p:sp>
    </p:spTree>
    <p:extLst>
      <p:ext uri="{BB962C8B-B14F-4D97-AF65-F5344CB8AC3E}">
        <p14:creationId xmlns:p14="http://schemas.microsoft.com/office/powerpoint/2010/main" val="36294993"/>
      </p:ext>
    </p:extLst>
  </p:cSld>
  <p:clrMap bg1="lt1" tx1="dk1" bg2="lt2" tx2="dk2" accent1="accent1" accent2="accent2" accent3="accent3" accent4="accent4" accent5="accent5" accent6="accent6" hlink="hlink" folHlink="folHlink"/>
  <p:hf hdr="0" ftr="0" dt="0"/>
  <p:notesStyle>
    <a:lvl1pPr marL="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34" charset="0"/>
        <a:ea typeface="ＭＳ Ｐゴシック" pitchFamily="1" charset="-128"/>
        <a:cs typeface="ＭＳ Ｐゴシック" pitchFamily="1" charset="-128"/>
      </a:defRPr>
    </a:lvl1pPr>
    <a:lvl2pPr marL="4572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34" charset="0"/>
        <a:ea typeface="ＭＳ Ｐゴシック" pitchFamily="1" charset="-128"/>
        <a:cs typeface="Calibri" pitchFamily="34" charset="0"/>
      </a:defRPr>
    </a:lvl2pPr>
    <a:lvl3pPr marL="9144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34" charset="0"/>
        <a:ea typeface="ＭＳ Ｐゴシック" pitchFamily="1" charset="-128"/>
        <a:cs typeface="Calibri" pitchFamily="34" charset="0"/>
      </a:defRPr>
    </a:lvl3pPr>
    <a:lvl4pPr marL="13716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34" charset="0"/>
        <a:ea typeface="ＭＳ Ｐゴシック" pitchFamily="1" charset="-128"/>
        <a:cs typeface="Calibri" pitchFamily="34" charset="0"/>
      </a:defRPr>
    </a:lvl4pPr>
    <a:lvl5pPr marL="18288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itchFamily="34" charset="0"/>
        <a:ea typeface="ＭＳ Ｐゴシック" pitchFamily="1" charset="-128"/>
        <a:cs typeface="Calibri" pitchFamily="34"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34" charset="0"/>
        <a:ea typeface="宋体" charset="0"/>
        <a:cs typeface="Calibri" pitchFamily="34"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34" charset="0"/>
        <a:ea typeface="宋体" charset="0"/>
        <a:cs typeface="Calibri" pitchFamily="34"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34" charset="0"/>
        <a:ea typeface="宋体" charset="0"/>
        <a:cs typeface="Calibri" pitchFamily="34"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34" charset="0"/>
        <a:ea typeface="宋体" charset="0"/>
        <a:cs typeface="Calibri" pitchFamily="34"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noRot="1" noChangeAspect="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pitchFamily="34" charset="0"/>
                <a:ea typeface="ＭＳ Ｐゴシック" pitchFamily="1" charset="-128"/>
                <a:cs typeface="Calibri" pitchFamily="34" charset="0"/>
              </a:rPr>
              <a:t>1</a:t>
            </a:fld>
            <a:endParaRPr lang="zh-CN" altLang="en-US" sz="1200">
              <a:latin typeface="Calibri" pitchFamily="34" charset="0"/>
              <a:ea typeface="ＭＳ Ｐゴシック" pitchFamily="1" charset="-128"/>
              <a:cs typeface="Calibri" pitchFamily="34" charset="0"/>
            </a:endParaRPr>
          </a:p>
        </p:txBody>
      </p:sp>
    </p:spTree>
    <p:extLst>
      <p:ext uri="{BB962C8B-B14F-4D97-AF65-F5344CB8AC3E}">
        <p14:creationId xmlns:p14="http://schemas.microsoft.com/office/powerpoint/2010/main" val="415904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pitchFamily="34" charset="0"/>
                <a:ea typeface="ＭＳ Ｐゴシック" pitchFamily="1" charset="-128"/>
                <a:cs typeface="Calibri" pitchFamily="34" charset="0"/>
              </a:rPr>
              <a:t>2</a:t>
            </a:fld>
            <a:endParaRPr lang="zh-CN" altLang="en-US" sz="1200">
              <a:latin typeface="Calibri" pitchFamily="34" charset="0"/>
              <a:ea typeface="ＭＳ Ｐゴシック" pitchFamily="1" charset="-128"/>
              <a:cs typeface="Calibri" pitchFamily="34" charset="0"/>
            </a:endParaRPr>
          </a:p>
        </p:txBody>
      </p:sp>
      <p:sp>
        <p:nvSpPr>
          <p:cNvPr id="37" name="Object"/>
          <p:cNvSpPr>
            <a:spLocks noGrp="1" noRot="1" noChangeAspect="1"/>
          </p:cNvSpPr>
          <p:nvPr>
            <p:ph type="sldImg"/>
          </p:nvPr>
        </p:nvSpPr>
        <p:spPr>
          <a:xfrm>
            <a:off x="381000" y="685800"/>
            <a:ext cx="6096000" cy="3429000"/>
          </a:xfrm>
          <a:prstGeom prst="rect">
            <a:avLst/>
          </a:prstGeom>
          <a:noFill/>
          <a:ln w="12700" cap="flat" cmpd="sng">
            <a:solidFill>
              <a:srgbClr val="000000"/>
            </a:solidFill>
            <a:prstDash val="solid"/>
            <a:miter/>
          </a:ln>
        </p:spPr>
      </p:sp>
      <p:sp>
        <p:nvSpPr>
          <p:cNvPr id="38" name="Text box"/>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39"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Calibri" pitchFamily="34" charset="0"/>
                <a:ea typeface="ＭＳ Ｐゴシック" pitchFamily="1" charset="-128"/>
                <a:cs typeface="Lucida Sans"/>
              </a:rPr>
              <a:t>2</a:t>
            </a:fld>
            <a:endParaRPr lang="zh-CN" altLang="en-US"/>
          </a:p>
        </p:txBody>
      </p:sp>
    </p:spTree>
    <p:extLst>
      <p:ext uri="{BB962C8B-B14F-4D97-AF65-F5344CB8AC3E}">
        <p14:creationId xmlns:p14="http://schemas.microsoft.com/office/powerpoint/2010/main" val="1048211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pitchFamily="34" charset="0"/>
                <a:ea typeface="ＭＳ Ｐゴシック" pitchFamily="1" charset="-128"/>
                <a:cs typeface="Calibri" pitchFamily="34" charset="0"/>
              </a:rPr>
              <a:t>3</a:t>
            </a:fld>
            <a:endParaRPr lang="zh-CN" altLang="en-US" sz="1200">
              <a:latin typeface="Calibri" pitchFamily="34" charset="0"/>
              <a:ea typeface="ＭＳ Ｐゴシック" pitchFamily="1" charset="-128"/>
              <a:cs typeface="Calibri" pitchFamily="34" charset="0"/>
            </a:endParaRPr>
          </a:p>
        </p:txBody>
      </p:sp>
      <p:sp>
        <p:nvSpPr>
          <p:cNvPr id="47" name="Object"/>
          <p:cNvSpPr>
            <a:spLocks noGrp="1" noRot="1" noChangeAspect="1"/>
          </p:cNvSpPr>
          <p:nvPr>
            <p:ph type="sldImg"/>
          </p:nvPr>
        </p:nvSpPr>
        <p:spPr>
          <a:xfrm>
            <a:off x="381000" y="685800"/>
            <a:ext cx="6096000" cy="3429000"/>
          </a:xfrm>
          <a:prstGeom prst="rect">
            <a:avLst/>
          </a:prstGeom>
          <a:noFill/>
          <a:ln w="12700" cap="flat" cmpd="sng">
            <a:solidFill>
              <a:srgbClr val="000000"/>
            </a:solidFill>
            <a:prstDash val="solid"/>
            <a:miter/>
          </a:ln>
        </p:spPr>
      </p:sp>
      <p:sp>
        <p:nvSpPr>
          <p:cNvPr id="48" name="Text box"/>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49"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Calibri" pitchFamily="34" charset="0"/>
                <a:ea typeface="ＭＳ Ｐゴシック" pitchFamily="1" charset="-128"/>
                <a:cs typeface="Lucida Sans"/>
              </a:rPr>
              <a:t>3</a:t>
            </a:fld>
            <a:endParaRPr lang="zh-CN" altLang="en-US"/>
          </a:p>
        </p:txBody>
      </p:sp>
    </p:spTree>
    <p:extLst>
      <p:ext uri="{BB962C8B-B14F-4D97-AF65-F5344CB8AC3E}">
        <p14:creationId xmlns:p14="http://schemas.microsoft.com/office/powerpoint/2010/main" val="230964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pitchFamily="34" charset="0"/>
                <a:ea typeface="ＭＳ Ｐゴシック" pitchFamily="1" charset="-128"/>
                <a:cs typeface="Calibri" pitchFamily="34" charset="0"/>
              </a:rPr>
              <a:t>4</a:t>
            </a:fld>
            <a:endParaRPr lang="zh-CN" altLang="en-US" sz="1200">
              <a:latin typeface="Calibri" pitchFamily="34" charset="0"/>
              <a:ea typeface="ＭＳ Ｐゴシック" pitchFamily="1" charset="-128"/>
              <a:cs typeface="Calibri" pitchFamily="34" charset="0"/>
            </a:endParaRPr>
          </a:p>
        </p:txBody>
      </p:sp>
      <p:sp>
        <p:nvSpPr>
          <p:cNvPr id="57" name="Object"/>
          <p:cNvSpPr>
            <a:spLocks noGrp="1" noRot="1" noChangeAspect="1"/>
          </p:cNvSpPr>
          <p:nvPr>
            <p:ph type="sldImg"/>
          </p:nvPr>
        </p:nvSpPr>
        <p:spPr>
          <a:xfrm>
            <a:off x="381000" y="685800"/>
            <a:ext cx="6096000" cy="3429000"/>
          </a:xfrm>
          <a:prstGeom prst="rect">
            <a:avLst/>
          </a:prstGeom>
          <a:noFill/>
          <a:ln w="12700" cap="flat" cmpd="sng">
            <a:solidFill>
              <a:srgbClr val="000000"/>
            </a:solidFill>
            <a:prstDash val="solid"/>
            <a:miter/>
          </a:ln>
        </p:spPr>
      </p:sp>
      <p:sp>
        <p:nvSpPr>
          <p:cNvPr id="58" name="Text box"/>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59"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r" defTabSz="457200" eaLnBrk="1" fontAlgn="base" latinLnBrk="0"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000000"/>
                </a:solidFill>
                <a:latin typeface="Calibri" pitchFamily="34" charset="0"/>
                <a:ea typeface="ＭＳ Ｐゴシック" pitchFamily="1" charset="-128"/>
                <a:cs typeface="Calibri" pitchFamily="34" charset="0"/>
              </a:rPr>
              <a:t>4</a:t>
            </a:fld>
            <a:endParaRPr lang="zh-CN" altLang="en-US" sz="1200" b="0" i="0" u="none" strike="noStrike" kern="1200" cap="none" spc="0" baseline="0">
              <a:solidFill>
                <a:srgbClr val="000000"/>
              </a:solidFill>
              <a:latin typeface="Calibri" pitchFamily="34" charset="0"/>
              <a:ea typeface="ＭＳ Ｐゴシック" pitchFamily="1" charset="-128"/>
              <a:cs typeface="Calibri" pitchFamily="34" charset="0"/>
            </a:endParaRPr>
          </a:p>
        </p:txBody>
      </p:sp>
    </p:spTree>
    <p:extLst>
      <p:ext uri="{BB962C8B-B14F-4D97-AF65-F5344CB8AC3E}">
        <p14:creationId xmlns:p14="http://schemas.microsoft.com/office/powerpoint/2010/main" val="262415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pitchFamily="34" charset="0"/>
                <a:ea typeface="ＭＳ Ｐゴシック" pitchFamily="1" charset="-128"/>
                <a:cs typeface="Calibri" pitchFamily="34" charset="0"/>
              </a:rPr>
              <a:t>5</a:t>
            </a:fld>
            <a:endParaRPr lang="zh-CN" altLang="en-US" sz="1200">
              <a:latin typeface="Calibri" pitchFamily="34" charset="0"/>
              <a:ea typeface="ＭＳ Ｐゴシック" pitchFamily="1" charset="-128"/>
              <a:cs typeface="Calibri" pitchFamily="34" charset="0"/>
            </a:endParaRPr>
          </a:p>
        </p:txBody>
      </p:sp>
      <p:sp>
        <p:nvSpPr>
          <p:cNvPr id="67" name="Object"/>
          <p:cNvSpPr>
            <a:spLocks noGrp="1" noRot="1" noChangeAspect="1"/>
          </p:cNvSpPr>
          <p:nvPr>
            <p:ph type="sldImg"/>
          </p:nvPr>
        </p:nvSpPr>
        <p:spPr>
          <a:xfrm>
            <a:off x="381000" y="685800"/>
            <a:ext cx="6096000" cy="3429000"/>
          </a:xfrm>
          <a:prstGeom prst="rect">
            <a:avLst/>
          </a:prstGeom>
          <a:noFill/>
          <a:ln w="12700" cap="flat" cmpd="sng">
            <a:solidFill>
              <a:srgbClr val="000000"/>
            </a:solidFill>
            <a:prstDash val="solid"/>
            <a:miter/>
          </a:ln>
        </p:spPr>
      </p:sp>
      <p:sp>
        <p:nvSpPr>
          <p:cNvPr id="68" name="Text box"/>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69"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r" defTabSz="457200" eaLnBrk="1" fontAlgn="base" latinLnBrk="0"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000000"/>
                </a:solidFill>
                <a:latin typeface="Calibri" pitchFamily="34" charset="0"/>
                <a:ea typeface="ＭＳ Ｐゴシック" pitchFamily="1" charset="-128"/>
                <a:cs typeface="Calibri" pitchFamily="34" charset="0"/>
              </a:rPr>
              <a:t>5</a:t>
            </a:fld>
            <a:endParaRPr lang="zh-CN" altLang="en-US" sz="1200" b="0" i="0" u="none" strike="noStrike" kern="1200" cap="none" spc="0" baseline="0">
              <a:solidFill>
                <a:srgbClr val="000000"/>
              </a:solidFill>
              <a:latin typeface="Calibri" pitchFamily="34" charset="0"/>
              <a:ea typeface="ＭＳ Ｐゴシック" pitchFamily="1" charset="-128"/>
              <a:cs typeface="Calibri" pitchFamily="34" charset="0"/>
            </a:endParaRPr>
          </a:p>
        </p:txBody>
      </p:sp>
    </p:spTree>
    <p:extLst>
      <p:ext uri="{BB962C8B-B14F-4D97-AF65-F5344CB8AC3E}">
        <p14:creationId xmlns:p14="http://schemas.microsoft.com/office/powerpoint/2010/main" val="561750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pitchFamily="34" charset="0"/>
                <a:ea typeface="ＭＳ Ｐゴシック" pitchFamily="1" charset="-128"/>
                <a:cs typeface="Calibri" pitchFamily="34" charset="0"/>
              </a:rPr>
              <a:t>6</a:t>
            </a:fld>
            <a:endParaRPr lang="zh-CN" altLang="en-US" sz="1200">
              <a:latin typeface="Calibri" pitchFamily="34" charset="0"/>
              <a:ea typeface="ＭＳ Ｐゴシック" pitchFamily="1" charset="-128"/>
              <a:cs typeface="Calibri" pitchFamily="34" charset="0"/>
            </a:endParaRPr>
          </a:p>
        </p:txBody>
      </p:sp>
      <p:sp>
        <p:nvSpPr>
          <p:cNvPr id="77" name="Object"/>
          <p:cNvSpPr>
            <a:spLocks noGrp="1" noRot="1" noChangeAspect="1"/>
          </p:cNvSpPr>
          <p:nvPr>
            <p:ph type="sldImg"/>
          </p:nvPr>
        </p:nvSpPr>
        <p:spPr>
          <a:xfrm>
            <a:off x="381000" y="685800"/>
            <a:ext cx="6096000" cy="3429000"/>
          </a:xfrm>
          <a:prstGeom prst="rect">
            <a:avLst/>
          </a:prstGeom>
          <a:noFill/>
          <a:ln w="12700" cap="flat" cmpd="sng">
            <a:solidFill>
              <a:srgbClr val="000000"/>
            </a:solidFill>
            <a:prstDash val="solid"/>
            <a:miter/>
          </a:ln>
        </p:spPr>
      </p:sp>
      <p:sp>
        <p:nvSpPr>
          <p:cNvPr id="78" name="Text box"/>
          <p:cNvSpPr>
            <a:spLocks noGrp="1"/>
          </p:cNvSpPr>
          <p:nvPr>
            <p:ph type="body" idx="1"/>
          </p:nvPr>
        </p:nvSpPr>
        <p:spPr>
          <a:xfrm>
            <a:off x="685800" y="4343400"/>
            <a:ext cx="5486400" cy="41148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79" name="Text box"/>
          <p:cNvSpPr>
            <a:spLocks noGrp="1"/>
          </p:cNvSpPr>
          <p:nvPr>
            <p:ph type="sldNum" idx="5"/>
          </p:nvPr>
        </p:nvSpPr>
        <p:spPr>
          <a:xfrm>
            <a:off x="3884613" y="8685213"/>
            <a:ext cx="2971800" cy="457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r" defTabSz="457200" eaLnBrk="1" fontAlgn="base" latinLnBrk="0" hangingPunct="1">
              <a:lnSpc>
                <a:spcPct val="100000"/>
              </a:lnSpc>
              <a:spcBef>
                <a:spcPts val="0"/>
              </a:spcBef>
              <a:spcAft>
                <a:spcPts val="0"/>
              </a:spcAft>
              <a:buNone/>
            </a:pPr>
            <a:fld id="{CAD2D6BD-DE1B-4B5F-8B41-2702339687B9}" type="slidenum">
              <a:rPr lang="en-US" altLang="zh-CN" sz="1200" b="0" i="0" u="none" strike="noStrike" kern="1200" cap="none" spc="0" baseline="0">
                <a:solidFill>
                  <a:srgbClr val="000000"/>
                </a:solidFill>
                <a:latin typeface="Calibri" pitchFamily="34" charset="0"/>
                <a:ea typeface="ＭＳ Ｐゴシック" pitchFamily="1" charset="-128"/>
                <a:cs typeface="Calibri" pitchFamily="34" charset="0"/>
              </a:rPr>
              <a:t>6</a:t>
            </a:fld>
            <a:endParaRPr lang="zh-CN" altLang="en-US" sz="1200" b="0" i="0" u="none" strike="noStrike" kern="1200" cap="none" spc="0" baseline="0">
              <a:solidFill>
                <a:srgbClr val="000000"/>
              </a:solidFill>
              <a:latin typeface="Calibri" pitchFamily="34" charset="0"/>
              <a:ea typeface="ＭＳ Ｐゴシック" pitchFamily="1" charset="-128"/>
              <a:cs typeface="Calibri" pitchFamily="34" charset="0"/>
            </a:endParaRPr>
          </a:p>
        </p:txBody>
      </p:sp>
    </p:spTree>
    <p:extLst>
      <p:ext uri="{BB962C8B-B14F-4D97-AF65-F5344CB8AC3E}">
        <p14:creationId xmlns:p14="http://schemas.microsoft.com/office/powerpoint/2010/main" val="625609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3" name="Text box"/>
          <p:cNvSpPr>
            <a:spLocks noGrp="1"/>
          </p:cNvSpPr>
          <p:nvPr>
            <p:ph type="ctrTitle"/>
          </p:nvPr>
        </p:nvSpPr>
        <p:spPr>
          <a:xfrm>
            <a:off x="914400" y="2130428"/>
            <a:ext cx="10363199" cy="1470025"/>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4400" b="0" i="0" u="none" strike="noStrike" kern="1200" cap="none" spc="0" baseline="0">
                <a:solidFill>
                  <a:schemeClr val="tx1"/>
                </a:solidFill>
                <a:latin typeface="TradeGothic" charset="0"/>
                <a:ea typeface="ＭＳ Ｐゴシック" pitchFamily="1" charset="-128"/>
                <a:cs typeface="Lucida Sans"/>
              </a:rPr>
              <a:t>Click to edit Master title style</a:t>
            </a:r>
            <a:endParaRPr lang="zh-CN" altLang="en-US" sz="4400" b="0" i="0" u="none" strike="noStrike" kern="1200" cap="none" spc="0" baseline="0">
              <a:solidFill>
                <a:schemeClr val="tx1"/>
              </a:solidFill>
              <a:latin typeface="TradeGothic" charset="0"/>
              <a:ea typeface="ＭＳ Ｐゴシック" pitchFamily="1" charset="-128"/>
              <a:cs typeface="Lucida Sans"/>
            </a:endParaRPr>
          </a:p>
        </p:txBody>
      </p:sp>
      <p:sp>
        <p:nvSpPr>
          <p:cNvPr id="14" name="Text box"/>
          <p:cNvSpPr>
            <a:spLocks noGrp="1"/>
          </p:cNvSpPr>
          <p:nvPr>
            <p:ph type="subTitle" idx="1"/>
          </p:nvPr>
        </p:nvSpPr>
        <p:spPr>
          <a:xfrm>
            <a:off x="1828800" y="3886200"/>
            <a:ext cx="8534401" cy="17526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pPr marL="0" indent="0" algn="ctr">
              <a:lnSpc>
                <a:spcPct val="100000"/>
              </a:lnSpc>
              <a:spcBef>
                <a:spcPct val="20000"/>
              </a:spcBef>
              <a:spcAft>
                <a:spcPts val="0"/>
              </a:spcAft>
              <a:buNone/>
            </a:pPr>
            <a:r>
              <a:rPr lang="en-US" altLang="zh-CN" sz="3200" b="0" i="0" u="none" strike="noStrike" kern="1200" cap="none" spc="0" baseline="0">
                <a:solidFill>
                  <a:srgbClr val="898989"/>
                </a:solidFill>
                <a:latin typeface="TradeGothic" charset="0"/>
                <a:ea typeface="ＭＳ Ｐゴシック" pitchFamily="1" charset="-128"/>
                <a:cs typeface="Lucida Sans"/>
              </a:rPr>
              <a:t>Click to edit Master subtitle style</a:t>
            </a:r>
            <a:endParaRPr lang="zh-CN" altLang="en-US" sz="3200" b="0" i="0" u="none" strike="noStrike" kern="1200" cap="none" spc="0" baseline="0">
              <a:solidFill>
                <a:srgbClr val="898989"/>
              </a:solidFill>
              <a:latin typeface="TradeGothic" charset="0"/>
              <a:ea typeface="ＭＳ Ｐゴシック" pitchFamily="1" charset="-128"/>
              <a:cs typeface="Lucida Sans"/>
            </a:endParaRPr>
          </a:p>
        </p:txBody>
      </p:sp>
      <p:sp>
        <p:nvSpPr>
          <p:cNvPr id="15" name="Text box"/>
          <p:cNvSpPr>
            <a:spLocks noGrp="1"/>
          </p:cNvSpPr>
          <p:nvPr>
            <p:ph type="dt" idx="10"/>
          </p:nvPr>
        </p:nvSpPr>
        <p:spPr>
          <a:xfrm>
            <a:off x="609600" y="6356352"/>
            <a:ext cx="28448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fld id="{CAD2D6BD-DE1B-4B5F-8B41-2702339687B9}" type="datetime1">
              <a:rPr lang="en-US" altLang="zh-CN" sz="1200" b="0" i="0" u="none" strike="noStrike" kern="1200" cap="none" spc="0" baseline="0">
                <a:solidFill>
                  <a:srgbClr val="898989"/>
                </a:solidFill>
                <a:latin typeface="TradeGothic" charset="0"/>
                <a:ea typeface="ＭＳ Ｐゴシック" pitchFamily="1" charset="-128"/>
                <a:cs typeface="Calibri" pitchFamily="34" charset="0"/>
              </a:rPr>
              <a:t>9/29/2026</a:t>
            </a:fld>
            <a:endParaRPr lang="zh-CN" altLang="en-US" sz="1200" b="0" i="0" u="none" strike="noStrike" kern="1200" cap="none" spc="0" baseline="0">
              <a:solidFill>
                <a:srgbClr val="898989"/>
              </a:solidFill>
              <a:latin typeface="TradeGothic" charset="0"/>
              <a:ea typeface="ＭＳ Ｐゴシック" pitchFamily="1" charset="-128"/>
              <a:cs typeface="Calibri" pitchFamily="34" charset="0"/>
            </a:endParaRPr>
          </a:p>
        </p:txBody>
      </p:sp>
      <p:sp>
        <p:nvSpPr>
          <p:cNvPr id="16" name="Text box"/>
          <p:cNvSpPr>
            <a:spLocks noGrp="1"/>
          </p:cNvSpPr>
          <p:nvPr>
            <p:ph type="ftr" idx="11"/>
          </p:nvPr>
        </p:nvSpPr>
        <p:spPr>
          <a:xfrm>
            <a:off x="4165600" y="6356352"/>
            <a:ext cx="3860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marL="0" indent="0" algn="ctr" fontAlgn="auto">
              <a:lnSpc>
                <a:spcPct val="100000"/>
              </a:lnSpc>
              <a:spcBef>
                <a:spcPts val="0"/>
              </a:spcBef>
              <a:spcAft>
                <a:spcPts val="0"/>
              </a:spcAft>
              <a:buNone/>
            </a:pPr>
            <a:r>
              <a:rPr lang="en-US" altLang="zh-CN" sz="1200" b="0" i="0" u="none" strike="noStrike" kern="1200" cap="none" spc="0" baseline="0">
                <a:solidFill>
                  <a:srgbClr val="898989"/>
                </a:solidFill>
                <a:latin typeface="TradeGothic" charset="0"/>
                <a:ea typeface="宋体" charset="0"/>
                <a:cs typeface="Calibri" pitchFamily="34" charset="0"/>
              </a:rPr>
              <a:t>@SIH Idea submission- Template</a:t>
            </a:r>
            <a:endParaRPr lang="zh-CN" altLang="en-US" sz="1200" b="0" i="0" u="none" strike="noStrike" kern="1200" cap="none" spc="0" baseline="0">
              <a:solidFill>
                <a:srgbClr val="898989"/>
              </a:solidFill>
              <a:latin typeface="TradeGothic" charset="0"/>
              <a:ea typeface="宋体" charset="0"/>
              <a:cs typeface="Calibri" pitchFamily="34" charset="0"/>
            </a:endParaRPr>
          </a:p>
        </p:txBody>
      </p:sp>
      <p:sp>
        <p:nvSpPr>
          <p:cNvPr id="17" name="Text box"/>
          <p:cNvSpPr>
            <a:spLocks noGrp="1"/>
          </p:cNvSpPr>
          <p:nvPr>
            <p:ph type="sldNum" idx="12"/>
          </p:nvPr>
        </p:nvSpPr>
        <p:spPr>
          <a:xfrm>
            <a:off x="8737600" y="6356352"/>
            <a:ext cx="2844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rgbClr val="898989"/>
                </a:solidFill>
                <a:latin typeface="TradeGothic" charset="0"/>
                <a:ea typeface="ＭＳ Ｐゴシック" pitchFamily="1" charset="-128"/>
                <a:cs typeface="Calibri" pitchFamily="34" charset="0"/>
              </a:rPr>
              <a:t>‹#›</a:t>
            </a:fld>
            <a:endParaRPr lang="zh-CN" altLang="en-US" sz="1200" b="0" i="0" u="none" strike="noStrike" kern="1200" cap="none" spc="0" baseline="0">
              <a:solidFill>
                <a:srgbClr val="898989"/>
              </a:solidFill>
              <a:latin typeface="TradeGothic" charset="0"/>
              <a:ea typeface="ＭＳ Ｐゴシック" pitchFamily="1" charset="-128"/>
              <a:cs typeface="Calibri" pitchFamily="34" charset="0"/>
            </a:endParaRPr>
          </a:p>
        </p:txBody>
      </p:sp>
    </p:spTree>
    <p:extLst>
      <p:ext uri="{BB962C8B-B14F-4D97-AF65-F5344CB8AC3E}">
        <p14:creationId xmlns:p14="http://schemas.microsoft.com/office/powerpoint/2010/main" val="1951395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280868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585411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411165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a:t>单击此处编辑母版标题样式</a:t>
            </a:r>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8" name="Text box"/>
          <p:cNvSpPr>
            <a:spLocks noGrp="1"/>
          </p:cNvSpPr>
          <p:nvPr>
            <p:ph type="ftr" sz="quarter" idx="11"/>
          </p:nvPr>
        </p:nvSpPr>
        <p:spPr/>
        <p:txBody>
          <a:bodyPr/>
          <a:lstStyle/>
          <a:p>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257560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4" name="Text box"/>
          <p:cNvSpPr>
            <a:spLocks noGrp="1"/>
          </p:cNvSpPr>
          <p:nvPr>
            <p:ph type="ftr" sz="quarter" idx="11"/>
          </p:nvPr>
        </p:nvSpPr>
        <p:spPr/>
        <p:txBody>
          <a:bodyPr/>
          <a:lstStyle/>
          <a:p>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794621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3" name="Text box"/>
          <p:cNvSpPr>
            <a:spLocks noGrp="1"/>
          </p:cNvSpPr>
          <p:nvPr>
            <p:ph type="ftr" sz="quarter" idx="11"/>
          </p:nvPr>
        </p:nvSpPr>
        <p:spPr/>
        <p:txBody>
          <a:bodyPr/>
          <a:lstStyle/>
          <a:p>
            <a:endParaRPr lang="zh-CN" altLang="en-US"/>
          </a:p>
        </p:txBody>
      </p:sp>
      <p:sp>
        <p:nvSpPr>
          <p:cNvPr id="4"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826863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77479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224418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626126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dt" sz="half" idx="10"/>
          </p:nvPr>
        </p:nvSpPr>
        <p:spPr/>
        <p:txBody>
          <a:bodyPr/>
          <a:lstStyle/>
          <a:p>
            <a:fld id="{72514870-5082-4025-BC8A-5E070B8EB77D}" type="datetimeFigureOut">
              <a:rPr lang="zh-CN" altLang="en-US" smtClean="0"/>
              <a:t>2026/9/29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031964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25" name="Text box"/>
          <p:cNvSpPr>
            <a:spLocks noGrp="1"/>
          </p:cNvSpPr>
          <p:nvPr>
            <p:ph type="title"/>
          </p:nvPr>
        </p:nvSpPr>
        <p:spPr>
          <a:xfrm>
            <a:off x="609600" y="-47625"/>
            <a:ext cx="10972800" cy="114300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r>
              <a:rPr lang="en-US" altLang="zh-CN"/>
              <a:t>Click to edit Master title style</a:t>
            </a:r>
            <a:endParaRPr lang="zh-CN" altLang="en-US"/>
          </a:p>
        </p:txBody>
      </p:sp>
      <p:sp>
        <p:nvSpPr>
          <p:cNvPr id="26" name="Text box"/>
          <p:cNvSpPr>
            <a:spLocks noGrp="1"/>
          </p:cNvSpPr>
          <p:nvPr>
            <p:ph type="body" idx="1"/>
          </p:nvPr>
        </p:nvSpPr>
        <p:spPr>
          <a:xfrm>
            <a:off x="609600" y="1095375"/>
            <a:ext cx="10972800" cy="5030787"/>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27" name="Text box"/>
          <p:cNvSpPr>
            <a:spLocks noGrp="1"/>
          </p:cNvSpPr>
          <p:nvPr>
            <p:ph type="dt" idx="10"/>
          </p:nvPr>
        </p:nvSpPr>
        <p:spPr>
          <a:xfrm>
            <a:off x="609600" y="6356352"/>
            <a:ext cx="28448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fld id="{CAD2D6BD-DE1B-4B5F-8B41-2702339687B9}" type="datetime1">
              <a:rPr lang="en-US" altLang="zh-CN" sz="1200">
                <a:solidFill>
                  <a:srgbClr val="898989"/>
                </a:solidFill>
                <a:latin typeface="TradeGothic" charset="0"/>
                <a:ea typeface="ＭＳ Ｐゴシック" pitchFamily="1" charset="-128"/>
                <a:cs typeface="Calibri" pitchFamily="34" charset="0"/>
              </a:rPr>
              <a:t>9/29/2026</a:t>
            </a:fld>
            <a:endParaRPr lang="zh-CN" altLang="en-US" sz="1200">
              <a:solidFill>
                <a:srgbClr val="898989"/>
              </a:solidFill>
              <a:latin typeface="TradeGothic" charset="0"/>
              <a:ea typeface="ＭＳ Ｐゴシック" pitchFamily="1" charset="-128"/>
              <a:cs typeface="Calibri" pitchFamily="34" charset="0"/>
            </a:endParaRPr>
          </a:p>
        </p:txBody>
      </p:sp>
      <p:sp>
        <p:nvSpPr>
          <p:cNvPr id="28" name="Text box"/>
          <p:cNvSpPr>
            <a:spLocks noGrp="1"/>
          </p:cNvSpPr>
          <p:nvPr>
            <p:ph type="ftr" idx="11"/>
          </p:nvPr>
        </p:nvSpPr>
        <p:spPr>
          <a:xfrm>
            <a:off x="4165600" y="6356352"/>
            <a:ext cx="3860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fontAlgn="auto">
              <a:spcBef>
                <a:spcPts val="0"/>
              </a:spcBef>
              <a:spcAft>
                <a:spcPts val="0"/>
              </a:spcAft>
            </a:pPr>
            <a:r>
              <a:rPr lang="en-US" altLang="zh-CN" sz="1200">
                <a:solidFill>
                  <a:srgbClr val="898989"/>
                </a:solidFill>
                <a:latin typeface="TradeGothic" charset="0"/>
                <a:ea typeface="宋体" charset="0"/>
                <a:cs typeface="Calibri" pitchFamily="34" charset="0"/>
              </a:rPr>
              <a:t>@SIH Idea submission- Template</a:t>
            </a:r>
            <a:endParaRPr lang="zh-CN" altLang="en-US" sz="1200">
              <a:solidFill>
                <a:srgbClr val="898989"/>
              </a:solidFill>
              <a:latin typeface="TradeGothic" charset="0"/>
              <a:ea typeface="宋体" charset="0"/>
              <a:cs typeface="Calibri" pitchFamily="34" charset="0"/>
            </a:endParaRPr>
          </a:p>
        </p:txBody>
      </p:sp>
      <p:sp>
        <p:nvSpPr>
          <p:cNvPr id="29" name="Text box"/>
          <p:cNvSpPr>
            <a:spLocks noGrp="1"/>
          </p:cNvSpPr>
          <p:nvPr>
            <p:ph type="sldNum" idx="12"/>
          </p:nvPr>
        </p:nvSpPr>
        <p:spPr>
          <a:xfrm>
            <a:off x="8737600" y="6356352"/>
            <a:ext cx="2844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r"/>
            <a:fld id="{CAD2D6BD-DE1B-4B5F-8B41-2702339687B9}" type="slidenum">
              <a:rPr lang="en-US" altLang="zh-CN" sz="1200" b="0" i="0" u="none" strike="noStrike" kern="1200" cap="none" spc="0" baseline="0">
                <a:solidFill>
                  <a:srgbClr val="898989"/>
                </a:solidFill>
                <a:latin typeface="TradeGothic" charset="0"/>
                <a:ea typeface="ＭＳ Ｐゴシック" pitchFamily="1" charset="-128"/>
                <a:cs typeface="Calibri" pitchFamily="34" charset="0"/>
              </a:rPr>
              <a:t>‹#›</a:t>
            </a:fld>
            <a:endParaRPr lang="zh-CN" altLang="en-US" sz="1200">
              <a:solidFill>
                <a:srgbClr val="898989"/>
              </a:solidFill>
              <a:latin typeface="TradeGothic" charset="0"/>
              <a:ea typeface="ＭＳ Ｐゴシック" pitchFamily="1" charset="-128"/>
              <a:cs typeface="Calibri" pitchFamily="34" charset="0"/>
            </a:endParaRPr>
          </a:p>
        </p:txBody>
      </p:sp>
    </p:spTree>
    <p:extLst>
      <p:ext uri="{BB962C8B-B14F-4D97-AF65-F5344CB8AC3E}">
        <p14:creationId xmlns:p14="http://schemas.microsoft.com/office/powerpoint/2010/main" val="451793265"/>
      </p:ext>
    </p:extLst>
  </p:cSld>
  <p:clrMapOvr>
    <a:masterClrMapping/>
  </p:clrMapOvr>
  <p:hf sldNum="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title"/>
          </p:nvPr>
        </p:nvSpPr>
        <p:spPr>
          <a:xfrm>
            <a:off x="609600" y="-47625"/>
            <a:ext cx="10972800" cy="114300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r>
              <a:rPr lang="en-US" altLang="zh-CN"/>
              <a:t>Click to edit Master title style</a:t>
            </a:r>
            <a:endParaRPr lang="zh-CN" altLang="en-US"/>
          </a:p>
        </p:txBody>
      </p:sp>
      <p:sp>
        <p:nvSpPr>
          <p:cNvPr id="3" name="Text box"/>
          <p:cNvSpPr>
            <a:spLocks noGrp="1"/>
          </p:cNvSpPr>
          <p:nvPr>
            <p:ph type="body" idx="1"/>
          </p:nvPr>
        </p:nvSpPr>
        <p:spPr>
          <a:xfrm>
            <a:off x="609600" y="1095375"/>
            <a:ext cx="10972800" cy="5030787"/>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box"/>
          <p:cNvSpPr>
            <a:spLocks noGrp="1"/>
          </p:cNvSpPr>
          <p:nvPr>
            <p:ph type="dt" idx="2"/>
          </p:nvPr>
        </p:nvSpPr>
        <p:spPr>
          <a:xfrm>
            <a:off x="609600" y="6356352"/>
            <a:ext cx="28448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fld id="{CAD2D6BD-DE1B-4B5F-8B41-2702339687B9}" type="datetime1">
              <a:rPr lang="en-US" altLang="zh-CN" sz="1200">
                <a:solidFill>
                  <a:srgbClr val="898989"/>
                </a:solidFill>
                <a:latin typeface="TradeGothic" charset="0"/>
                <a:ea typeface="ＭＳ Ｐゴシック" pitchFamily="1" charset="-128"/>
                <a:cs typeface="Calibri" pitchFamily="34" charset="0"/>
              </a:rPr>
              <a:t>9/29/2026</a:t>
            </a:fld>
            <a:endParaRPr lang="zh-CN" altLang="en-US" sz="1200">
              <a:solidFill>
                <a:srgbClr val="898989"/>
              </a:solidFill>
              <a:latin typeface="TradeGothic" charset="0"/>
              <a:ea typeface="ＭＳ Ｐゴシック" pitchFamily="1" charset="-128"/>
              <a:cs typeface="Calibri" pitchFamily="34" charset="0"/>
            </a:endParaRPr>
          </a:p>
        </p:txBody>
      </p:sp>
      <p:sp>
        <p:nvSpPr>
          <p:cNvPr id="5" name="Text box"/>
          <p:cNvSpPr>
            <a:spLocks noGrp="1"/>
          </p:cNvSpPr>
          <p:nvPr>
            <p:ph type="ftr" idx="3"/>
          </p:nvPr>
        </p:nvSpPr>
        <p:spPr>
          <a:xfrm>
            <a:off x="4165600" y="6356352"/>
            <a:ext cx="3860799"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ctr" fontAlgn="auto">
              <a:spcBef>
                <a:spcPts val="0"/>
              </a:spcBef>
              <a:spcAft>
                <a:spcPts val="0"/>
              </a:spcAft>
            </a:pPr>
            <a:r>
              <a:rPr lang="en-US" altLang="zh-CN" sz="1200">
                <a:solidFill>
                  <a:srgbClr val="898989"/>
                </a:solidFill>
                <a:latin typeface="TradeGothic" charset="0"/>
                <a:ea typeface="宋体" charset="0"/>
                <a:cs typeface="Calibri" pitchFamily="34" charset="0"/>
              </a:rPr>
              <a:t>@SIH Idea submission- Template</a:t>
            </a:r>
            <a:endParaRPr lang="zh-CN" altLang="en-US" sz="1200">
              <a:solidFill>
                <a:srgbClr val="898989"/>
              </a:solidFill>
              <a:latin typeface="TradeGothic" charset="0"/>
              <a:ea typeface="宋体" charset="0"/>
              <a:cs typeface="Calibri" pitchFamily="34" charset="0"/>
            </a:endParaRPr>
          </a:p>
        </p:txBody>
      </p:sp>
      <p:sp>
        <p:nvSpPr>
          <p:cNvPr id="6" name="Text box"/>
          <p:cNvSpPr>
            <a:spLocks noGrp="1"/>
          </p:cNvSpPr>
          <p:nvPr>
            <p:ph type="sldNum" idx="4"/>
          </p:nvPr>
        </p:nvSpPr>
        <p:spPr>
          <a:xfrm>
            <a:off x="8737600" y="6356352"/>
            <a:ext cx="2844799"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r"/>
            <a:fld id="{CAD2D6BD-DE1B-4B5F-8B41-2702339687B9}" type="slidenum">
              <a:rPr lang="en-US" altLang="zh-CN" sz="1200" b="0" i="0" u="none" strike="noStrike" kern="1200" cap="none" spc="0" baseline="0">
                <a:solidFill>
                  <a:srgbClr val="898989"/>
                </a:solidFill>
                <a:latin typeface="TradeGothic" charset="0"/>
                <a:ea typeface="ＭＳ Ｐゴシック" pitchFamily="1" charset="-128"/>
                <a:cs typeface="Calibri" pitchFamily="34" charset="0"/>
              </a:rPr>
              <a:t>‹#›</a:t>
            </a:fld>
            <a:endParaRPr lang="zh-CN" altLang="en-US" sz="1200">
              <a:solidFill>
                <a:srgbClr val="898989"/>
              </a:solidFill>
              <a:latin typeface="TradeGothic" charset="0"/>
              <a:ea typeface="ＭＳ Ｐゴシック" pitchFamily="1" charset="-128"/>
              <a:cs typeface="Calibri" pitchFamily="34" charset="0"/>
            </a:endParaRPr>
          </a:p>
        </p:txBody>
      </p:sp>
    </p:spTree>
    <p:extLst>
      <p:ext uri="{BB962C8B-B14F-4D97-AF65-F5344CB8AC3E}">
        <p14:creationId xmlns:p14="http://schemas.microsoft.com/office/powerpoint/2010/main" val="207810665"/>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ctr" defTabSz="914400" eaLnBrk="0" fontAlgn="base" hangingPunct="0">
        <a:spcBef>
          <a:spcPts val="0"/>
        </a:spcBef>
        <a:spcAft>
          <a:spcPts val="0"/>
        </a:spcAft>
        <a:buNone/>
        <a:defRPr sz="4400" kern="1200">
          <a:solidFill>
            <a:schemeClr val="tx1"/>
          </a:solidFill>
          <a:latin typeface="TradeGothic" charset="0"/>
          <a:ea typeface="ＭＳ Ｐゴシック" pitchFamily="1" charset="-128"/>
          <a:cs typeface="ＭＳ Ｐゴシック" pitchFamily="1" charset="-128"/>
        </a:defRPr>
      </a:lvl1pPr>
    </p:titleStyle>
    <p:bodyStyle>
      <a:lvl1pPr marL="342900" indent="-342900" algn="l" defTabSz="914400" eaLnBrk="0" fontAlgn="base" hangingPunct="0">
        <a:spcBef>
          <a:spcPct val="20000"/>
        </a:spcBef>
        <a:spcAft>
          <a:spcPts val="0"/>
        </a:spcAft>
        <a:buFont typeface="Arial" pitchFamily="34" charset="0"/>
        <a:buChar char="•"/>
        <a:defRPr sz="3200" kern="1200">
          <a:solidFill>
            <a:schemeClr val="tx1"/>
          </a:solidFill>
          <a:latin typeface="TradeGothic" charset="0"/>
          <a:ea typeface="ＭＳ Ｐゴシック" pitchFamily="1" charset="-128"/>
          <a:cs typeface="ＭＳ Ｐゴシック" pitchFamily="1" charset="-128"/>
        </a:defRPr>
      </a:lvl1pPr>
      <a:lvl2pPr marL="742950" indent="-285750" algn="l" defTabSz="914400" eaLnBrk="0" fontAlgn="base" hangingPunct="0">
        <a:spcBef>
          <a:spcPct val="20000"/>
        </a:spcBef>
        <a:spcAft>
          <a:spcPts val="0"/>
        </a:spcAft>
        <a:buFont typeface="Arial" pitchFamily="34" charset="0"/>
        <a:buChar char="–"/>
        <a:defRPr sz="2800" kern="1200">
          <a:solidFill>
            <a:schemeClr val="tx1"/>
          </a:solidFill>
          <a:latin typeface="TradeGothic" charset="0"/>
          <a:ea typeface="ＭＳ Ｐゴシック" pitchFamily="1" charset="-128"/>
          <a:cs typeface="Calibri" pitchFamily="34" charset="0"/>
        </a:defRPr>
      </a:lvl2pPr>
      <a:lvl3pPr marL="1143000" indent="-228600" algn="l" defTabSz="914400" eaLnBrk="0" fontAlgn="base" hangingPunct="0">
        <a:spcBef>
          <a:spcPct val="20000"/>
        </a:spcBef>
        <a:spcAft>
          <a:spcPts val="0"/>
        </a:spcAft>
        <a:buFont typeface="Arial" pitchFamily="34" charset="0"/>
        <a:buChar char="•"/>
        <a:defRPr sz="2400" kern="1200">
          <a:solidFill>
            <a:schemeClr val="tx1"/>
          </a:solidFill>
          <a:latin typeface="TradeGothic" charset="0"/>
          <a:ea typeface="ＭＳ Ｐゴシック" pitchFamily="1" charset="-128"/>
          <a:cs typeface="Calibri" pitchFamily="34" charset="0"/>
        </a:defRPr>
      </a:lvl3pPr>
      <a:lvl4pPr marL="1600200" indent="-228600" algn="l" defTabSz="914400" eaLnBrk="0" fontAlgn="base" hangingPunct="0">
        <a:spcBef>
          <a:spcPct val="20000"/>
        </a:spcBef>
        <a:spcAft>
          <a:spcPts val="0"/>
        </a:spcAft>
        <a:buFont typeface="Arial" pitchFamily="34" charset="0"/>
        <a:buChar char="–"/>
        <a:defRPr sz="2000" kern="1200">
          <a:solidFill>
            <a:schemeClr val="tx1"/>
          </a:solidFill>
          <a:latin typeface="TradeGothic" charset="0"/>
          <a:ea typeface="ＭＳ Ｐゴシック" pitchFamily="1" charset="-128"/>
          <a:cs typeface="Calibri" pitchFamily="34" charset="0"/>
        </a:defRPr>
      </a:lvl4pPr>
      <a:lvl5pPr marL="2057400" indent="-228600" algn="l" defTabSz="914400" eaLnBrk="0" fontAlgn="base" hangingPunct="0">
        <a:spcBef>
          <a:spcPct val="20000"/>
        </a:spcBef>
        <a:spcAft>
          <a:spcPts val="0"/>
        </a:spcAft>
        <a:buFont typeface="Arial" pitchFamily="34" charset="0"/>
        <a:buChar char="»"/>
        <a:defRPr sz="2000" kern="1200">
          <a:solidFill>
            <a:schemeClr val="tx1"/>
          </a:solidFill>
          <a:latin typeface="TradeGothic" charset="0"/>
          <a:ea typeface="ＭＳ Ｐゴシック" pitchFamily="1" charset="-128"/>
          <a:cs typeface="Calibri" pitchFamily="34" charset="0"/>
        </a:defRPr>
      </a:lvl5pPr>
      <a:lvl6pPr marL="2514600" indent="-228600" algn="l" defTabSz="914400" eaLnBrk="1" fontAlgn="auto" latinLnBrk="0" hangingPunct="1">
        <a:spcBef>
          <a:spcPct val="20000"/>
        </a:spcBef>
        <a:buFont typeface="Arial" pitchFamily="34" charset="0"/>
        <a:buChar char="•"/>
        <a:defRPr sz="2000" kern="1200">
          <a:solidFill>
            <a:schemeClr val="tx1"/>
          </a:solidFill>
          <a:latin typeface="Calibri" pitchFamily="34" charset="0"/>
          <a:ea typeface="宋体" charset="0"/>
          <a:cs typeface="Calibri" pitchFamily="34" charset="0"/>
        </a:defRPr>
      </a:lvl6pPr>
      <a:lvl7pPr marL="2971800" indent="-228600" algn="l" defTabSz="914400" eaLnBrk="1" fontAlgn="auto" latinLnBrk="0" hangingPunct="1">
        <a:spcBef>
          <a:spcPct val="20000"/>
        </a:spcBef>
        <a:buFont typeface="Arial" pitchFamily="34" charset="0"/>
        <a:buChar char="•"/>
        <a:defRPr sz="2000" kern="1200">
          <a:solidFill>
            <a:schemeClr val="tx1"/>
          </a:solidFill>
          <a:latin typeface="Calibri" pitchFamily="34" charset="0"/>
          <a:ea typeface="宋体" charset="0"/>
          <a:cs typeface="Calibri" pitchFamily="34" charset="0"/>
        </a:defRPr>
      </a:lvl7pPr>
      <a:lvl8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34" charset="0"/>
          <a:ea typeface="宋体" charset="0"/>
          <a:cs typeface="Calibri" pitchFamily="34" charset="0"/>
        </a:defRPr>
      </a:lvl8pPr>
      <a:lvl9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34" charset="0"/>
          <a:ea typeface="宋体" charset="0"/>
          <a:cs typeface="Calibri"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github.com/surajjha0622/Suchak" TargetMode="External"/><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png"/><Relationship Id="rId15"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hyperlink" Target="https://resources.lora-alliance.org/document/lorawan-specification-v1-0-3" TargetMode="External"/><Relationship Id="rId5" Type="http://schemas.openxmlformats.org/officeDocument/2006/relationships/hyperlink" Target="https://github.com/surajjha0622/CrashLin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p:cNvSpPr>
            <a:spLocks noChangeAspect="1"/>
          </p:cNvSpPr>
          <p:nvPr/>
        </p:nvSpPr>
        <p:spPr>
          <a:xfrm>
            <a:off x="1524000" y="0"/>
            <a:ext cx="9144000" cy="6858000"/>
          </a:xfrm>
          <a:prstGeom prst="rect">
            <a:avLst/>
          </a:prstGeom>
          <a:ln w="25400" cap="flat" cmpd="sng">
            <a:noFill/>
            <a:prstDash val="solid"/>
            <a:round/>
          </a:ln>
        </p:spPr>
        <p:txBody>
          <a:bodyPr/>
          <a:lstStyle/>
          <a:p>
            <a:endParaRPr/>
          </a:p>
        </p:txBody>
      </p:sp>
      <p:sp>
        <p:nvSpPr>
          <p:cNvPr id="19" name="曲线"/>
          <p:cNvSpPr>
            <a:spLocks noChangeAspect="1"/>
          </p:cNvSpPr>
          <p:nvPr/>
        </p:nvSpPr>
        <p:spPr>
          <a:xfrm>
            <a:off x="5656779" y="851521"/>
            <a:ext cx="4638605" cy="5154966"/>
          </a:xfrm>
          <a:custGeom>
            <a:avLst/>
            <a:gdLst>
              <a:gd name="T1" fmla="*/ 0 w 21600"/>
              <a:gd name="T2" fmla="*/ 0 h 21600"/>
              <a:gd name="T3" fmla="*/ 21600 w 21600"/>
              <a:gd name="T4" fmla="*/ 21600 h 21600"/>
            </a:gdLst>
            <a:ahLst/>
            <a:cxnLst/>
            <a:rect l="T1" t="T2" r="T3" b="T4"/>
            <a:pathLst>
              <a:path w="21600" h="21600">
                <a:moveTo>
                  <a:pt x="1268" y="13094"/>
                </a:moveTo>
                <a:cubicBezTo>
                  <a:pt x="1268" y="13094"/>
                  <a:pt x="1268" y="13094"/>
                  <a:pt x="3137" y="13094"/>
                </a:cubicBezTo>
                <a:cubicBezTo>
                  <a:pt x="3254" y="13094"/>
                  <a:pt x="3367" y="13172"/>
                  <a:pt x="3423" y="13297"/>
                </a:cubicBezTo>
                <a:cubicBezTo>
                  <a:pt x="3423" y="13297"/>
                  <a:pt x="3423" y="13297"/>
                  <a:pt x="4360" y="15232"/>
                </a:cubicBezTo>
                <a:cubicBezTo>
                  <a:pt x="4420" y="15352"/>
                  <a:pt x="4420" y="15507"/>
                  <a:pt x="4360" y="15627"/>
                </a:cubicBezTo>
                <a:cubicBezTo>
                  <a:pt x="4360" y="15627"/>
                  <a:pt x="4360" y="15627"/>
                  <a:pt x="3423" y="17562"/>
                </a:cubicBezTo>
                <a:cubicBezTo>
                  <a:pt x="3367" y="17688"/>
                  <a:pt x="3254" y="17765"/>
                  <a:pt x="3137" y="17765"/>
                </a:cubicBezTo>
                <a:cubicBezTo>
                  <a:pt x="3137" y="17765"/>
                  <a:pt x="3137" y="17765"/>
                  <a:pt x="1268" y="17765"/>
                </a:cubicBezTo>
                <a:cubicBezTo>
                  <a:pt x="1147" y="17765"/>
                  <a:pt x="1038" y="17688"/>
                  <a:pt x="977" y="17562"/>
                </a:cubicBezTo>
                <a:cubicBezTo>
                  <a:pt x="977" y="17562"/>
                  <a:pt x="977" y="17562"/>
                  <a:pt x="45" y="15627"/>
                </a:cubicBezTo>
                <a:cubicBezTo>
                  <a:pt x="-15" y="15507"/>
                  <a:pt x="-15" y="15352"/>
                  <a:pt x="45" y="15232"/>
                </a:cubicBezTo>
                <a:cubicBezTo>
                  <a:pt x="45" y="15232"/>
                  <a:pt x="45" y="15232"/>
                  <a:pt x="977" y="13297"/>
                </a:cubicBezTo>
                <a:cubicBezTo>
                  <a:pt x="1038" y="13172"/>
                  <a:pt x="1147" y="13094"/>
                  <a:pt x="1268" y="13094"/>
                </a:cubicBezTo>
              </a:path>
              <a:path w="21600" h="21600">
                <a:moveTo>
                  <a:pt x="8695" y="2388"/>
                </a:moveTo>
                <a:cubicBezTo>
                  <a:pt x="8695" y="2388"/>
                  <a:pt x="8695" y="2388"/>
                  <a:pt x="9656" y="2388"/>
                </a:cubicBezTo>
                <a:lnTo>
                  <a:pt x="9768" y="2388"/>
                </a:lnTo>
                <a:lnTo>
                  <a:pt x="9875" y="2609"/>
                </a:lnTo>
                <a:cubicBezTo>
                  <a:pt x="10024" y="2917"/>
                  <a:pt x="10197" y="3275"/>
                  <a:pt x="10399" y="3691"/>
                </a:cubicBezTo>
                <a:cubicBezTo>
                  <a:pt x="10491" y="3876"/>
                  <a:pt x="10491" y="4113"/>
                  <a:pt x="10399" y="4297"/>
                </a:cubicBezTo>
                <a:cubicBezTo>
                  <a:pt x="10399" y="4297"/>
                  <a:pt x="10399" y="4297"/>
                  <a:pt x="8964" y="7260"/>
                </a:cubicBezTo>
                <a:cubicBezTo>
                  <a:pt x="8878" y="7453"/>
                  <a:pt x="8705" y="7571"/>
                  <a:pt x="8526" y="7571"/>
                </a:cubicBezTo>
                <a:cubicBezTo>
                  <a:pt x="8526" y="7571"/>
                  <a:pt x="8526" y="7571"/>
                  <a:pt x="5664" y="7571"/>
                </a:cubicBezTo>
                <a:cubicBezTo>
                  <a:pt x="5617" y="7571"/>
                  <a:pt x="5572" y="7563"/>
                  <a:pt x="5529" y="7549"/>
                </a:cubicBezTo>
                <a:lnTo>
                  <a:pt x="5436" y="7503"/>
                </a:lnTo>
                <a:lnTo>
                  <a:pt x="5493" y="7385"/>
                </a:lnTo>
                <a:cubicBezTo>
                  <a:pt x="6005" y="6323"/>
                  <a:pt x="6660" y="4962"/>
                  <a:pt x="7499" y="3222"/>
                </a:cubicBezTo>
                <a:cubicBezTo>
                  <a:pt x="7748" y="2706"/>
                  <a:pt x="8197" y="2388"/>
                  <a:pt x="8695" y="2388"/>
                </a:cubicBezTo>
              </a:path>
              <a:path w="21600" h="21600">
                <a:moveTo>
                  <a:pt x="5494" y="0"/>
                </a:moveTo>
                <a:cubicBezTo>
                  <a:pt x="5494" y="0"/>
                  <a:pt x="5494" y="0"/>
                  <a:pt x="8722" y="0"/>
                </a:cubicBezTo>
                <a:cubicBezTo>
                  <a:pt x="8925" y="0"/>
                  <a:pt x="9120" y="133"/>
                  <a:pt x="9217" y="350"/>
                </a:cubicBezTo>
                <a:cubicBezTo>
                  <a:pt x="9217" y="350"/>
                  <a:pt x="9217" y="350"/>
                  <a:pt x="10085" y="2142"/>
                </a:cubicBezTo>
                <a:lnTo>
                  <a:pt x="10183" y="2345"/>
                </a:lnTo>
                <a:lnTo>
                  <a:pt x="10106" y="2345"/>
                </a:lnTo>
                <a:lnTo>
                  <a:pt x="9742" y="2345"/>
                </a:lnTo>
                <a:lnTo>
                  <a:pt x="9583" y="2018"/>
                </a:lnTo>
                <a:cubicBezTo>
                  <a:pt x="8978" y="768"/>
                  <a:pt x="8978" y="768"/>
                  <a:pt x="8978" y="768"/>
                </a:cubicBezTo>
                <a:cubicBezTo>
                  <a:pt x="8892" y="575"/>
                  <a:pt x="8719" y="457"/>
                  <a:pt x="8539" y="457"/>
                </a:cubicBezTo>
                <a:cubicBezTo>
                  <a:pt x="5677" y="457"/>
                  <a:pt x="5677" y="457"/>
                  <a:pt x="5677" y="457"/>
                </a:cubicBezTo>
                <a:cubicBezTo>
                  <a:pt x="5492" y="457"/>
                  <a:pt x="5325" y="575"/>
                  <a:pt x="5232" y="768"/>
                </a:cubicBezTo>
                <a:cubicBezTo>
                  <a:pt x="3804" y="3731"/>
                  <a:pt x="3804" y="3731"/>
                  <a:pt x="3804" y="3731"/>
                </a:cubicBezTo>
                <a:cubicBezTo>
                  <a:pt x="3711" y="3915"/>
                  <a:pt x="3711" y="4152"/>
                  <a:pt x="3804" y="4337"/>
                </a:cubicBezTo>
                <a:cubicBezTo>
                  <a:pt x="5232" y="7300"/>
                  <a:pt x="5232" y="7300"/>
                  <a:pt x="5232" y="7300"/>
                </a:cubicBezTo>
                <a:cubicBezTo>
                  <a:pt x="5278" y="7396"/>
                  <a:pt x="5343" y="7473"/>
                  <a:pt x="5420" y="7527"/>
                </a:cubicBezTo>
                <a:lnTo>
                  <a:pt x="5442" y="7538"/>
                </a:lnTo>
                <a:lnTo>
                  <a:pt x="5325" y="7779"/>
                </a:lnTo>
                <a:lnTo>
                  <a:pt x="5239" y="7959"/>
                </a:lnTo>
                <a:lnTo>
                  <a:pt x="5328" y="8004"/>
                </a:lnTo>
                <a:cubicBezTo>
                  <a:pt x="5377" y="8020"/>
                  <a:pt x="5428" y="8029"/>
                  <a:pt x="5480" y="8029"/>
                </a:cubicBezTo>
                <a:cubicBezTo>
                  <a:pt x="8709" y="8029"/>
                  <a:pt x="8709" y="8029"/>
                  <a:pt x="8709" y="8029"/>
                </a:cubicBezTo>
                <a:cubicBezTo>
                  <a:pt x="8911" y="8029"/>
                  <a:pt x="9106" y="7895"/>
                  <a:pt x="9204" y="7678"/>
                </a:cubicBezTo>
                <a:cubicBezTo>
                  <a:pt x="10821" y="4336"/>
                  <a:pt x="10821" y="4336"/>
                  <a:pt x="10821" y="4336"/>
                </a:cubicBezTo>
                <a:cubicBezTo>
                  <a:pt x="10926" y="4128"/>
                  <a:pt x="10926" y="3861"/>
                  <a:pt x="10821" y="3653"/>
                </a:cubicBezTo>
                <a:cubicBezTo>
                  <a:pt x="10619" y="3235"/>
                  <a:pt x="10442" y="2869"/>
                  <a:pt x="10288" y="2550"/>
                </a:cubicBezTo>
                <a:lnTo>
                  <a:pt x="10209" y="2388"/>
                </a:lnTo>
                <a:lnTo>
                  <a:pt x="10571" y="2388"/>
                </a:lnTo>
                <a:cubicBezTo>
                  <a:pt x="11698" y="2388"/>
                  <a:pt x="13499" y="2388"/>
                  <a:pt x="16382" y="2388"/>
                </a:cubicBezTo>
                <a:cubicBezTo>
                  <a:pt x="16863" y="2388"/>
                  <a:pt x="17328" y="2706"/>
                  <a:pt x="17561" y="3222"/>
                </a:cubicBezTo>
                <a:cubicBezTo>
                  <a:pt x="17561" y="3222"/>
                  <a:pt x="17561" y="3222"/>
                  <a:pt x="21413" y="11180"/>
                </a:cubicBezTo>
                <a:cubicBezTo>
                  <a:pt x="21662" y="11676"/>
                  <a:pt x="21662" y="12311"/>
                  <a:pt x="21413" y="12807"/>
                </a:cubicBezTo>
                <a:cubicBezTo>
                  <a:pt x="21413" y="12807"/>
                  <a:pt x="21413" y="12807"/>
                  <a:pt x="17561" y="20766"/>
                </a:cubicBezTo>
                <a:cubicBezTo>
                  <a:pt x="17328" y="21282"/>
                  <a:pt x="16863" y="21600"/>
                  <a:pt x="16382" y="21600"/>
                </a:cubicBezTo>
                <a:cubicBezTo>
                  <a:pt x="16382" y="21600"/>
                  <a:pt x="16382" y="21600"/>
                  <a:pt x="8695" y="21600"/>
                </a:cubicBezTo>
                <a:cubicBezTo>
                  <a:pt x="8197" y="21600"/>
                  <a:pt x="7748" y="21282"/>
                  <a:pt x="7499" y="20766"/>
                </a:cubicBezTo>
                <a:cubicBezTo>
                  <a:pt x="7499" y="20766"/>
                  <a:pt x="7499" y="20766"/>
                  <a:pt x="3664" y="12807"/>
                </a:cubicBezTo>
                <a:cubicBezTo>
                  <a:pt x="3415" y="12311"/>
                  <a:pt x="3415" y="11676"/>
                  <a:pt x="3664" y="11180"/>
                </a:cubicBezTo>
                <a:cubicBezTo>
                  <a:pt x="3664" y="11180"/>
                  <a:pt x="3664" y="11180"/>
                  <a:pt x="5088" y="8225"/>
                </a:cubicBezTo>
                <a:lnTo>
                  <a:pt x="5208" y="7976"/>
                </a:lnTo>
                <a:lnTo>
                  <a:pt x="5204" y="7974"/>
                </a:lnTo>
                <a:cubicBezTo>
                  <a:pt x="5118" y="7913"/>
                  <a:pt x="5044" y="7826"/>
                  <a:pt x="4992" y="7718"/>
                </a:cubicBezTo>
                <a:cubicBezTo>
                  <a:pt x="4992" y="7718"/>
                  <a:pt x="4992" y="7718"/>
                  <a:pt x="3381" y="4375"/>
                </a:cubicBezTo>
                <a:cubicBezTo>
                  <a:pt x="3277" y="4167"/>
                  <a:pt x="3277" y="3900"/>
                  <a:pt x="3381" y="3692"/>
                </a:cubicBezTo>
                <a:cubicBezTo>
                  <a:pt x="3381" y="3692"/>
                  <a:pt x="3381" y="3692"/>
                  <a:pt x="4992" y="350"/>
                </a:cubicBezTo>
                <a:cubicBezTo>
                  <a:pt x="5097" y="133"/>
                  <a:pt x="5285" y="0"/>
                  <a:pt x="5494" y="0"/>
                </a:cubicBezTo>
                <a:close/>
              </a:path>
            </a:pathLst>
          </a:custGeom>
          <a:solidFill>
            <a:srgbClr val="808080">
              <a:alpha val="15000"/>
            </a:srgbClr>
          </a:solidFill>
          <a:ln w="25400" cap="flat" cmpd="sng">
            <a:noFill/>
            <a:prstDash val="solid"/>
            <a:round/>
          </a:ln>
        </p:spPr>
        <p:txBody>
          <a:bodyPr/>
          <a:lstStyle/>
          <a:p>
            <a:endParaRPr/>
          </a:p>
        </p:txBody>
      </p:sp>
      <p:pic>
        <p:nvPicPr>
          <p:cNvPr id="20" name="Image"/>
          <p:cNvPicPr>
            <a:picLocks noChangeAspect="1"/>
          </p:cNvPicPr>
          <p:nvPr/>
        </p:nvPicPr>
        <p:blipFill>
          <a:blip r:embed="rId3" cstate="print"/>
          <a:srcRect r="59916"/>
          <a:stretch>
            <a:fillRect/>
          </a:stretch>
        </p:blipFill>
        <p:spPr>
          <a:xfrm>
            <a:off x="6854891" y="1715881"/>
            <a:ext cx="3203509" cy="3426237"/>
          </a:xfrm>
          <a:prstGeom prst="rect">
            <a:avLst/>
          </a:prstGeom>
          <a:noFill/>
          <a:ln w="12700" cap="flat" cmpd="sng">
            <a:noFill/>
            <a:prstDash val="solid"/>
            <a:miter/>
          </a:ln>
        </p:spPr>
      </p:pic>
      <p:sp>
        <p:nvSpPr>
          <p:cNvPr id="21" name="Text box"/>
          <p:cNvSpPr>
            <a:spLocks noGrp="1"/>
          </p:cNvSpPr>
          <p:nvPr>
            <p:ph type="subTitle" idx="1"/>
          </p:nvPr>
        </p:nvSpPr>
        <p:spPr>
          <a:xfrm>
            <a:off x="1245686" y="648614"/>
            <a:ext cx="8534399" cy="1752600"/>
          </a:xfrm>
          <a:prstGeom prst="rect">
            <a:avLst/>
          </a:prstGeom>
          <a:noFill/>
          <a:ln w="9525" cap="flat" cmpd="sng">
            <a:noFill/>
            <a:prstDash val="solid"/>
            <a:miter/>
          </a:ln>
        </p:spPr>
        <p:txBody>
          <a:bodyPr vert="horz" wrap="square" lIns="91440" tIns="45720" rIns="91440" bIns="45720" anchor="t" anchorCtr="0">
            <a:prstTxWarp prst="textNoShape">
              <a:avLst/>
            </a:prstTxWarp>
          </a:bodyPr>
          <a:lstStyle/>
          <a:p>
            <a:r>
              <a:t>VEGA — ENVIRONMENTAL INTELLIGENCE NETWORK</a:t>
            </a:r>
          </a:p>
        </p:txBody>
      </p:sp>
      <p:sp>
        <p:nvSpPr>
          <p:cNvPr id="22" name="Text box"/>
          <p:cNvSpPr>
            <a:spLocks noGrp="1"/>
          </p:cNvSpPr>
          <p:nvPr>
            <p:ph type="ctrTitle"/>
          </p:nvPr>
        </p:nvSpPr>
        <p:spPr>
          <a:xfrm>
            <a:off x="331286" y="-526757"/>
            <a:ext cx="10363199" cy="207645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4000" b="1" i="0" u="none" strike="noStrike" kern="1200" cap="none" spc="0" baseline="0">
                <a:solidFill>
                  <a:schemeClr val="tx2"/>
                </a:solidFill>
                <a:latin typeface="Garamond" pitchFamily="18" charset="0"/>
                <a:ea typeface="ＭＳ Ｐゴシック" pitchFamily="1" charset="-128"/>
                <a:cs typeface="Lucida Sans"/>
              </a:rPr>
              <a:t>SMART INDIA HACKATHON 2026</a:t>
            </a:r>
            <a:endParaRPr lang="zh-CN" altLang="en-US" sz="4000" b="1" i="0" u="none" strike="noStrike" kern="1200" cap="none" spc="0" baseline="0">
              <a:solidFill>
                <a:schemeClr val="tx2"/>
              </a:solidFill>
              <a:latin typeface="Garamond" pitchFamily="18" charset="0"/>
              <a:ea typeface="ＭＳ Ｐゴシック" pitchFamily="1" charset="-128"/>
              <a:cs typeface="Lucida Sans"/>
            </a:endParaRPr>
          </a:p>
        </p:txBody>
      </p:sp>
      <p:sp>
        <p:nvSpPr>
          <p:cNvPr id="23" name="Rectangle"/>
          <p:cNvSpPr>
            <a:spLocks/>
          </p:cNvSpPr>
          <p:nvPr/>
        </p:nvSpPr>
        <p:spPr>
          <a:xfrm>
            <a:off x="209759" y="1464358"/>
            <a:ext cx="6645132" cy="392928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t>PROBLEM STATEMENT ID : SIH26178</a:t>
            </a:r>
          </a:p>
          <a:p>
            <a:r>
              <a:t>PROBLEM STATEMENT TITLE : A resilient, AI-powered environmental monitoring network for early detection and actionable alerts.</a:t>
            </a:r>
          </a:p>
          <a:p>
            <a:r>
              <a:t>THEME :  Disaster Management</a:t>
            </a:r>
          </a:p>
          <a:p>
            <a:r>
              <a:t>PS CATEGORY : Hardware</a:t>
            </a:r>
          </a:p>
          <a:p>
            <a:r>
              <a:t>TEAM ID : — 155626</a:t>
            </a:r>
          </a:p>
          <a:p>
            <a:r>
              <a:t>TEAM NAME : VE GA</a:t>
            </a:r>
          </a:p>
        </p:txBody>
      </p:sp>
      <p:pic>
        <p:nvPicPr>
          <p:cNvPr id="24" name="Image"/>
          <p:cNvPicPr>
            <a:picLocks noChangeAspect="1"/>
          </p:cNvPicPr>
          <p:nvPr/>
        </p:nvPicPr>
        <p:blipFill>
          <a:blip r:embed="rId4" cstate="print"/>
          <a:stretch>
            <a:fillRect/>
          </a:stretch>
        </p:blipFill>
        <p:spPr>
          <a:xfrm>
            <a:off x="9780086" y="1500"/>
            <a:ext cx="2249850" cy="1062337"/>
          </a:xfrm>
          <a:prstGeom prst="rect">
            <a:avLst/>
          </a:prstGeom>
          <a:noFill/>
          <a:ln w="12700" cap="flat" cmpd="sng">
            <a:noFill/>
            <a:prstDash val="solid"/>
            <a:miter/>
          </a:ln>
        </p:spPr>
      </p:pic>
    </p:spTree>
    <p:extLst>
      <p:ext uri="{BB962C8B-B14F-4D97-AF65-F5344CB8AC3E}">
        <p14:creationId xmlns:p14="http://schemas.microsoft.com/office/powerpoint/2010/main" val="14722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p:cNvSpPr>
            <a:spLocks/>
          </p:cNvSpPr>
          <p:nvPr/>
        </p:nvSpPr>
        <p:spPr>
          <a:xfrm>
            <a:off x="0" y="6354762"/>
            <a:ext cx="12191999" cy="503237"/>
          </a:xfrm>
          <a:prstGeom prst="rect">
            <a:avLst/>
          </a:prstGeom>
          <a:solidFill>
            <a:srgbClr val="0070C0"/>
          </a:solidFill>
          <a:ln w="9525" cap="flat" cmpd="sng">
            <a:noFill/>
            <a:prstDash val="solid"/>
            <a:miter/>
          </a:ln>
          <a:effectLst>
            <a:outerShdw dist="23000" dir="5400000" rotWithShape="0">
              <a:srgbClr val="808080">
                <a:alpha val="34509"/>
              </a:srgbClr>
            </a:outerShdw>
          </a:effectLst>
        </p:spPr>
        <p:txBody>
          <a:bodyPr/>
          <a:lstStyle/>
          <a:p>
            <a:endParaRPr/>
          </a:p>
        </p:txBody>
      </p:sp>
      <p:sp>
        <p:nvSpPr>
          <p:cNvPr id="31" name="Text box"/>
          <p:cNvSpPr>
            <a:spLocks noGrp="1"/>
          </p:cNvSpPr>
          <p:nvPr>
            <p:ph type="title"/>
          </p:nvPr>
        </p:nvSpPr>
        <p:spPr>
          <a:xfrm>
            <a:off x="182998" y="0"/>
            <a:ext cx="10972800" cy="114300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r>
              <a:t>VEGA — ENVIRONMENTAL INTELLIGENCE NETWORK</a:t>
            </a:r>
          </a:p>
        </p:txBody>
      </p:sp>
      <p:sp>
        <p:nvSpPr>
          <p:cNvPr id="33" name="Text box"/>
          <p:cNvSpPr>
            <a:spLocks noGrp="1"/>
          </p:cNvSpPr>
          <p:nvPr>
            <p:ph type="sldNum" idx="12"/>
          </p:nvPr>
        </p:nvSpPr>
        <p:spPr>
          <a:xfrm>
            <a:off x="8737600" y="6356352"/>
            <a:ext cx="2844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1000" b="1">
                <a:solidFill>
                  <a:srgbClr val="FFFFFF"/>
                </a:solidFill>
                <a:latin typeface="Aptos"/>
              </a:rPr>
              <a:t>2</a:t>
            </a:r>
          </a:p>
        </p:txBody>
      </p:sp>
      <p:sp>
        <p:nvSpPr>
          <p:cNvPr id="34" name="Text box"/>
          <p:cNvSpPr>
            <a:spLocks noGrp="1"/>
          </p:cNvSpPr>
          <p:nvPr>
            <p:ph type="ftr" idx="11"/>
          </p:nvPr>
        </p:nvSpPr>
        <p:spPr>
          <a:xfrm>
            <a:off x="4648200" y="6356352"/>
            <a:ext cx="32040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900" b="0">
                <a:solidFill>
                  <a:srgbClr val="FFFFFF"/>
                </a:solidFill>
                <a:latin typeface="Aptos"/>
              </a:rPr>
              <a:t>@SIH Idea submission- Template</a:t>
            </a:r>
          </a:p>
        </p:txBody>
      </p:sp>
      <p:sp>
        <p:nvSpPr>
          <p:cNvPr id="35" name="Oval" descr="Your startup LOGO"/>
          <p:cNvSpPr>
            <a:spLocks/>
          </p:cNvSpPr>
          <p:nvPr/>
        </p:nvSpPr>
        <p:spPr>
          <a:xfrm>
            <a:off x="329773" y="252246"/>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algn="ctr"/>
            <a:r>
              <a:rPr sz="1500" b="1" dirty="0">
                <a:solidFill>
                  <a:srgbClr val="224F87"/>
                </a:solidFill>
                <a:latin typeface="Aptos"/>
              </a:rPr>
              <a:t>VE</a:t>
            </a:r>
            <a:r>
              <a:rPr lang="en-IN" sz="1500" b="1" dirty="0">
                <a:solidFill>
                  <a:srgbClr val="224F87"/>
                </a:solidFill>
                <a:latin typeface="Aptos"/>
              </a:rPr>
              <a:t> </a:t>
            </a:r>
            <a:r>
              <a:rPr sz="1500" b="1" dirty="0">
                <a:solidFill>
                  <a:srgbClr val="224F87"/>
                </a:solidFill>
                <a:latin typeface="Aptos"/>
              </a:rPr>
              <a:t>GA</a:t>
            </a:r>
          </a:p>
        </p:txBody>
      </p:sp>
      <p:pic>
        <p:nvPicPr>
          <p:cNvPr id="36" name="Image"/>
          <p:cNvPicPr>
            <a:picLocks noChangeAspect="1"/>
          </p:cNvPicPr>
          <p:nvPr/>
        </p:nvPicPr>
        <p:blipFill>
          <a:blip r:embed="rId3" cstate="print"/>
          <a:stretch>
            <a:fillRect/>
          </a:stretch>
        </p:blipFill>
        <p:spPr>
          <a:xfrm>
            <a:off x="9780086" y="1500"/>
            <a:ext cx="2249850" cy="1062337"/>
          </a:xfrm>
          <a:prstGeom prst="rect">
            <a:avLst/>
          </a:prstGeom>
          <a:noFill/>
          <a:ln w="12700" cap="flat" cmpd="sng">
            <a:noFill/>
            <a:prstDash val="solid"/>
            <a:miter/>
          </a:ln>
        </p:spPr>
      </p:pic>
      <p:sp>
        <p:nvSpPr>
          <p:cNvPr id="3" name="TextBox 2">
            <a:extLst>
              <a:ext uri="{FF2B5EF4-FFF2-40B4-BE49-F238E27FC236}">
                <a16:creationId xmlns:a16="http://schemas.microsoft.com/office/drawing/2014/main" id="{BFB951F6-9BEC-A929-A457-C695FA9546E1}"/>
              </a:ext>
            </a:extLst>
          </p:cNvPr>
          <p:cNvSpPr txBox="1"/>
          <p:nvPr/>
        </p:nvSpPr>
        <p:spPr>
          <a:xfrm>
            <a:off x="502920" y="1737360"/>
            <a:ext cx="5166360" cy="868680"/>
          </a:xfrm>
          <a:prstGeom prst="rect">
            <a:avLst/>
          </a:prstGeom>
          <a:noFill/>
        </p:spPr>
        <p:txBody>
          <a:bodyPr wrap="square" lIns="18288" tIns="0" rIns="45720" bIns="0" rtlCol="0"/>
          <a:lstStyle/>
          <a:p>
            <a:r>
              <a:rPr sz="900">
                <a:solidFill>
                  <a:srgbClr val="191919"/>
                </a:solidFill>
              </a:rPr>
              <a:t>• Environmental hazards can develop rapidly while centralized monitoring may lack localized, real-time ground intelligence.</a:t>
            </a:r>
          </a:p>
          <a:p>
            <a:r>
              <a:rPr sz="900">
                <a:solidFill>
                  <a:srgbClr val="191919"/>
                </a:solidFill>
              </a:rPr>
              <a:t>• Remote regions can also face sparse sensing and unreliable connectivity.</a:t>
            </a:r>
          </a:p>
        </p:txBody>
      </p:sp>
      <p:sp>
        <p:nvSpPr>
          <p:cNvPr id="4" name="TextBox 3">
            <a:extLst>
              <a:ext uri="{FF2B5EF4-FFF2-40B4-BE49-F238E27FC236}">
                <a16:creationId xmlns:a16="http://schemas.microsoft.com/office/drawing/2014/main" id="{73C12080-62ED-9779-4E52-06CB8EA33972}"/>
              </a:ext>
            </a:extLst>
          </p:cNvPr>
          <p:cNvSpPr txBox="1"/>
          <p:nvPr/>
        </p:nvSpPr>
        <p:spPr>
          <a:xfrm>
            <a:off x="502920" y="1155880"/>
            <a:ext cx="2103120" cy="457200"/>
          </a:xfrm>
          <a:prstGeom prst="rect">
            <a:avLst/>
          </a:prstGeom>
          <a:noFill/>
        </p:spPr>
        <p:txBody>
          <a:bodyPr wrap="square" lIns="0" tIns="0" rIns="0" bIns="18288" rtlCol="0"/>
          <a:lstStyle/>
          <a:p>
            <a:pPr algn="l">
              <a:spcAft>
                <a:spcPts val="300"/>
              </a:spcAft>
            </a:pPr>
            <a:r>
              <a:rPr sz="2000" b="1" u="sng">
                <a:solidFill>
                  <a:srgbClr val="0B4A66"/>
                </a:solidFill>
                <a:latin typeface="Calibri"/>
              </a:rPr>
              <a:t>PROBLEM</a:t>
            </a:r>
          </a:p>
        </p:txBody>
      </p:sp>
      <p:sp>
        <p:nvSpPr>
          <p:cNvPr id="6" name="TextBox 5">
            <a:extLst>
              <a:ext uri="{FF2B5EF4-FFF2-40B4-BE49-F238E27FC236}">
                <a16:creationId xmlns:a16="http://schemas.microsoft.com/office/drawing/2014/main" id="{0BE46D13-CFF4-2A36-9E41-B585A2367388}"/>
              </a:ext>
            </a:extLst>
          </p:cNvPr>
          <p:cNvSpPr txBox="1"/>
          <p:nvPr/>
        </p:nvSpPr>
        <p:spPr>
          <a:xfrm>
            <a:off x="502920" y="2715768"/>
            <a:ext cx="2194560" cy="457200"/>
          </a:xfrm>
          <a:prstGeom prst="rect">
            <a:avLst/>
          </a:prstGeom>
          <a:noFill/>
        </p:spPr>
        <p:txBody>
          <a:bodyPr wrap="square" lIns="0" tIns="0" rIns="0" bIns="18288" rtlCol="0"/>
          <a:lstStyle/>
          <a:p>
            <a:pPr algn="l">
              <a:spcAft>
                <a:spcPts val="300"/>
              </a:spcAft>
            </a:pPr>
            <a:r>
              <a:rPr sz="2000" b="1" u="sng">
                <a:solidFill>
                  <a:srgbClr val="0B4A66"/>
                </a:solidFill>
                <a:latin typeface="Calibri"/>
              </a:rPr>
              <a:t>SOLUTION</a:t>
            </a:r>
          </a:p>
        </p:txBody>
      </p:sp>
      <p:sp>
        <p:nvSpPr>
          <p:cNvPr id="8" name="TextBox 7">
            <a:extLst>
              <a:ext uri="{FF2B5EF4-FFF2-40B4-BE49-F238E27FC236}">
                <a16:creationId xmlns:a16="http://schemas.microsoft.com/office/drawing/2014/main" id="{E8424171-3D0F-54DE-B6C7-A887AB683983}"/>
              </a:ext>
            </a:extLst>
          </p:cNvPr>
          <p:cNvSpPr txBox="1"/>
          <p:nvPr/>
        </p:nvSpPr>
        <p:spPr>
          <a:xfrm>
            <a:off x="502920" y="3215923"/>
            <a:ext cx="5166360" cy="2041877"/>
          </a:xfrm>
          <a:prstGeom prst="rect">
            <a:avLst/>
          </a:prstGeom>
          <a:noFill/>
        </p:spPr>
        <p:txBody>
          <a:bodyPr wrap="square" lIns="18288" tIns="0" rIns="45720" bIns="0" rtlCol="0"/>
          <a:lstStyle/>
          <a:p>
            <a:r>
              <a:rPr sz="900">
                <a:solidFill>
                  <a:srgbClr val="191919"/>
                </a:solidFill>
              </a:rPr>
              <a:t>• Distributed sensor nodes + local gateways for zone-wise monitoring.</a:t>
            </a:r>
          </a:p>
          <a:p>
            <a:r>
              <a:rPr sz="900">
                <a:solidFill>
                  <a:srgbClr val="191919"/>
                </a:solidFill>
              </a:rPr>
              <a:t>• Flood sensing is the current prototype; modular nodes can extend to other hazards.</a:t>
            </a:r>
          </a:p>
          <a:p>
            <a:r>
              <a:rPr sz="900">
                <a:solidFill>
                  <a:srgbClr val="191919"/>
                </a:solidFill>
              </a:rPr>
              <a:t>• Lightweight on-device AI / anomaly detection is the proposed local-intelligence layer.</a:t>
            </a:r>
          </a:p>
          <a:p>
            <a:r>
              <a:rPr sz="900">
                <a:solidFill>
                  <a:srgbClr val="191919"/>
                </a:solidFill>
              </a:rPr>
              <a:t>• LoRa sends critical alerts, summaries and risk assessments.</a:t>
            </a:r>
          </a:p>
          <a:p>
            <a:r>
              <a:rPr sz="900">
                <a:solidFill>
                  <a:srgbClr val="191919"/>
                </a:solidFill>
              </a:rPr>
              <a:t>• Local detection and alerts continue during Internet outages.</a:t>
            </a:r>
          </a:p>
          <a:p>
            <a:r>
              <a:rPr sz="900">
                <a:solidFill>
                  <a:srgbClr val="191919"/>
                </a:solidFill>
              </a:rPr>
              <a:t>• Risk information is shared across zones and shown on regional maps.</a:t>
            </a:r>
          </a:p>
        </p:txBody>
      </p:sp>
      <p:sp>
        <p:nvSpPr>
          <p:cNvPr id="37" name="TextBox 36"/>
          <p:cNvSpPr txBox="1"/>
          <p:nvPr/>
        </p:nvSpPr>
        <p:spPr>
          <a:xfrm>
            <a:off x="515112" y="1498621"/>
            <a:ext cx="5577840" cy="219456"/>
          </a:xfrm>
          <a:prstGeom prst="rect">
            <a:avLst/>
          </a:prstGeom>
          <a:noFill/>
        </p:spPr>
        <p:txBody>
          <a:bodyPr wrap="square" lIns="0" tIns="0" rIns="0" bIns="0"/>
          <a:lstStyle/>
          <a:p>
            <a:r>
              <a:rPr>
                <a:solidFill>
                  <a:srgbClr val="191919"/>
                </a:solidFill>
              </a:rPr>
              <a:t>Environmental risk can change locally before centralized systems have enough ground information.</a:t>
            </a:r>
          </a:p>
        </p:txBody>
      </p:sp>
      <p:sp>
        <p:nvSpPr>
          <p:cNvPr id="38" name="TextBox 37"/>
          <p:cNvSpPr txBox="1"/>
          <p:nvPr/>
        </p:nvSpPr>
        <p:spPr>
          <a:xfrm>
            <a:off x="515112" y="3032619"/>
            <a:ext cx="5577840" cy="237744"/>
          </a:xfrm>
          <a:prstGeom prst="rect">
            <a:avLst/>
          </a:prstGeom>
          <a:noFill/>
        </p:spPr>
        <p:txBody>
          <a:bodyPr wrap="square" lIns="0" tIns="0" rIns="0" bIns="0"/>
          <a:lstStyle/>
          <a:p>
            <a:r>
              <a:rPr>
                <a:solidFill>
                  <a:srgbClr val="191919"/>
                </a:solidFill>
              </a:rPr>
              <a:t>VEGA moves sensing and first-level intelligence closer to the environment.</a:t>
            </a:r>
          </a:p>
        </p:txBody>
      </p:sp>
      <p:sp>
        <p:nvSpPr>
          <p:cNvPr id="39" name="Rounded Rectangle 38"/>
          <p:cNvSpPr/>
          <p:nvPr/>
        </p:nvSpPr>
        <p:spPr>
          <a:xfrm>
            <a:off x="515112" y="5351491"/>
            <a:ext cx="5166360" cy="621792"/>
          </a:xfrm>
          <a:prstGeom prst="roundRect">
            <a:avLst>
              <a:gd name="adj" fmla="val 8000"/>
            </a:avLst>
          </a:prstGeom>
          <a:ln/>
        </p:spPr>
        <p:style>
          <a:lnRef idx="3">
            <a:schemeClr val="lt1"/>
          </a:lnRef>
          <a:fillRef idx="1">
            <a:schemeClr val="accent6"/>
          </a:fillRef>
          <a:effectRef idx="1">
            <a:schemeClr val="accent6"/>
          </a:effectRef>
          <a:fontRef idx="minor">
            <a:schemeClr val="lt1"/>
          </a:fontRef>
        </p:style>
        <p:txBody>
          <a:bodyPr wrap="square" lIns="73152" tIns="18288" rIns="73152" bIns="18288" rtlCol="0" anchor="ctr"/>
          <a:lstStyle/>
          <a:p>
            <a:r>
              <a:rPr sz="900">
                <a:solidFill>
                  <a:srgbClr val="191919"/>
                </a:solidFill>
              </a:rPr>
              <a:t>Environmental Sensors  →  Edge AI  →  Local Risk  →  Alert / Downstream Warning</a:t>
            </a:r>
          </a:p>
        </p:txBody>
      </p:sp>
      <p:pic>
        <p:nvPicPr>
          <p:cNvPr id="13" name="Picture 12">
            <a:extLst>
              <a:ext uri="{FF2B5EF4-FFF2-40B4-BE49-F238E27FC236}">
                <a16:creationId xmlns:a16="http://schemas.microsoft.com/office/drawing/2014/main" id="{7BF33190-7559-69A8-8032-2E6E4125007F}"/>
              </a:ext>
            </a:extLst>
          </p:cNvPr>
          <p:cNvPicPr>
            <a:picLocks noChangeAspect="1"/>
          </p:cNvPicPr>
          <p:nvPr/>
        </p:nvPicPr>
        <p:blipFill>
          <a:blip r:embed="rId4">
            <a:extLst>
              <a:ext uri="{28A0092B-C50C-407E-A947-70E740481C1C}">
                <a14:useLocalDpi xmlns:a14="http://schemas.microsoft.com/office/drawing/2010/main" val="0"/>
              </a:ext>
            </a:extLst>
          </a:blip>
          <a:srcRect b="15198"/>
          <a:stretch>
            <a:fillRect/>
          </a:stretch>
        </p:blipFill>
        <p:spPr>
          <a:xfrm>
            <a:off x="5878117" y="1431187"/>
            <a:ext cx="5995416" cy="3663382"/>
          </a:xfrm>
          <a:prstGeom prst="rect">
            <a:avLst/>
          </a:prstGeom>
        </p:spPr>
      </p:pic>
      <p:sp>
        <p:nvSpPr>
          <p:cNvPr id="15" name="Rounded Rectangle 96">
            <a:extLst>
              <a:ext uri="{FF2B5EF4-FFF2-40B4-BE49-F238E27FC236}">
                <a16:creationId xmlns:a16="http://schemas.microsoft.com/office/drawing/2014/main" id="{95157BDB-457D-80DC-5774-A28BA9883250}"/>
              </a:ext>
            </a:extLst>
          </p:cNvPr>
          <p:cNvSpPr/>
          <p:nvPr/>
        </p:nvSpPr>
        <p:spPr>
          <a:xfrm>
            <a:off x="7109761" y="5330868"/>
            <a:ext cx="2802192" cy="663038"/>
          </a:xfrm>
          <a:prstGeom prst="roundRect">
            <a:avLst>
              <a:gd name="adj" fmla="val 8000"/>
            </a:avLst>
          </a:prstGeom>
          <a:ln/>
        </p:spPr>
        <p:style>
          <a:lnRef idx="2">
            <a:schemeClr val="accent6">
              <a:shade val="15000"/>
            </a:schemeClr>
          </a:lnRef>
          <a:fillRef idx="1">
            <a:schemeClr val="accent6"/>
          </a:fillRef>
          <a:effectRef idx="0">
            <a:schemeClr val="accent6"/>
          </a:effectRef>
          <a:fontRef idx="minor">
            <a:schemeClr val="lt1"/>
          </a:fontRef>
        </p:style>
        <p:txBody>
          <a:bodyPr wrap="square" lIns="109728" rIns="109728" rtlCol="0" anchor="ctr"/>
          <a:lstStyle/>
          <a:p>
            <a:r>
              <a:t>     GitHub Repository : https://github.com/surajjha0622/Suchak</a:t>
            </a:r>
          </a:p>
        </p:txBody>
      </p:sp>
      <p:pic>
        <p:nvPicPr>
          <p:cNvPr id="17" name="Picture 16">
            <a:extLst>
              <a:ext uri="{FF2B5EF4-FFF2-40B4-BE49-F238E27FC236}">
                <a16:creationId xmlns:a16="http://schemas.microsoft.com/office/drawing/2014/main" id="{EC966C77-5C3B-8BCD-2CE6-51C5B34C234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155798" y="5303520"/>
            <a:ext cx="717735" cy="717735"/>
          </a:xfrm>
          <a:prstGeom prst="rect">
            <a:avLst/>
          </a:prstGeom>
        </p:spPr>
      </p:pic>
    </p:spTree>
    <p:extLst>
      <p:ext uri="{BB962C8B-B14F-4D97-AF65-F5344CB8AC3E}">
        <p14:creationId xmlns:p14="http://schemas.microsoft.com/office/powerpoint/2010/main" val="2037532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207FF5-4CEB-E18F-0EB6-CC62D6FECA0A}"/>
              </a:ext>
            </a:extLst>
          </p:cNvPr>
          <p:cNvSpPr txBox="1"/>
          <p:nvPr/>
        </p:nvSpPr>
        <p:spPr>
          <a:xfrm>
            <a:off x="6532565" y="1436086"/>
            <a:ext cx="4547997" cy="1815882"/>
          </a:xfrm>
          <a:prstGeom prst="rect">
            <a:avLst/>
          </a:prstGeom>
          <a:noFill/>
        </p:spPr>
        <p:txBody>
          <a:bodyPr wrap="square" rtlCol="0">
            <a:spAutoFit/>
          </a:bodyPr>
          <a:lstStyle/>
          <a:p>
            <a:r>
              <a:rPr lang="en-IN" sz="100" dirty="0"/>
              <a:t>VEGA Flood Early Warning System, Disaster Management, Hyperlocal Flood Monitoring, Distributed Sensor Network, Zone Based Monitoring, Cooperative Flood Warning, Upstream Downstream Warning, Rain Gauge, Rainfall, Rainfall Measurement, Water Level Sensor, Water Level, River Level, Rate of Rise, ESP32, DS3231 RTC, Real Time Clock, Sensor Node, Field Node, SX1262, LoRa, Long Range Communication, Low Power Communication, Zone Gateway, Gateway, Edge Processing, Local Processing, Data Quality Check, Risk Assessment, Risk Level, Adaptive Sampling, Sampling Frequency, Downstream Monitoring, Cooperative Response, Local Alert, Local Siren, Authorities Dashboard, Public Dashboard, Offline Mode, Local Risk Logic, Data Buffering, Data Synchronization, Solar Power, LiFePO4, Low Power Operation, Flood Warning, Flood Alert, Early Warning System, Early Warning, Hydrological Monitoring, Hydrological Data, Environmental Monitoring, Real Time Monitoring, Remote Monitoring, Wireless Sensor Network, IoT, IoT and Electronics, Embedded System, Edge Computing, Edge Gateway, LoRa Communication, LoRa Node, LoRa Gateway, Rainfall Monitoring, Water Level Monitoring, River Monitoring, Flood Risk, Zone Risk, Risk Detection, Risk Classification, Local Warning, Downstream Alert, Upstream Alert, Offline Operation, Resilient Communication.</a:t>
            </a:r>
          </a:p>
        </p:txBody>
      </p:sp>
      <p:pic>
        <p:nvPicPr>
          <p:cNvPr id="4" name="Picture 3">
            <a:extLst>
              <a:ext uri="{FF2B5EF4-FFF2-40B4-BE49-F238E27FC236}">
                <a16:creationId xmlns:a16="http://schemas.microsoft.com/office/drawing/2014/main" id="{E5427A0E-F0B0-1B8F-E574-537943E57F4C}"/>
              </a:ext>
            </a:extLst>
          </p:cNvPr>
          <p:cNvPicPr>
            <a:picLocks noChangeAspect="1"/>
          </p:cNvPicPr>
          <p:nvPr/>
        </p:nvPicPr>
        <p:blipFill>
          <a:blip r:embed="rId3">
            <a:extLst>
              <a:ext uri="{28A0092B-C50C-407E-A947-70E740481C1C}">
                <a14:useLocalDpi xmlns:a14="http://schemas.microsoft.com/office/drawing/2010/main" val="0"/>
              </a:ext>
            </a:extLst>
          </a:blip>
          <a:srcRect l="1787"/>
          <a:stretch>
            <a:fillRect/>
          </a:stretch>
        </p:blipFill>
        <p:spPr>
          <a:xfrm>
            <a:off x="6023577" y="645850"/>
            <a:ext cx="5403606" cy="3582342"/>
          </a:xfrm>
          <a:prstGeom prst="rect">
            <a:avLst/>
          </a:prstGeom>
          <a:ln>
            <a:noFill/>
          </a:ln>
        </p:spPr>
      </p:pic>
      <p:sp>
        <p:nvSpPr>
          <p:cNvPr id="40" name="Rectangle"/>
          <p:cNvSpPr>
            <a:spLocks/>
          </p:cNvSpPr>
          <p:nvPr/>
        </p:nvSpPr>
        <p:spPr>
          <a:xfrm>
            <a:off x="0" y="6354762"/>
            <a:ext cx="12191999" cy="503237"/>
          </a:xfrm>
          <a:prstGeom prst="rect">
            <a:avLst/>
          </a:prstGeom>
          <a:solidFill>
            <a:srgbClr val="0070C0"/>
          </a:solidFill>
          <a:ln w="9525" cap="flat" cmpd="sng">
            <a:noFill/>
            <a:prstDash val="solid"/>
            <a:miter/>
          </a:ln>
          <a:effectLst>
            <a:outerShdw dist="23000" dir="5400000" rotWithShape="0">
              <a:srgbClr val="808080">
                <a:alpha val="34509"/>
              </a:srgbClr>
            </a:outerShdw>
          </a:effectLst>
        </p:spPr>
        <p:txBody>
          <a:bodyPr/>
          <a:lstStyle/>
          <a:p>
            <a:endParaRPr/>
          </a:p>
        </p:txBody>
      </p:sp>
      <p:sp>
        <p:nvSpPr>
          <p:cNvPr id="41" name="Text box"/>
          <p:cNvSpPr>
            <a:spLocks noGrp="1"/>
          </p:cNvSpPr>
          <p:nvPr>
            <p:ph type="title"/>
          </p:nvPr>
        </p:nvSpPr>
        <p:spPr>
          <a:xfrm>
            <a:off x="609600" y="-47625"/>
            <a:ext cx="10972800" cy="114300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pPr marL="0" indent="0" algn="ctr" eaLnBrk="1" hangingPunct="1">
              <a:lnSpc>
                <a:spcPct val="100000"/>
              </a:lnSpc>
              <a:spcBef>
                <a:spcPts val="0"/>
              </a:spcBef>
              <a:spcAft>
                <a:spcPts val="0"/>
              </a:spcAft>
              <a:buNone/>
            </a:pPr>
            <a:r>
              <a:rPr lang="en-US" altLang="zh-CN" sz="3600" b="1" i="0" u="none" strike="noStrike" kern="1200" cap="none" spc="0" baseline="0" dirty="0">
                <a:solidFill>
                  <a:schemeClr val="tx1"/>
                </a:solidFill>
                <a:latin typeface="Times New Roman" pitchFamily="18" charset="0"/>
                <a:ea typeface="ＭＳ Ｐゴシック" pitchFamily="1" charset="-128"/>
                <a:cs typeface="Times New Roman" pitchFamily="18" charset="0"/>
              </a:rPr>
              <a:t>TECHNICAL APPROACH</a:t>
            </a:r>
            <a:endParaRPr lang="zh-CN" altLang="en-US" sz="3600" b="1" i="0" u="none" strike="noStrike" kern="1200" cap="none" spc="0" baseline="0" dirty="0">
              <a:solidFill>
                <a:schemeClr val="tx1"/>
              </a:solidFill>
              <a:latin typeface="Times New Roman" pitchFamily="18" charset="0"/>
              <a:ea typeface="ＭＳ Ｐゴシック" pitchFamily="1" charset="-128"/>
              <a:cs typeface="Times New Roman" pitchFamily="18" charset="0"/>
            </a:endParaRPr>
          </a:p>
        </p:txBody>
      </p:sp>
      <p:sp>
        <p:nvSpPr>
          <p:cNvPr id="43" name="Text box"/>
          <p:cNvSpPr>
            <a:spLocks noGrp="1"/>
          </p:cNvSpPr>
          <p:nvPr>
            <p:ph type="sldNum" idx="12"/>
          </p:nvPr>
        </p:nvSpPr>
        <p:spPr>
          <a:xfrm>
            <a:off x="8737600" y="6356352"/>
            <a:ext cx="2844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1000" b="1">
                <a:solidFill>
                  <a:srgbClr val="FFFFFF"/>
                </a:solidFill>
                <a:latin typeface="Aptos"/>
              </a:rPr>
              <a:t>3</a:t>
            </a:r>
          </a:p>
        </p:txBody>
      </p:sp>
      <p:sp>
        <p:nvSpPr>
          <p:cNvPr id="44" name="Text box"/>
          <p:cNvSpPr>
            <a:spLocks noGrp="1"/>
          </p:cNvSpPr>
          <p:nvPr>
            <p:ph type="ftr" idx="11"/>
          </p:nvPr>
        </p:nvSpPr>
        <p:spPr>
          <a:xfrm>
            <a:off x="4648200" y="6356352"/>
            <a:ext cx="32040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900" b="0">
                <a:solidFill>
                  <a:srgbClr val="FFFFFF"/>
                </a:solidFill>
                <a:latin typeface="Aptos"/>
              </a:rPr>
              <a:t>@SIH Idea submission- Template</a:t>
            </a:r>
          </a:p>
        </p:txBody>
      </p:sp>
      <p:sp>
        <p:nvSpPr>
          <p:cNvPr id="45" name="Oval" descr="Your startup LOGO"/>
          <p:cNvSpPr>
            <a:spLocks/>
          </p:cNvSpPr>
          <p:nvPr/>
        </p:nvSpPr>
        <p:spPr>
          <a:xfrm>
            <a:off x="320040" y="120208"/>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algn="ctr"/>
            <a:r>
              <a:rPr sz="1500" b="1" dirty="0">
                <a:solidFill>
                  <a:srgbClr val="224F87"/>
                </a:solidFill>
                <a:latin typeface="Aptos"/>
              </a:rPr>
              <a:t>VE</a:t>
            </a:r>
            <a:r>
              <a:rPr lang="en-IN" sz="1500" b="1" dirty="0">
                <a:solidFill>
                  <a:srgbClr val="224F87"/>
                </a:solidFill>
                <a:latin typeface="Aptos"/>
              </a:rPr>
              <a:t> </a:t>
            </a:r>
            <a:r>
              <a:rPr sz="1500" b="1" dirty="0">
                <a:solidFill>
                  <a:srgbClr val="224F87"/>
                </a:solidFill>
                <a:latin typeface="Aptos"/>
              </a:rPr>
              <a:t>GA</a:t>
            </a:r>
          </a:p>
        </p:txBody>
      </p:sp>
      <p:pic>
        <p:nvPicPr>
          <p:cNvPr id="46" name="Image"/>
          <p:cNvPicPr>
            <a:picLocks noChangeAspect="1"/>
          </p:cNvPicPr>
          <p:nvPr/>
        </p:nvPicPr>
        <p:blipFill>
          <a:blip r:embed="rId4" cstate="print"/>
          <a:stretch>
            <a:fillRect/>
          </a:stretch>
        </p:blipFill>
        <p:spPr>
          <a:xfrm>
            <a:off x="9780086" y="1500"/>
            <a:ext cx="2249850" cy="1062337"/>
          </a:xfrm>
          <a:prstGeom prst="rect">
            <a:avLst/>
          </a:prstGeom>
          <a:noFill/>
          <a:ln w="12700" cap="flat" cmpd="sng">
            <a:noFill/>
            <a:prstDash val="solid"/>
            <a:miter/>
          </a:ln>
        </p:spPr>
      </p:pic>
      <p:sp>
        <p:nvSpPr>
          <p:cNvPr id="51" name="TextBox 50"/>
          <p:cNvSpPr txBox="1"/>
          <p:nvPr/>
        </p:nvSpPr>
        <p:spPr>
          <a:xfrm>
            <a:off x="502920" y="4754880"/>
            <a:ext cx="1737360" cy="365760"/>
          </a:xfrm>
          <a:prstGeom prst="rect">
            <a:avLst/>
          </a:prstGeom>
          <a:noFill/>
        </p:spPr>
        <p:txBody>
          <a:bodyPr wrap="square" lIns="0" tIns="0" rIns="0" bIns="0" anchor="t"/>
          <a:lstStyle/>
          <a:p>
            <a:pPr algn="l">
              <a:lnSpc>
                <a:spcPct val="100000"/>
              </a:lnSpc>
              <a:spcAft>
                <a:spcPts val="300"/>
              </a:spcAft>
            </a:pPr>
            <a:r>
              <a:rPr sz="1400" b="1" u="sng">
                <a:solidFill>
                  <a:srgbClr val="0B4A66"/>
                </a:solidFill>
                <a:latin typeface="Calibri"/>
              </a:rPr>
              <a:t>TECH STACK</a:t>
            </a:r>
          </a:p>
        </p:txBody>
      </p:sp>
      <p:pic>
        <p:nvPicPr>
          <p:cNvPr id="3" name="Picture 2">
            <a:extLst>
              <a:ext uri="{FF2B5EF4-FFF2-40B4-BE49-F238E27FC236}">
                <a16:creationId xmlns:a16="http://schemas.microsoft.com/office/drawing/2014/main" id="{872512A8-8EC5-66AF-7A3F-60C9F82C006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89173" y="5252306"/>
            <a:ext cx="539130" cy="492868"/>
          </a:xfrm>
          <a:prstGeom prst="rect">
            <a:avLst/>
          </a:prstGeom>
        </p:spPr>
      </p:pic>
      <p:pic>
        <p:nvPicPr>
          <p:cNvPr id="8" name="Picture 7">
            <a:extLst>
              <a:ext uri="{FF2B5EF4-FFF2-40B4-BE49-F238E27FC236}">
                <a16:creationId xmlns:a16="http://schemas.microsoft.com/office/drawing/2014/main" id="{6D7E38FB-A525-6BFB-08F8-9A2AAE9555B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81235" y="5305323"/>
            <a:ext cx="502660" cy="497274"/>
          </a:xfrm>
          <a:prstGeom prst="rect">
            <a:avLst/>
          </a:prstGeom>
        </p:spPr>
      </p:pic>
      <p:pic>
        <p:nvPicPr>
          <p:cNvPr id="12" name="Picture 11">
            <a:extLst>
              <a:ext uri="{FF2B5EF4-FFF2-40B4-BE49-F238E27FC236}">
                <a16:creationId xmlns:a16="http://schemas.microsoft.com/office/drawing/2014/main" id="{2841D70B-CA64-D653-7E9E-640651C55A1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696606" y="5213881"/>
            <a:ext cx="688297" cy="748463"/>
          </a:xfrm>
          <a:prstGeom prst="rect">
            <a:avLst/>
          </a:prstGeom>
        </p:spPr>
      </p:pic>
      <p:pic>
        <p:nvPicPr>
          <p:cNvPr id="14" name="Picture 13">
            <a:extLst>
              <a:ext uri="{FF2B5EF4-FFF2-40B4-BE49-F238E27FC236}">
                <a16:creationId xmlns:a16="http://schemas.microsoft.com/office/drawing/2014/main" id="{1A65FE93-BB0E-8F29-78B4-9F143083782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59929" y="5198138"/>
            <a:ext cx="633689" cy="711643"/>
          </a:xfrm>
          <a:prstGeom prst="rect">
            <a:avLst/>
          </a:prstGeom>
        </p:spPr>
      </p:pic>
      <p:pic>
        <p:nvPicPr>
          <p:cNvPr id="16" name="Picture 15">
            <a:extLst>
              <a:ext uri="{FF2B5EF4-FFF2-40B4-BE49-F238E27FC236}">
                <a16:creationId xmlns:a16="http://schemas.microsoft.com/office/drawing/2014/main" id="{C45A760C-2682-D9B8-4CF8-A6A2F74A36A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056308" y="5310084"/>
            <a:ext cx="545805" cy="573591"/>
          </a:xfrm>
          <a:prstGeom prst="rect">
            <a:avLst/>
          </a:prstGeom>
        </p:spPr>
      </p:pic>
      <p:pic>
        <p:nvPicPr>
          <p:cNvPr id="18" name="Picture 17">
            <a:extLst>
              <a:ext uri="{FF2B5EF4-FFF2-40B4-BE49-F238E27FC236}">
                <a16:creationId xmlns:a16="http://schemas.microsoft.com/office/drawing/2014/main" id="{BFF2F779-C853-7C45-AB7A-0D61DBC88CF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134658" y="5146942"/>
            <a:ext cx="711602" cy="674272"/>
          </a:xfrm>
          <a:prstGeom prst="rect">
            <a:avLst/>
          </a:prstGeom>
        </p:spPr>
      </p:pic>
      <p:pic>
        <p:nvPicPr>
          <p:cNvPr id="20" name="Picture 19">
            <a:extLst>
              <a:ext uri="{FF2B5EF4-FFF2-40B4-BE49-F238E27FC236}">
                <a16:creationId xmlns:a16="http://schemas.microsoft.com/office/drawing/2014/main" id="{E2694752-DBFB-DEC5-9E69-AC5F4BA768E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878289" y="5291718"/>
            <a:ext cx="701506" cy="540898"/>
          </a:xfrm>
          <a:prstGeom prst="rect">
            <a:avLst/>
          </a:prstGeom>
        </p:spPr>
      </p:pic>
      <p:pic>
        <p:nvPicPr>
          <p:cNvPr id="22" name="Picture 21">
            <a:extLst>
              <a:ext uri="{FF2B5EF4-FFF2-40B4-BE49-F238E27FC236}">
                <a16:creationId xmlns:a16="http://schemas.microsoft.com/office/drawing/2014/main" id="{6B553F71-50FA-42A7-46DB-68EBFB68F3C7}"/>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533393" y="5138114"/>
            <a:ext cx="869414" cy="697496"/>
          </a:xfrm>
          <a:prstGeom prst="rect">
            <a:avLst/>
          </a:prstGeom>
        </p:spPr>
      </p:pic>
      <p:pic>
        <p:nvPicPr>
          <p:cNvPr id="24" name="Picture 23">
            <a:extLst>
              <a:ext uri="{FF2B5EF4-FFF2-40B4-BE49-F238E27FC236}">
                <a16:creationId xmlns:a16="http://schemas.microsoft.com/office/drawing/2014/main" id="{2DBCA91F-DAFF-E363-E9FC-6BAE3275132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103918" y="5227421"/>
            <a:ext cx="490210" cy="497274"/>
          </a:xfrm>
          <a:prstGeom prst="rect">
            <a:avLst/>
          </a:prstGeom>
        </p:spPr>
      </p:pic>
      <p:sp>
        <p:nvSpPr>
          <p:cNvPr id="26" name="TextBox 25">
            <a:extLst>
              <a:ext uri="{FF2B5EF4-FFF2-40B4-BE49-F238E27FC236}">
                <a16:creationId xmlns:a16="http://schemas.microsoft.com/office/drawing/2014/main" id="{EFD3E687-643F-E9F8-093A-7C0BE1433512}"/>
              </a:ext>
            </a:extLst>
          </p:cNvPr>
          <p:cNvSpPr txBox="1"/>
          <p:nvPr/>
        </p:nvSpPr>
        <p:spPr>
          <a:xfrm>
            <a:off x="2907017" y="5734492"/>
            <a:ext cx="539131" cy="276999"/>
          </a:xfrm>
          <a:prstGeom prst="rect">
            <a:avLst/>
          </a:prstGeom>
          <a:noFill/>
        </p:spPr>
        <p:txBody>
          <a:bodyPr wrap="square">
            <a:spAutoFit/>
          </a:bodyPr>
          <a:lstStyle/>
          <a:p>
            <a:r>
              <a:rPr lang="en-IN" sz="1200" b="1" dirty="0">
                <a:solidFill>
                  <a:schemeClr val="accent4">
                    <a:lumMod val="50000"/>
                  </a:schemeClr>
                </a:solidFill>
              </a:rPr>
              <a:t>LoRa</a:t>
            </a:r>
            <a:endParaRPr lang="en-IN" dirty="0">
              <a:solidFill>
                <a:schemeClr val="accent4">
                  <a:lumMod val="50000"/>
                </a:schemeClr>
              </a:solidFill>
            </a:endParaRPr>
          </a:p>
        </p:txBody>
      </p:sp>
      <p:sp>
        <p:nvSpPr>
          <p:cNvPr id="28" name="TextBox 27">
            <a:extLst>
              <a:ext uri="{FF2B5EF4-FFF2-40B4-BE49-F238E27FC236}">
                <a16:creationId xmlns:a16="http://schemas.microsoft.com/office/drawing/2014/main" id="{58E1E893-B523-0131-53C1-07F640D90A83}"/>
              </a:ext>
            </a:extLst>
          </p:cNvPr>
          <p:cNvSpPr txBox="1"/>
          <p:nvPr/>
        </p:nvSpPr>
        <p:spPr>
          <a:xfrm>
            <a:off x="5188275" y="5674936"/>
            <a:ext cx="788055" cy="276999"/>
          </a:xfrm>
          <a:prstGeom prst="rect">
            <a:avLst/>
          </a:prstGeom>
          <a:noFill/>
        </p:spPr>
        <p:txBody>
          <a:bodyPr wrap="square">
            <a:spAutoFit/>
          </a:bodyPr>
          <a:lstStyle/>
          <a:p>
            <a:r>
              <a:rPr lang="en-IN" sz="1200" b="1" dirty="0">
                <a:solidFill>
                  <a:schemeClr val="accent4">
                    <a:lumMod val="50000"/>
                  </a:schemeClr>
                </a:solidFill>
              </a:rPr>
              <a:t>QGIS/GIS</a:t>
            </a:r>
            <a:endParaRPr lang="en-IN" sz="1200" dirty="0">
              <a:solidFill>
                <a:schemeClr val="accent4">
                  <a:lumMod val="50000"/>
                </a:schemeClr>
              </a:solidFill>
            </a:endParaRPr>
          </a:p>
        </p:txBody>
      </p:sp>
      <p:sp>
        <p:nvSpPr>
          <p:cNvPr id="30" name="TextBox 29">
            <a:extLst>
              <a:ext uri="{FF2B5EF4-FFF2-40B4-BE49-F238E27FC236}">
                <a16:creationId xmlns:a16="http://schemas.microsoft.com/office/drawing/2014/main" id="{0AF75C4B-DEC1-98D0-8B9F-E312E2B28451}"/>
              </a:ext>
            </a:extLst>
          </p:cNvPr>
          <p:cNvSpPr txBox="1"/>
          <p:nvPr/>
        </p:nvSpPr>
        <p:spPr>
          <a:xfrm>
            <a:off x="2019887" y="5734491"/>
            <a:ext cx="788055" cy="276999"/>
          </a:xfrm>
          <a:prstGeom prst="rect">
            <a:avLst/>
          </a:prstGeom>
          <a:noFill/>
        </p:spPr>
        <p:txBody>
          <a:bodyPr wrap="square">
            <a:spAutoFit/>
          </a:bodyPr>
          <a:lstStyle/>
          <a:p>
            <a:pPr algn="ctr"/>
            <a:r>
              <a:rPr lang="en-IN" sz="1200" b="1" dirty="0">
                <a:solidFill>
                  <a:schemeClr val="accent4">
                    <a:lumMod val="50000"/>
                  </a:schemeClr>
                </a:solidFill>
              </a:rPr>
              <a:t>ESP32</a:t>
            </a:r>
            <a:endParaRPr lang="en-IN" dirty="0">
              <a:solidFill>
                <a:schemeClr val="accent4">
                  <a:lumMod val="50000"/>
                </a:schemeClr>
              </a:solidFill>
            </a:endParaRPr>
          </a:p>
        </p:txBody>
      </p:sp>
      <p:sp>
        <p:nvSpPr>
          <p:cNvPr id="32" name="TextBox 31">
            <a:extLst>
              <a:ext uri="{FF2B5EF4-FFF2-40B4-BE49-F238E27FC236}">
                <a16:creationId xmlns:a16="http://schemas.microsoft.com/office/drawing/2014/main" id="{1EFB9EAC-9324-8E62-5AD3-528A7F0D13F2}"/>
              </a:ext>
            </a:extLst>
          </p:cNvPr>
          <p:cNvSpPr txBox="1"/>
          <p:nvPr/>
        </p:nvSpPr>
        <p:spPr>
          <a:xfrm>
            <a:off x="1035898" y="5734492"/>
            <a:ext cx="1071998" cy="276999"/>
          </a:xfrm>
          <a:prstGeom prst="rect">
            <a:avLst/>
          </a:prstGeom>
          <a:noFill/>
        </p:spPr>
        <p:txBody>
          <a:bodyPr wrap="square">
            <a:spAutoFit/>
          </a:bodyPr>
          <a:lstStyle/>
          <a:p>
            <a:r>
              <a:rPr lang="en-IN" sz="1200" b="1" dirty="0">
                <a:solidFill>
                  <a:schemeClr val="accent4">
                    <a:lumMod val="50000"/>
                  </a:schemeClr>
                </a:solidFill>
              </a:rPr>
              <a:t>Raspberry Pi</a:t>
            </a:r>
            <a:endParaRPr lang="en-IN" dirty="0"/>
          </a:p>
        </p:txBody>
      </p:sp>
      <p:sp>
        <p:nvSpPr>
          <p:cNvPr id="34" name="TextBox 33">
            <a:extLst>
              <a:ext uri="{FF2B5EF4-FFF2-40B4-BE49-F238E27FC236}">
                <a16:creationId xmlns:a16="http://schemas.microsoft.com/office/drawing/2014/main" id="{B9A4C5FE-2FB6-FC66-8F5F-1B1BF589552D}"/>
              </a:ext>
            </a:extLst>
          </p:cNvPr>
          <p:cNvSpPr txBox="1"/>
          <p:nvPr/>
        </p:nvSpPr>
        <p:spPr>
          <a:xfrm>
            <a:off x="4507513" y="5704800"/>
            <a:ext cx="788055" cy="276999"/>
          </a:xfrm>
          <a:prstGeom prst="rect">
            <a:avLst/>
          </a:prstGeom>
          <a:noFill/>
        </p:spPr>
        <p:txBody>
          <a:bodyPr wrap="square">
            <a:spAutoFit/>
          </a:bodyPr>
          <a:lstStyle/>
          <a:p>
            <a:r>
              <a:rPr lang="en-IN" sz="1200" b="1" dirty="0" err="1">
                <a:solidFill>
                  <a:schemeClr val="accent4">
                    <a:lumMod val="50000"/>
                  </a:schemeClr>
                </a:solidFill>
              </a:rPr>
              <a:t>FastAPI</a:t>
            </a:r>
            <a:endParaRPr lang="en-IN" dirty="0">
              <a:solidFill>
                <a:schemeClr val="accent4">
                  <a:lumMod val="50000"/>
                </a:schemeClr>
              </a:solidFill>
            </a:endParaRPr>
          </a:p>
        </p:txBody>
      </p:sp>
      <p:sp>
        <p:nvSpPr>
          <p:cNvPr id="36" name="TextBox 35">
            <a:extLst>
              <a:ext uri="{FF2B5EF4-FFF2-40B4-BE49-F238E27FC236}">
                <a16:creationId xmlns:a16="http://schemas.microsoft.com/office/drawing/2014/main" id="{76D5690C-672C-7DBA-E58D-94D285BFAB0B}"/>
              </a:ext>
            </a:extLst>
          </p:cNvPr>
          <p:cNvSpPr txBox="1"/>
          <p:nvPr/>
        </p:nvSpPr>
        <p:spPr>
          <a:xfrm>
            <a:off x="7679233" y="5707794"/>
            <a:ext cx="991291" cy="276999"/>
          </a:xfrm>
          <a:prstGeom prst="rect">
            <a:avLst/>
          </a:prstGeom>
          <a:noFill/>
        </p:spPr>
        <p:txBody>
          <a:bodyPr wrap="square">
            <a:spAutoFit/>
          </a:bodyPr>
          <a:lstStyle/>
          <a:p>
            <a:r>
              <a:rPr lang="en-IN" sz="1200" b="1" dirty="0">
                <a:solidFill>
                  <a:schemeClr val="accent4">
                    <a:lumMod val="50000"/>
                  </a:schemeClr>
                </a:solidFill>
              </a:rPr>
              <a:t>PostgreSQL</a:t>
            </a:r>
          </a:p>
        </p:txBody>
      </p:sp>
      <p:sp>
        <p:nvSpPr>
          <p:cNvPr id="38" name="TextBox 37">
            <a:extLst>
              <a:ext uri="{FF2B5EF4-FFF2-40B4-BE49-F238E27FC236}">
                <a16:creationId xmlns:a16="http://schemas.microsoft.com/office/drawing/2014/main" id="{8E759036-3CBF-166E-86CF-EEF131701B54}"/>
              </a:ext>
            </a:extLst>
          </p:cNvPr>
          <p:cNvSpPr txBox="1"/>
          <p:nvPr/>
        </p:nvSpPr>
        <p:spPr>
          <a:xfrm>
            <a:off x="6972225" y="5698952"/>
            <a:ext cx="646096" cy="276999"/>
          </a:xfrm>
          <a:prstGeom prst="rect">
            <a:avLst/>
          </a:prstGeom>
          <a:noFill/>
        </p:spPr>
        <p:txBody>
          <a:bodyPr wrap="square">
            <a:spAutoFit/>
          </a:bodyPr>
          <a:lstStyle/>
          <a:p>
            <a:r>
              <a:rPr lang="en-IN" sz="1200" b="1" dirty="0">
                <a:solidFill>
                  <a:schemeClr val="accent4">
                    <a:lumMod val="50000"/>
                  </a:schemeClr>
                </a:solidFill>
              </a:rPr>
              <a:t>Python</a:t>
            </a:r>
            <a:endParaRPr lang="en-IN" dirty="0"/>
          </a:p>
        </p:txBody>
      </p:sp>
      <p:sp>
        <p:nvSpPr>
          <p:cNvPr id="42" name="TextBox 41">
            <a:extLst>
              <a:ext uri="{FF2B5EF4-FFF2-40B4-BE49-F238E27FC236}">
                <a16:creationId xmlns:a16="http://schemas.microsoft.com/office/drawing/2014/main" id="{6CF9F8D4-7E0C-0117-48C9-1BA2364074BC}"/>
              </a:ext>
            </a:extLst>
          </p:cNvPr>
          <p:cNvSpPr txBox="1"/>
          <p:nvPr/>
        </p:nvSpPr>
        <p:spPr>
          <a:xfrm>
            <a:off x="6023577" y="5707794"/>
            <a:ext cx="1071998" cy="276999"/>
          </a:xfrm>
          <a:prstGeom prst="rect">
            <a:avLst/>
          </a:prstGeom>
          <a:noFill/>
        </p:spPr>
        <p:txBody>
          <a:bodyPr wrap="square">
            <a:spAutoFit/>
          </a:bodyPr>
          <a:lstStyle/>
          <a:p>
            <a:r>
              <a:rPr lang="en-IN" sz="1200" b="1" dirty="0" err="1">
                <a:solidFill>
                  <a:schemeClr val="accent4">
                    <a:lumMod val="50000"/>
                  </a:schemeClr>
                </a:solidFill>
              </a:rPr>
              <a:t>TimeScaleDB</a:t>
            </a:r>
            <a:endParaRPr lang="en-IN" dirty="0"/>
          </a:p>
        </p:txBody>
      </p:sp>
      <p:sp>
        <p:nvSpPr>
          <p:cNvPr id="58" name="TextBox 57">
            <a:extLst>
              <a:ext uri="{FF2B5EF4-FFF2-40B4-BE49-F238E27FC236}">
                <a16:creationId xmlns:a16="http://schemas.microsoft.com/office/drawing/2014/main" id="{BB01217C-EE6E-AE14-6C95-2D231BEB3CA1}"/>
              </a:ext>
            </a:extLst>
          </p:cNvPr>
          <p:cNvSpPr txBox="1"/>
          <p:nvPr/>
        </p:nvSpPr>
        <p:spPr>
          <a:xfrm>
            <a:off x="3721719" y="5742099"/>
            <a:ext cx="492761" cy="276999"/>
          </a:xfrm>
          <a:prstGeom prst="rect">
            <a:avLst/>
          </a:prstGeom>
          <a:noFill/>
        </p:spPr>
        <p:txBody>
          <a:bodyPr wrap="square">
            <a:spAutoFit/>
          </a:bodyPr>
          <a:lstStyle/>
          <a:p>
            <a:r>
              <a:rPr lang="en-IN" sz="1200" b="1" dirty="0">
                <a:solidFill>
                  <a:schemeClr val="accent4">
                    <a:lumMod val="50000"/>
                  </a:schemeClr>
                </a:solidFill>
              </a:rPr>
              <a:t>RTC</a:t>
            </a:r>
            <a:endParaRPr lang="en-IN" sz="1800" b="1" dirty="0">
              <a:solidFill>
                <a:schemeClr val="accent4">
                  <a:lumMod val="50000"/>
                </a:schemeClr>
              </a:solidFill>
            </a:endParaRPr>
          </a:p>
        </p:txBody>
      </p:sp>
      <p:sp>
        <p:nvSpPr>
          <p:cNvPr id="6" name="TextBox 5">
            <a:extLst>
              <a:ext uri="{FF2B5EF4-FFF2-40B4-BE49-F238E27FC236}">
                <a16:creationId xmlns:a16="http://schemas.microsoft.com/office/drawing/2014/main" id="{44E5868F-6C08-CF16-1FD1-808876F18A45}"/>
              </a:ext>
            </a:extLst>
          </p:cNvPr>
          <p:cNvSpPr txBox="1"/>
          <p:nvPr/>
        </p:nvSpPr>
        <p:spPr>
          <a:xfrm>
            <a:off x="320040" y="1115568"/>
            <a:ext cx="2670048" cy="1664208"/>
          </a:xfrm>
          <a:prstGeom prst="rect">
            <a:avLst/>
          </a:prstGeom>
          <a:noFill/>
          <a:ln>
            <a:solidFill>
              <a:schemeClr val="tx2"/>
            </a:solidFill>
            <a:prstDash val="lgDashDot"/>
          </a:ln>
        </p:spPr>
        <p:txBody>
          <a:bodyPr wrap="square" lIns="73152" tIns="36576" rIns="54864" bIns="18288" rtlCol="0"/>
          <a:lstStyle/>
          <a:p>
            <a:r>
              <a:rPr sz="900">
                <a:solidFill>
                  <a:srgbClr val="191919"/>
                </a:solidFill>
              </a:rPr>
              <a:t>1. DATA COLLECTION</a:t>
            </a:r>
          </a:p>
          <a:p>
            <a:r>
              <a:rPr sz="900">
                <a:solidFill>
                  <a:srgbClr val="191919"/>
                </a:solidFill>
              </a:rPr>
              <a:t>• Current prototype: rainfall + water level.</a:t>
            </a:r>
          </a:p>
          <a:p>
            <a:r>
              <a:rPr sz="900">
                <a:solidFill>
                  <a:srgbClr val="191919"/>
                </a:solidFill>
              </a:rPr>
              <a:t>• ESP32 collects sensor readings.</a:t>
            </a:r>
          </a:p>
          <a:p>
            <a:r>
              <a:rPr sz="900">
                <a:solidFill>
                  <a:srgbClr val="191919"/>
                </a:solidFill>
              </a:rPr>
              <a:t>• DS3231 provides timestamps.</a:t>
            </a:r>
          </a:p>
          <a:p>
            <a:r>
              <a:rPr sz="900">
                <a:solidFill>
                  <a:srgbClr val="191919"/>
                </a:solidFill>
              </a:rPr>
              <a:t>• Modular interfaces can add smoke, air quality, heat, gas, soil moisture or vibration sensors.</a:t>
            </a:r>
          </a:p>
        </p:txBody>
      </p:sp>
      <p:sp>
        <p:nvSpPr>
          <p:cNvPr id="11" name="TextBox 10">
            <a:extLst>
              <a:ext uri="{FF2B5EF4-FFF2-40B4-BE49-F238E27FC236}">
                <a16:creationId xmlns:a16="http://schemas.microsoft.com/office/drawing/2014/main" id="{645BE861-A223-97D6-AF2C-C3874AE2248C}"/>
              </a:ext>
            </a:extLst>
          </p:cNvPr>
          <p:cNvSpPr txBox="1"/>
          <p:nvPr/>
        </p:nvSpPr>
        <p:spPr>
          <a:xfrm>
            <a:off x="3154680" y="1115568"/>
            <a:ext cx="2670048" cy="1664208"/>
          </a:xfrm>
          <a:prstGeom prst="rect">
            <a:avLst/>
          </a:prstGeom>
          <a:noFill/>
          <a:ln>
            <a:solidFill>
              <a:schemeClr val="tx2"/>
            </a:solidFill>
            <a:prstDash val="lgDashDot"/>
          </a:ln>
        </p:spPr>
        <p:txBody>
          <a:bodyPr wrap="square" lIns="73152" tIns="36576" rIns="54864" bIns="18288" rtlCol="0"/>
          <a:lstStyle/>
          <a:p>
            <a:r>
              <a:rPr sz="900">
                <a:solidFill>
                  <a:srgbClr val="191919"/>
                </a:solidFill>
              </a:rPr>
              <a:t>2. COMMUNICATION</a:t>
            </a:r>
          </a:p>
          <a:p>
            <a:r>
              <a:rPr sz="900">
                <a:solidFill>
                  <a:srgbClr val="191919"/>
                </a:solidFill>
              </a:rPr>
              <a:t>• Sensor readings are packaged at the node.</a:t>
            </a:r>
          </a:p>
          <a:p>
            <a:r>
              <a:rPr sz="900">
                <a:solidFill>
                  <a:srgbClr val="191919"/>
                </a:solidFill>
              </a:rPr>
              <a:t>• SX1262 LoRa sends compact observations and alerts to the zone gateway.</a:t>
            </a:r>
          </a:p>
          <a:p>
            <a:r>
              <a:rPr sz="900">
                <a:solidFill>
                  <a:srgbClr val="191919"/>
                </a:solidFill>
              </a:rPr>
              <a:t>• Zone gateways can share important risk information downstream.</a:t>
            </a:r>
          </a:p>
        </p:txBody>
      </p:sp>
      <p:sp>
        <p:nvSpPr>
          <p:cNvPr id="31" name="TextBox 30">
            <a:extLst>
              <a:ext uri="{FF2B5EF4-FFF2-40B4-BE49-F238E27FC236}">
                <a16:creationId xmlns:a16="http://schemas.microsoft.com/office/drawing/2014/main" id="{C5F54DC1-ABDC-02A9-348A-FDFE2CE5EED6}"/>
              </a:ext>
            </a:extLst>
          </p:cNvPr>
          <p:cNvSpPr txBox="1"/>
          <p:nvPr/>
        </p:nvSpPr>
        <p:spPr>
          <a:xfrm>
            <a:off x="320040" y="2907792"/>
            <a:ext cx="2670048" cy="1664208"/>
          </a:xfrm>
          <a:prstGeom prst="rect">
            <a:avLst/>
          </a:prstGeom>
          <a:noFill/>
          <a:ln>
            <a:solidFill>
              <a:schemeClr val="tx2"/>
            </a:solidFill>
            <a:prstDash val="lgDashDot"/>
          </a:ln>
        </p:spPr>
        <p:txBody>
          <a:bodyPr wrap="square" lIns="73152" tIns="36576" rIns="54864" bIns="18288" rtlCol="0"/>
          <a:lstStyle/>
          <a:p>
            <a:r>
              <a:rPr sz="900">
                <a:solidFill>
                  <a:srgbClr val="191919"/>
                </a:solidFill>
              </a:rPr>
              <a:t>3. ON-DEVICE INTELLIGENCE</a:t>
            </a:r>
          </a:p>
          <a:p>
            <a:r>
              <a:rPr sz="900">
                <a:solidFill>
                  <a:srgbClr val="191919"/>
                </a:solidFill>
              </a:rPr>
              <a:t>• Data-quality checks + temporal feature extraction.</a:t>
            </a:r>
          </a:p>
          <a:p>
            <a:r>
              <a:rPr sz="900">
                <a:solidFill>
                  <a:srgbClr val="191919"/>
                </a:solidFill>
              </a:rPr>
              <a:t>• Rate of rise is calculated from water-level readings.</a:t>
            </a:r>
          </a:p>
          <a:p>
            <a:r>
              <a:rPr sz="900">
                <a:solidFill>
                  <a:srgbClr val="191919"/>
                </a:solidFill>
              </a:rPr>
              <a:t>• Proposed lightweight AI / anomaly model runs locally.</a:t>
            </a:r>
          </a:p>
          <a:p>
            <a:r>
              <a:rPr sz="900">
                <a:solidFill>
                  <a:srgbClr val="191919"/>
                </a:solidFill>
              </a:rPr>
              <a:t>• Current flood prototype uses local risk logic while the AI layer is developed and validated.</a:t>
            </a:r>
          </a:p>
        </p:txBody>
      </p:sp>
      <p:sp>
        <p:nvSpPr>
          <p:cNvPr id="35" name="TextBox 34">
            <a:extLst>
              <a:ext uri="{FF2B5EF4-FFF2-40B4-BE49-F238E27FC236}">
                <a16:creationId xmlns:a16="http://schemas.microsoft.com/office/drawing/2014/main" id="{B670C64F-686B-B7C4-F68A-8A902A02E91E}"/>
              </a:ext>
            </a:extLst>
          </p:cNvPr>
          <p:cNvSpPr txBox="1"/>
          <p:nvPr/>
        </p:nvSpPr>
        <p:spPr>
          <a:xfrm>
            <a:off x="3154680" y="2907792"/>
            <a:ext cx="2670048" cy="1664208"/>
          </a:xfrm>
          <a:prstGeom prst="rect">
            <a:avLst/>
          </a:prstGeom>
          <a:noFill/>
          <a:ln>
            <a:solidFill>
              <a:schemeClr val="tx2"/>
            </a:solidFill>
            <a:prstDash val="lgDashDot"/>
          </a:ln>
        </p:spPr>
        <p:txBody>
          <a:bodyPr wrap="square" lIns="73152" tIns="36576" rIns="54864" bIns="18288" rtlCol="0"/>
          <a:lstStyle/>
          <a:p>
            <a:r>
              <a:rPr sz="900">
                <a:solidFill>
                  <a:srgbClr val="191919"/>
                </a:solidFill>
              </a:rPr>
              <a:t>4. RESPONSE</a:t>
            </a:r>
          </a:p>
          <a:p>
            <a:r>
              <a:rPr sz="900">
                <a:solidFill>
                  <a:srgbClr val="191919"/>
                </a:solidFill>
              </a:rPr>
              <a:t>• Rising risk → adaptive sampling.</a:t>
            </a:r>
          </a:p>
          <a:p>
            <a:r>
              <a:rPr sz="900">
                <a:solidFill>
                  <a:srgbClr val="191919"/>
                </a:solidFill>
              </a:rPr>
              <a:t>• Local hazard detection → local alert.</a:t>
            </a:r>
          </a:p>
          <a:p>
            <a:r>
              <a:rPr sz="900">
                <a:solidFill>
                  <a:srgbClr val="191919"/>
                </a:solidFill>
              </a:rPr>
              <a:t>• Upstream risk → downstream zone increases monitoring.</a:t>
            </a:r>
          </a:p>
          <a:p>
            <a:r>
              <a:rPr sz="900">
                <a:solidFill>
                  <a:srgbClr val="191919"/>
                </a:solidFill>
              </a:rPr>
              <a:t>• Critical alerts and risk summaries reach dashboards.</a:t>
            </a:r>
          </a:p>
        </p:txBody>
      </p:sp>
      <p:sp>
        <p:nvSpPr>
          <p:cNvPr id="59" name="Rounded Rectangle 58"/>
          <p:cNvSpPr/>
          <p:nvPr/>
        </p:nvSpPr>
        <p:spPr>
          <a:xfrm>
            <a:off x="6035040" y="3913632"/>
            <a:ext cx="5806440" cy="694944"/>
          </a:xfrm>
          <a:prstGeom prst="roundRect">
            <a:avLst>
              <a:gd name="adj" fmla="val 8000"/>
            </a:avLst>
          </a:prstGeom>
          <a:solidFill>
            <a:srgbClr val="F5F9FA"/>
          </a:solidFill>
          <a:ln w="15240">
            <a:solidFill>
              <a:srgbClr val="D6E2E6"/>
            </a:solidFill>
          </a:ln>
          <a:effectLst/>
        </p:spPr>
        <p:style>
          <a:lnRef idx="1">
            <a:schemeClr val="accent1"/>
          </a:lnRef>
          <a:fillRef idx="3">
            <a:schemeClr val="accent1"/>
          </a:fillRef>
          <a:effectRef idx="2">
            <a:schemeClr val="accent1"/>
          </a:effectRef>
          <a:fontRef idx="minor">
            <a:schemeClr val="lt1"/>
          </a:fontRef>
        </p:style>
        <p:txBody>
          <a:bodyPr wrap="square" lIns="109728" bIns="27432" rtlCol="0" anchor="ctr"/>
          <a:lstStyle/>
          <a:p>
            <a:r>
              <a:rPr sz="900">
                <a:solidFill>
                  <a:srgbClr val="191919"/>
                </a:solidFill>
              </a:rPr>
              <a:t>OFFLINE MODE</a:t>
            </a:r>
          </a:p>
          <a:p>
            <a:r>
              <a:rPr sz="900">
                <a:solidFill>
                  <a:srgbClr val="191919"/>
                </a:solidFill>
              </a:rPr>
              <a:t>Local sensing, edge processing, LoRa communication and alerts continue without continuous Internet. Data and event summaries are buffered and synchronized when connectivity returns.</a:t>
            </a:r>
          </a:p>
        </p:txBody>
      </p:sp>
      <p:pic>
        <p:nvPicPr>
          <p:cNvPr id="60" name="Picture 59" descr="camera.png"/>
          <p:cNvPicPr>
            <a:picLocks noChangeAspect="1"/>
          </p:cNvPicPr>
          <p:nvPr/>
        </p:nvPicPr>
        <p:blipFill>
          <a:blip r:embed="rId14"/>
          <a:stretch>
            <a:fillRect/>
          </a:stretch>
        </p:blipFill>
        <p:spPr>
          <a:xfrm>
            <a:off x="8668512" y="5212080"/>
            <a:ext cx="566928" cy="566928"/>
          </a:xfrm>
          <a:prstGeom prst="rect">
            <a:avLst/>
          </a:prstGeom>
        </p:spPr>
      </p:pic>
      <p:pic>
        <p:nvPicPr>
          <p:cNvPr id="61" name="Picture 60" descr="vibration.png"/>
          <p:cNvPicPr>
            <a:picLocks noChangeAspect="1"/>
          </p:cNvPicPr>
          <p:nvPr/>
        </p:nvPicPr>
        <p:blipFill>
          <a:blip r:embed="rId15"/>
          <a:stretch>
            <a:fillRect/>
          </a:stretch>
        </p:blipFill>
        <p:spPr>
          <a:xfrm>
            <a:off x="9491472" y="5212080"/>
            <a:ext cx="566928" cy="566928"/>
          </a:xfrm>
          <a:prstGeom prst="rect">
            <a:avLst/>
          </a:prstGeom>
        </p:spPr>
      </p:pic>
      <p:sp>
        <p:nvSpPr>
          <p:cNvPr id="62" name="TextBox 61"/>
          <p:cNvSpPr txBox="1"/>
          <p:nvPr/>
        </p:nvSpPr>
        <p:spPr>
          <a:xfrm>
            <a:off x="8540496" y="5815584"/>
            <a:ext cx="822960" cy="256032"/>
          </a:xfrm>
          <a:prstGeom prst="rect">
            <a:avLst/>
          </a:prstGeom>
          <a:noFill/>
        </p:spPr>
        <p:txBody>
          <a:bodyPr wrap="square" lIns="0" tIns="0" rIns="0" bIns="0"/>
          <a:lstStyle/>
          <a:p/>
        </p:txBody>
      </p:sp>
      <p:sp>
        <p:nvSpPr>
          <p:cNvPr id="63" name="TextBox 62"/>
          <p:cNvSpPr txBox="1"/>
          <p:nvPr/>
        </p:nvSpPr>
        <p:spPr>
          <a:xfrm>
            <a:off x="9208008" y="5815584"/>
            <a:ext cx="1143000" cy="256032"/>
          </a:xfrm>
          <a:prstGeom prst="rect">
            <a:avLst/>
          </a:prstGeom>
          <a:noFill/>
        </p:spPr>
        <p:txBody>
          <a:bodyPr wrap="square" lIns="0" tIns="0" rIns="0" bIns="0"/>
          <a:lstStyle/>
          <a:p/>
        </p:txBody>
      </p:sp>
      <p:sp>
        <p:nvSpPr>
          <p:cNvPr id="64" name="TextBox 63"/>
          <p:cNvSpPr txBox="1"/>
          <p:nvPr/>
        </p:nvSpPr>
        <p:spPr>
          <a:xfrm>
            <a:off x="5989320" y="1572768"/>
            <a:ext cx="1188720" cy="411480"/>
          </a:xfrm>
          <a:prstGeom prst="rect">
            <a:avLst/>
          </a:prstGeom>
          <a:noFill/>
        </p:spPr>
        <p:txBody>
          <a:bodyPr wrap="none">
            <a:spAutoFit/>
          </a:bodyPr>
          <a:lstStyle/>
          <a:p>
            <a:pPr>
              <a:defRPr sz="1200" b="1"/>
            </a:pPr>
            <a:r>
              <a:t>EDGE AI / TINYML</a:t>
            </a:r>
          </a:p>
        </p:txBody>
      </p:sp>
    </p:spTree>
    <p:extLst>
      <p:ext uri="{BB962C8B-B14F-4D97-AF65-F5344CB8AC3E}">
        <p14:creationId xmlns:p14="http://schemas.microsoft.com/office/powerpoint/2010/main" val="2117778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p:cNvSpPr>
            <a:spLocks/>
          </p:cNvSpPr>
          <p:nvPr/>
        </p:nvSpPr>
        <p:spPr>
          <a:xfrm>
            <a:off x="0" y="6354762"/>
            <a:ext cx="12191999" cy="503237"/>
          </a:xfrm>
          <a:prstGeom prst="rect">
            <a:avLst/>
          </a:prstGeom>
          <a:solidFill>
            <a:srgbClr val="0070C0"/>
          </a:solidFill>
          <a:ln w="9525" cap="flat" cmpd="sng">
            <a:noFill/>
            <a:prstDash val="solid"/>
            <a:miter/>
          </a:ln>
          <a:effectLst>
            <a:outerShdw dist="23000" dir="5400000" rotWithShape="0">
              <a:srgbClr val="808080">
                <a:alpha val="34509"/>
              </a:srgbClr>
            </a:outerShdw>
          </a:effectLst>
        </p:spPr>
        <p:txBody>
          <a:bodyPr/>
          <a:lstStyle/>
          <a:p>
            <a:endParaRPr/>
          </a:p>
        </p:txBody>
      </p:sp>
      <p:sp>
        <p:nvSpPr>
          <p:cNvPr id="51" name="Text box"/>
          <p:cNvSpPr>
            <a:spLocks noGrp="1"/>
          </p:cNvSpPr>
          <p:nvPr>
            <p:ph type="title"/>
          </p:nvPr>
        </p:nvSpPr>
        <p:spPr>
          <a:xfrm>
            <a:off x="609600" y="-47625"/>
            <a:ext cx="10972800" cy="114300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pPr marL="0" indent="0" algn="ctr" eaLnBrk="1" hangingPunct="1">
              <a:lnSpc>
                <a:spcPct val="100000"/>
              </a:lnSpc>
              <a:spcBef>
                <a:spcPts val="0"/>
              </a:spcBef>
              <a:spcAft>
                <a:spcPts val="0"/>
              </a:spcAft>
              <a:buNone/>
            </a:pPr>
            <a:r>
              <a:rPr lang="en-US" altLang="zh-CN" sz="3600" b="1" i="0" u="none" strike="noStrike" kern="1200" cap="none" spc="0" baseline="0">
                <a:solidFill>
                  <a:schemeClr val="tx1"/>
                </a:solidFill>
                <a:latin typeface="Times New Roman" pitchFamily="18" charset="0"/>
                <a:ea typeface="ＭＳ Ｐゴシック" pitchFamily="1" charset="-128"/>
                <a:cs typeface="Times New Roman" pitchFamily="18" charset="0"/>
              </a:rPr>
              <a:t>FEASIBILITY AND VIABILITY</a:t>
            </a:r>
            <a:endParaRPr lang="zh-CN" altLang="en-US" sz="3600" b="1" i="0" u="none" strike="noStrike" kern="1200" cap="none" spc="0" baseline="0">
              <a:solidFill>
                <a:schemeClr val="tx1"/>
              </a:solidFill>
              <a:latin typeface="Times New Roman" pitchFamily="18" charset="0"/>
              <a:ea typeface="ＭＳ Ｐゴシック" pitchFamily="1" charset="-128"/>
              <a:cs typeface="Times New Roman" pitchFamily="18" charset="0"/>
            </a:endParaRPr>
          </a:p>
        </p:txBody>
      </p:sp>
      <p:sp>
        <p:nvSpPr>
          <p:cNvPr id="53" name="Text box"/>
          <p:cNvSpPr>
            <a:spLocks noGrp="1"/>
          </p:cNvSpPr>
          <p:nvPr>
            <p:ph type="sldNum" idx="12"/>
          </p:nvPr>
        </p:nvSpPr>
        <p:spPr>
          <a:xfrm>
            <a:off x="8737600" y="6356352"/>
            <a:ext cx="2844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1000" b="1">
                <a:solidFill>
                  <a:srgbClr val="FFFFFF"/>
                </a:solidFill>
                <a:latin typeface="Aptos"/>
              </a:rPr>
              <a:t>4</a:t>
            </a:r>
          </a:p>
        </p:txBody>
      </p:sp>
      <p:sp>
        <p:nvSpPr>
          <p:cNvPr id="54" name="Text box"/>
          <p:cNvSpPr>
            <a:spLocks noGrp="1"/>
          </p:cNvSpPr>
          <p:nvPr>
            <p:ph type="ftr" idx="11"/>
          </p:nvPr>
        </p:nvSpPr>
        <p:spPr>
          <a:xfrm>
            <a:off x="4648200" y="6356352"/>
            <a:ext cx="32040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900" b="0">
                <a:solidFill>
                  <a:srgbClr val="FFFFFF"/>
                </a:solidFill>
                <a:latin typeface="Aptos"/>
              </a:rPr>
              <a:t>@SIH Idea submission- Template</a:t>
            </a:r>
          </a:p>
        </p:txBody>
      </p:sp>
      <p:sp>
        <p:nvSpPr>
          <p:cNvPr id="55" name="Oval" descr="Your startup LOGO"/>
          <p:cNvSpPr>
            <a:spLocks/>
          </p:cNvSpPr>
          <p:nvPr/>
        </p:nvSpPr>
        <p:spPr>
          <a:xfrm>
            <a:off x="329773" y="252246"/>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algn="ctr"/>
            <a:r>
              <a:rPr sz="1500" b="1" dirty="0">
                <a:solidFill>
                  <a:srgbClr val="224F87"/>
                </a:solidFill>
                <a:latin typeface="Aptos"/>
              </a:rPr>
              <a:t>VE</a:t>
            </a:r>
            <a:r>
              <a:rPr lang="en-IN" sz="1500" b="1" dirty="0">
                <a:solidFill>
                  <a:srgbClr val="224F87"/>
                </a:solidFill>
                <a:latin typeface="Aptos"/>
              </a:rPr>
              <a:t> </a:t>
            </a:r>
            <a:r>
              <a:rPr sz="1500" b="1" dirty="0">
                <a:solidFill>
                  <a:srgbClr val="224F87"/>
                </a:solidFill>
                <a:latin typeface="Aptos"/>
              </a:rPr>
              <a:t>GA</a:t>
            </a:r>
          </a:p>
        </p:txBody>
      </p:sp>
      <p:pic>
        <p:nvPicPr>
          <p:cNvPr id="56" name="Image"/>
          <p:cNvPicPr>
            <a:picLocks noChangeAspect="1"/>
          </p:cNvPicPr>
          <p:nvPr/>
        </p:nvPicPr>
        <p:blipFill>
          <a:blip r:embed="rId3" cstate="print"/>
          <a:stretch>
            <a:fillRect/>
          </a:stretch>
        </p:blipFill>
        <p:spPr>
          <a:xfrm>
            <a:off x="9780086" y="1500"/>
            <a:ext cx="2249850" cy="1062337"/>
          </a:xfrm>
          <a:prstGeom prst="rect">
            <a:avLst/>
          </a:prstGeom>
          <a:noFill/>
          <a:ln w="12700" cap="flat" cmpd="sng">
            <a:noFill/>
            <a:prstDash val="solid"/>
            <a:miter/>
          </a:ln>
        </p:spPr>
      </p:pic>
      <p:sp>
        <p:nvSpPr>
          <p:cNvPr id="57" name="TextBox 56"/>
          <p:cNvSpPr txBox="1"/>
          <p:nvPr/>
        </p:nvSpPr>
        <p:spPr>
          <a:xfrm>
            <a:off x="594360" y="1115568"/>
            <a:ext cx="4572000" cy="320040"/>
          </a:xfrm>
          <a:prstGeom prst="rect">
            <a:avLst/>
          </a:prstGeom>
          <a:noFill/>
        </p:spPr>
        <p:txBody>
          <a:bodyPr wrap="square">
            <a:spAutoFit/>
          </a:bodyPr>
          <a:lstStyle/>
          <a:p>
            <a:pPr algn="l"/>
            <a:r>
              <a:rPr sz="1100" b="1">
                <a:solidFill>
                  <a:srgbClr val="224F87"/>
                </a:solidFill>
                <a:latin typeface="Aptos"/>
              </a:rPr>
              <a:t>FEASIBILITY: ENGINEERING RISKS → MITIGATION</a:t>
            </a:r>
          </a:p>
        </p:txBody>
      </p:sp>
      <p:sp>
        <p:nvSpPr>
          <p:cNvPr id="58" name="Rounded Rectangle 57"/>
          <p:cNvSpPr/>
          <p:nvPr/>
        </p:nvSpPr>
        <p:spPr>
          <a:xfrm>
            <a:off x="594360" y="1444752"/>
            <a:ext cx="2788920" cy="438912"/>
          </a:xfrm>
          <a:prstGeom prst="roundRect">
            <a:avLst/>
          </a:prstGeom>
          <a:solidFill>
            <a:srgbClr val="0B4A66"/>
          </a:solidFill>
          <a:ln w="15240">
            <a:solidFill>
              <a:srgbClr val="0B4A6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PROBLEM</a:t>
            </a:r>
          </a:p>
        </p:txBody>
      </p:sp>
      <p:sp>
        <p:nvSpPr>
          <p:cNvPr id="59" name="Rounded Rectangle 58"/>
          <p:cNvSpPr/>
          <p:nvPr/>
        </p:nvSpPr>
        <p:spPr>
          <a:xfrm>
            <a:off x="3493008" y="1444752"/>
            <a:ext cx="3703320" cy="438912"/>
          </a:xfrm>
          <a:prstGeom prst="roundRect">
            <a:avLst/>
          </a:prstGeom>
          <a:solidFill>
            <a:srgbClr val="3E6B75"/>
          </a:solidFill>
          <a:ln w="15240">
            <a:solidFill>
              <a:srgbClr val="3E6B7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SOLUTION</a:t>
            </a:r>
          </a:p>
        </p:txBody>
      </p:sp>
      <p:sp>
        <p:nvSpPr>
          <p:cNvPr id="60" name="Rounded Rectangle 59"/>
          <p:cNvSpPr/>
          <p:nvPr/>
        </p:nvSpPr>
        <p:spPr>
          <a:xfrm>
            <a:off x="7306056" y="1444752"/>
            <a:ext cx="4069080" cy="438912"/>
          </a:xfrm>
          <a:prstGeom prst="roundRect">
            <a:avLst/>
          </a:prstGeom>
          <a:solidFill>
            <a:srgbClr val="C97A1A"/>
          </a:solidFill>
          <a:ln w="15240">
            <a:solidFill>
              <a:srgbClr val="C97A1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WHY IT IS VIABLE</a:t>
            </a:r>
          </a:p>
        </p:txBody>
      </p:sp>
      <p:sp>
        <p:nvSpPr>
          <p:cNvPr id="61" name="Rounded Rectangle 60"/>
          <p:cNvSpPr/>
          <p:nvPr/>
        </p:nvSpPr>
        <p:spPr>
          <a:xfrm>
            <a:off x="594360" y="1956816"/>
            <a:ext cx="27889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50" b="1">
                <a:solidFill>
                  <a:srgbClr val="232D37"/>
                </a:solidFill>
                <a:latin typeface="Aptos"/>
              </a:rPr>
              <a:t>Remote power</a:t>
            </a:r>
          </a:p>
        </p:txBody>
      </p:sp>
      <p:sp>
        <p:nvSpPr>
          <p:cNvPr id="62" name="Rounded Rectangle 61"/>
          <p:cNvSpPr/>
          <p:nvPr/>
        </p:nvSpPr>
        <p:spPr>
          <a:xfrm>
            <a:off x="3493008" y="1956816"/>
            <a:ext cx="37033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Solar + LiFePO₄ + deep sleep + RTC scheduling</a:t>
            </a:r>
          </a:p>
        </p:txBody>
      </p:sp>
      <p:sp>
        <p:nvSpPr>
          <p:cNvPr id="63" name="Rounded Rectangle 62"/>
          <p:cNvSpPr/>
          <p:nvPr/>
        </p:nvSpPr>
        <p:spPr>
          <a:xfrm>
            <a:off x="7306056" y="1956816"/>
            <a:ext cx="406908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Low-power operation reduces maintenance.</a:t>
            </a:r>
          </a:p>
        </p:txBody>
      </p:sp>
      <p:sp>
        <p:nvSpPr>
          <p:cNvPr id="64" name="Rounded Rectangle 63"/>
          <p:cNvSpPr/>
          <p:nvPr/>
        </p:nvSpPr>
        <p:spPr>
          <a:xfrm>
            <a:off x="594360" y="2523744"/>
            <a:ext cx="2788920" cy="512064"/>
          </a:xfrm>
          <a:prstGeom prst="roundRect">
            <a:avLst/>
          </a:prstGeom>
          <a:solidFill>
            <a:srgbClr val="F2F6F9"/>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50" b="1">
                <a:solidFill>
                  <a:srgbClr val="232D37"/>
                </a:solidFill>
                <a:latin typeface="Aptos"/>
              </a:rPr>
              <a:t>Internet failure</a:t>
            </a:r>
          </a:p>
        </p:txBody>
      </p:sp>
      <p:sp>
        <p:nvSpPr>
          <p:cNvPr id="65" name="Rounded Rectangle 64"/>
          <p:cNvSpPr/>
          <p:nvPr/>
        </p:nvSpPr>
        <p:spPr>
          <a:xfrm>
            <a:off x="3493008" y="2523744"/>
            <a:ext cx="3703320" cy="512064"/>
          </a:xfrm>
          <a:prstGeom prst="roundRect">
            <a:avLst/>
          </a:prstGeom>
          <a:solidFill>
            <a:srgbClr val="F2F6F9"/>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Gateway processes and stores data locally</a:t>
            </a:r>
          </a:p>
        </p:txBody>
      </p:sp>
      <p:sp>
        <p:nvSpPr>
          <p:cNvPr id="66" name="Rounded Rectangle 65"/>
          <p:cNvSpPr/>
          <p:nvPr/>
        </p:nvSpPr>
        <p:spPr>
          <a:xfrm>
            <a:off x="7306056" y="2523744"/>
            <a:ext cx="4069080" cy="512064"/>
          </a:xfrm>
          <a:prstGeom prst="roundRect">
            <a:avLst/>
          </a:prstGeom>
          <a:solidFill>
            <a:srgbClr val="F2F6F9"/>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919" b="1" dirty="0">
                <a:solidFill>
                  <a:srgbClr val="232D37"/>
                </a:solidFill>
                <a:latin typeface="Aptos"/>
              </a:rPr>
              <a:t>Detection and local alerts do not depend on the Internet.</a:t>
            </a:r>
          </a:p>
        </p:txBody>
      </p:sp>
      <p:sp>
        <p:nvSpPr>
          <p:cNvPr id="67" name="Rounded Rectangle 66"/>
          <p:cNvSpPr/>
          <p:nvPr/>
        </p:nvSpPr>
        <p:spPr>
          <a:xfrm>
            <a:off x="594360" y="3090672"/>
            <a:ext cx="27889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r>
              <a:rPr sz="900">
                <a:solidFill>
                  <a:srgbClr val="191919"/>
                </a:solidFill>
              </a:rPr>
              <a:t>AI inference constrained at the node</a:t>
            </a:r>
          </a:p>
        </p:txBody>
      </p:sp>
      <p:sp>
        <p:nvSpPr>
          <p:cNvPr id="68" name="Rounded Rectangle 67"/>
          <p:cNvSpPr/>
          <p:nvPr/>
        </p:nvSpPr>
        <p:spPr>
          <a:xfrm>
            <a:off x="3493008" y="3090672"/>
            <a:ext cx="37033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r>
              <a:rPr sz="900">
                <a:solidFill>
                  <a:srgbClr val="191919"/>
                </a:solidFill>
              </a:rPr>
              <a:t>Lightweight anomaly model / TinyML for local inference</a:t>
            </a:r>
          </a:p>
        </p:txBody>
      </p:sp>
      <p:sp>
        <p:nvSpPr>
          <p:cNvPr id="69" name="Rounded Rectangle 68"/>
          <p:cNvSpPr/>
          <p:nvPr/>
        </p:nvSpPr>
        <p:spPr>
          <a:xfrm>
            <a:off x="7306056" y="3090672"/>
            <a:ext cx="406908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r>
              <a:rPr sz="900">
                <a:solidFill>
                  <a:srgbClr val="191919"/>
                </a:solidFill>
              </a:rPr>
              <a:t>Local decisions reduce latency and bandwidth.</a:t>
            </a:r>
          </a:p>
        </p:txBody>
      </p:sp>
      <p:sp>
        <p:nvSpPr>
          <p:cNvPr id="70" name="Rounded Rectangle 69"/>
          <p:cNvSpPr/>
          <p:nvPr/>
        </p:nvSpPr>
        <p:spPr>
          <a:xfrm>
            <a:off x="594360" y="3657600"/>
            <a:ext cx="2788920" cy="512064"/>
          </a:xfrm>
          <a:prstGeom prst="roundRect">
            <a:avLst/>
          </a:prstGeom>
          <a:solidFill>
            <a:srgbClr val="F2F6F9"/>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r>
              <a:rPr sz="900">
                <a:solidFill>
                  <a:srgbClr val="191919"/>
                </a:solidFill>
              </a:rPr>
              <a:t>False alarms from noisy sensor data</a:t>
            </a:r>
          </a:p>
        </p:txBody>
      </p:sp>
      <p:sp>
        <p:nvSpPr>
          <p:cNvPr id="71" name="Rounded Rectangle 70"/>
          <p:cNvSpPr/>
          <p:nvPr/>
        </p:nvSpPr>
        <p:spPr>
          <a:xfrm>
            <a:off x="3493008" y="3657600"/>
            <a:ext cx="3703320" cy="512064"/>
          </a:xfrm>
          <a:prstGeom prst="roundRect">
            <a:avLst/>
          </a:prstGeom>
          <a:solidFill>
            <a:srgbClr val="F2F6F9"/>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r>
              <a:rPr sz="900">
                <a:solidFill>
                  <a:srgbClr val="191919"/>
                </a:solidFill>
              </a:rPr>
              <a:t>Data-quality checks + temporal features + model confidence</a:t>
            </a:r>
          </a:p>
        </p:txBody>
      </p:sp>
      <p:sp>
        <p:nvSpPr>
          <p:cNvPr id="72" name="Rounded Rectangle 71"/>
          <p:cNvSpPr/>
          <p:nvPr/>
        </p:nvSpPr>
        <p:spPr>
          <a:xfrm>
            <a:off x="7306056" y="3657600"/>
            <a:ext cx="4069080" cy="512064"/>
          </a:xfrm>
          <a:prstGeom prst="roundRect">
            <a:avLst/>
          </a:prstGeom>
          <a:solidFill>
            <a:srgbClr val="F2F6F9"/>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r>
              <a:rPr sz="900">
                <a:solidFill>
                  <a:srgbClr val="191919"/>
                </a:solidFill>
              </a:rPr>
              <a:t>Risk uses validated observations and model output.</a:t>
            </a:r>
          </a:p>
        </p:txBody>
      </p:sp>
      <p:sp>
        <p:nvSpPr>
          <p:cNvPr id="73" name="Rounded Rectangle 72"/>
          <p:cNvSpPr/>
          <p:nvPr/>
        </p:nvSpPr>
        <p:spPr>
          <a:xfrm>
            <a:off x="594360" y="4224528"/>
            <a:ext cx="27889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r>
              <a:rPr sz="900">
                <a:solidFill>
                  <a:srgbClr val="191919"/>
                </a:solidFill>
              </a:rPr>
              <a:t>Fast-changing conditions</a:t>
            </a:r>
          </a:p>
        </p:txBody>
      </p:sp>
      <p:sp>
        <p:nvSpPr>
          <p:cNvPr id="74" name="Rounded Rectangle 73"/>
          <p:cNvSpPr/>
          <p:nvPr/>
        </p:nvSpPr>
        <p:spPr>
          <a:xfrm>
            <a:off x="3493008" y="4224528"/>
            <a:ext cx="37033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r>
              <a:rPr sz="900">
                <a:solidFill>
                  <a:srgbClr val="191919"/>
                </a:solidFill>
              </a:rPr>
              <a:t>Rate of rise + adaptive sampling + local anomaly detection</a:t>
            </a:r>
          </a:p>
        </p:txBody>
      </p:sp>
      <p:sp>
        <p:nvSpPr>
          <p:cNvPr id="75" name="Rounded Rectangle 74"/>
          <p:cNvSpPr/>
          <p:nvPr/>
        </p:nvSpPr>
        <p:spPr>
          <a:xfrm>
            <a:off x="7306056" y="4224528"/>
            <a:ext cx="406908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r>
              <a:rPr sz="900">
                <a:solidFill>
                  <a:srgbClr val="191919"/>
                </a:solidFill>
              </a:rPr>
              <a:t>More observations when conditions change.</a:t>
            </a:r>
          </a:p>
        </p:txBody>
      </p:sp>
      <p:sp>
        <p:nvSpPr>
          <p:cNvPr id="76" name="TextBox 75"/>
          <p:cNvSpPr txBox="1"/>
          <p:nvPr/>
        </p:nvSpPr>
        <p:spPr>
          <a:xfrm>
            <a:off x="594360" y="5413248"/>
            <a:ext cx="3657600" cy="320040"/>
          </a:xfrm>
          <a:prstGeom prst="rect">
            <a:avLst/>
          </a:prstGeom>
          <a:noFill/>
        </p:spPr>
        <p:txBody>
          <a:bodyPr wrap="square">
            <a:spAutoFit/>
          </a:bodyPr>
          <a:lstStyle/>
          <a:p>
            <a:pPr algn="l"/>
            <a:r>
              <a:rPr sz="1100" b="1">
                <a:solidFill>
                  <a:srgbClr val="224F87"/>
                </a:solidFill>
                <a:latin typeface="Aptos"/>
              </a:rPr>
              <a:t>IMPLEMENTATION PATH</a:t>
            </a:r>
          </a:p>
        </p:txBody>
      </p:sp>
      <p:sp>
        <p:nvSpPr>
          <p:cNvPr id="77" name="Rounded Rectangle 76"/>
          <p:cNvSpPr/>
          <p:nvPr/>
        </p:nvSpPr>
        <p:spPr>
          <a:xfrm>
            <a:off x="594360" y="5687568"/>
            <a:ext cx="2487168" cy="475488"/>
          </a:xfrm>
          <a:prstGeom prst="roundRect">
            <a:avLst/>
          </a:prstGeom>
          <a:solidFill>
            <a:srgbClr val="FFFFFF"/>
          </a:solidFill>
          <a:ln w="15240">
            <a:solidFill>
              <a:srgbClr val="224F8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224F87"/>
                </a:solidFill>
                <a:latin typeface="Aptos"/>
              </a:rPr>
              <a:t>1  BENCH TEST</a:t>
            </a:r>
          </a:p>
        </p:txBody>
      </p:sp>
      <p:cxnSp>
        <p:nvCxnSpPr>
          <p:cNvPr id="78" name="Connector 77"/>
          <p:cNvCxnSpPr/>
          <p:nvPr/>
        </p:nvCxnSpPr>
        <p:spPr>
          <a:xfrm>
            <a:off x="3081528" y="5925312"/>
            <a:ext cx="182880" cy="0"/>
          </a:xfrm>
          <a:prstGeom prst="line">
            <a:avLst/>
          </a:prstGeom>
          <a:ln w="15240">
            <a:solidFill>
              <a:srgbClr val="586670"/>
            </a:solidFill>
          </a:ln>
        </p:spPr>
        <p:style>
          <a:lnRef idx="2">
            <a:schemeClr val="accent1"/>
          </a:lnRef>
          <a:fillRef idx="0">
            <a:schemeClr val="accent1"/>
          </a:fillRef>
          <a:effectRef idx="1">
            <a:schemeClr val="accent1"/>
          </a:effectRef>
          <a:fontRef idx="minor">
            <a:schemeClr val="tx1"/>
          </a:fontRef>
        </p:style>
      </p:cxnSp>
      <p:sp>
        <p:nvSpPr>
          <p:cNvPr id="79" name="Rounded Rectangle 78"/>
          <p:cNvSpPr/>
          <p:nvPr/>
        </p:nvSpPr>
        <p:spPr>
          <a:xfrm>
            <a:off x="3337560" y="5687568"/>
            <a:ext cx="2487168" cy="475488"/>
          </a:xfrm>
          <a:prstGeom prst="roundRect">
            <a:avLst/>
          </a:prstGeom>
          <a:solidFill>
            <a:srgbClr val="FFFFFF"/>
          </a:solidFill>
          <a:ln w="15240">
            <a:solidFill>
              <a:srgbClr val="277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277E49"/>
                </a:solidFill>
                <a:latin typeface="Aptos"/>
              </a:rPr>
              <a:t>2  FIELD NODE</a:t>
            </a:r>
          </a:p>
        </p:txBody>
      </p:sp>
      <p:cxnSp>
        <p:nvCxnSpPr>
          <p:cNvPr id="80" name="Connector 79"/>
          <p:cNvCxnSpPr/>
          <p:nvPr/>
        </p:nvCxnSpPr>
        <p:spPr>
          <a:xfrm>
            <a:off x="5824728" y="5925312"/>
            <a:ext cx="182880" cy="0"/>
          </a:xfrm>
          <a:prstGeom prst="line">
            <a:avLst/>
          </a:prstGeom>
          <a:ln w="15240">
            <a:solidFill>
              <a:srgbClr val="586670"/>
            </a:solidFill>
          </a:ln>
        </p:spPr>
        <p:style>
          <a:lnRef idx="2">
            <a:schemeClr val="accent1"/>
          </a:lnRef>
          <a:fillRef idx="0">
            <a:schemeClr val="accent1"/>
          </a:fillRef>
          <a:effectRef idx="1">
            <a:schemeClr val="accent1"/>
          </a:effectRef>
          <a:fontRef idx="minor">
            <a:schemeClr val="tx1"/>
          </a:fontRef>
        </p:style>
      </p:cxnSp>
      <p:sp>
        <p:nvSpPr>
          <p:cNvPr id="81" name="Rounded Rectangle 80"/>
          <p:cNvSpPr/>
          <p:nvPr/>
        </p:nvSpPr>
        <p:spPr>
          <a:xfrm>
            <a:off x="6080760" y="5687568"/>
            <a:ext cx="2487168" cy="475488"/>
          </a:xfrm>
          <a:prstGeom prst="roundRect">
            <a:avLst/>
          </a:prstGeom>
          <a:solidFill>
            <a:srgbClr val="FFFFFF"/>
          </a:solidFill>
          <a:ln w="15240">
            <a:solidFill>
              <a:srgbClr val="F28B2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F28B27"/>
                </a:solidFill>
                <a:latin typeface="Aptos"/>
              </a:rPr>
              <a:t>3  MULTI-NODE PILOT</a:t>
            </a:r>
          </a:p>
        </p:txBody>
      </p:sp>
      <p:cxnSp>
        <p:nvCxnSpPr>
          <p:cNvPr id="82" name="Connector 81"/>
          <p:cNvCxnSpPr/>
          <p:nvPr/>
        </p:nvCxnSpPr>
        <p:spPr>
          <a:xfrm>
            <a:off x="8567928" y="5925312"/>
            <a:ext cx="182880" cy="0"/>
          </a:xfrm>
          <a:prstGeom prst="line">
            <a:avLst/>
          </a:prstGeom>
          <a:ln w="15240">
            <a:solidFill>
              <a:srgbClr val="586670"/>
            </a:solidFill>
          </a:ln>
        </p:spPr>
        <p:style>
          <a:lnRef idx="2">
            <a:schemeClr val="accent1"/>
          </a:lnRef>
          <a:fillRef idx="0">
            <a:schemeClr val="accent1"/>
          </a:fillRef>
          <a:effectRef idx="1">
            <a:schemeClr val="accent1"/>
          </a:effectRef>
          <a:fontRef idx="minor">
            <a:schemeClr val="tx1"/>
          </a:fontRef>
        </p:style>
      </p:cxnSp>
      <p:sp>
        <p:nvSpPr>
          <p:cNvPr id="83" name="Rounded Rectangle 82"/>
          <p:cNvSpPr/>
          <p:nvPr/>
        </p:nvSpPr>
        <p:spPr>
          <a:xfrm>
            <a:off x="8823960" y="5687568"/>
            <a:ext cx="2487168" cy="475488"/>
          </a:xfrm>
          <a:prstGeom prst="roundRect">
            <a:avLst/>
          </a:prstGeom>
          <a:solidFill>
            <a:srgbClr val="FFFFFF"/>
          </a:solidFill>
          <a:ln w="15240">
            <a:solidFill>
              <a:srgbClr val="BE373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b="1">
                <a:solidFill>
                  <a:srgbClr val="BE3737"/>
                </a:solidFill>
                <a:latin typeface="Aptos"/>
              </a:rPr>
              <a:t>4  VALIDATE + SCALE</a:t>
            </a:r>
          </a:p>
        </p:txBody>
      </p:sp>
      <p:sp>
        <p:nvSpPr>
          <p:cNvPr id="200" name="Cloned 200"/>
          <p:cNvSpPr/>
          <p:nvPr/>
        </p:nvSpPr>
        <p:spPr>
          <a:xfrm>
            <a:off x="594360" y="4791456"/>
            <a:ext cx="27889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r>
              <a:rPr sz="900">
                <a:solidFill>
                  <a:srgbClr val="191919"/>
                </a:solidFill>
              </a:rPr>
              <a:t>Different hazards at different locations</a:t>
            </a:r>
          </a:p>
        </p:txBody>
      </p:sp>
      <p:sp>
        <p:nvSpPr>
          <p:cNvPr id="201" name="Cloned 201"/>
          <p:cNvSpPr/>
          <p:nvPr/>
        </p:nvSpPr>
        <p:spPr>
          <a:xfrm>
            <a:off x="3493008" y="4791456"/>
            <a:ext cx="370332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r>
              <a:rPr sz="900">
                <a:solidFill>
                  <a:srgbClr val="191919"/>
                </a:solidFill>
              </a:rPr>
              <a:t>Modular sensor nodes for flood, fire, air quality and other hazards</a:t>
            </a:r>
          </a:p>
        </p:txBody>
      </p:sp>
      <p:sp>
        <p:nvSpPr>
          <p:cNvPr id="202" name="Cloned 202"/>
          <p:cNvSpPr/>
          <p:nvPr/>
        </p:nvSpPr>
        <p:spPr>
          <a:xfrm>
            <a:off x="7306056" y="4791456"/>
            <a:ext cx="4069080" cy="512064"/>
          </a:xfrm>
          <a:prstGeom prst="roundRect">
            <a:avLst/>
          </a:prstGeom>
          <a:solidFill>
            <a:srgbClr val="FFFFFF"/>
          </a:solidFill>
          <a:ln w="15240">
            <a:solidFill>
              <a:srgbClr val="CDD6DC"/>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r>
              <a:rPr sz="900">
                <a:solidFill>
                  <a:srgbClr val="191919"/>
                </a:solidFill>
              </a:rPr>
              <a:t>Common gateway, risk engine and dashboard architecture.</a:t>
            </a:r>
          </a:p>
        </p:txBody>
      </p:sp>
    </p:spTree>
    <p:extLst>
      <p:ext uri="{BB962C8B-B14F-4D97-AF65-F5344CB8AC3E}">
        <p14:creationId xmlns:p14="http://schemas.microsoft.com/office/powerpoint/2010/main" val="617942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 name="Rectangle"/>
          <p:cNvSpPr>
            <a:spLocks/>
          </p:cNvSpPr>
          <p:nvPr/>
        </p:nvSpPr>
        <p:spPr>
          <a:xfrm>
            <a:off x="0" y="6354762"/>
            <a:ext cx="12191999" cy="503237"/>
          </a:xfrm>
          <a:prstGeom prst="rect">
            <a:avLst/>
          </a:prstGeom>
          <a:solidFill>
            <a:srgbClr val="0070C0"/>
          </a:solidFill>
          <a:ln w="9525" cap="flat" cmpd="sng">
            <a:noFill/>
            <a:prstDash val="solid"/>
            <a:miter/>
          </a:ln>
          <a:effectLst>
            <a:outerShdw dist="23000" dir="5400000" rotWithShape="0">
              <a:srgbClr val="808080">
                <a:alpha val="34509"/>
              </a:srgbClr>
            </a:outerShdw>
          </a:effectLst>
        </p:spPr>
        <p:txBody>
          <a:bodyPr/>
          <a:lstStyle/>
          <a:p>
            <a:endParaRPr/>
          </a:p>
        </p:txBody>
      </p:sp>
      <p:sp>
        <p:nvSpPr>
          <p:cNvPr id="61" name="Text box"/>
          <p:cNvSpPr>
            <a:spLocks noGrp="1"/>
          </p:cNvSpPr>
          <p:nvPr>
            <p:ph type="title"/>
          </p:nvPr>
        </p:nvSpPr>
        <p:spPr>
          <a:xfrm>
            <a:off x="609600" y="-47625"/>
            <a:ext cx="10972800" cy="114300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pPr marL="0" indent="0" algn="ctr" eaLnBrk="1" hangingPunct="1">
              <a:lnSpc>
                <a:spcPct val="100000"/>
              </a:lnSpc>
              <a:spcBef>
                <a:spcPts val="0"/>
              </a:spcBef>
              <a:spcAft>
                <a:spcPts val="0"/>
              </a:spcAft>
              <a:buNone/>
            </a:pPr>
            <a:r>
              <a:rPr lang="en-US" altLang="zh-CN" sz="3600" b="1" i="0" u="none" strike="noStrike" kern="1200" cap="none" spc="0" baseline="0">
                <a:solidFill>
                  <a:schemeClr val="tx1"/>
                </a:solidFill>
                <a:latin typeface="Times New Roman" pitchFamily="18" charset="0"/>
                <a:ea typeface="ＭＳ Ｐゴシック" pitchFamily="1" charset="-128"/>
                <a:cs typeface="Times New Roman" pitchFamily="18" charset="0"/>
              </a:rPr>
              <a:t>IMPACT AND BENEFITS</a:t>
            </a:r>
            <a:endParaRPr lang="zh-CN" altLang="en-US" sz="3600" b="1" i="0" u="none" strike="noStrike" kern="1200" cap="none" spc="0" baseline="0">
              <a:solidFill>
                <a:schemeClr val="tx1"/>
              </a:solidFill>
              <a:latin typeface="Times New Roman" pitchFamily="18" charset="0"/>
              <a:ea typeface="ＭＳ Ｐゴシック" pitchFamily="1" charset="-128"/>
              <a:cs typeface="Times New Roman" pitchFamily="18" charset="0"/>
            </a:endParaRPr>
          </a:p>
        </p:txBody>
      </p:sp>
      <p:sp>
        <p:nvSpPr>
          <p:cNvPr id="63" name="Text box"/>
          <p:cNvSpPr>
            <a:spLocks noGrp="1"/>
          </p:cNvSpPr>
          <p:nvPr>
            <p:ph type="sldNum" idx="12"/>
          </p:nvPr>
        </p:nvSpPr>
        <p:spPr>
          <a:xfrm>
            <a:off x="8737600" y="6356352"/>
            <a:ext cx="2844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1000" b="1">
                <a:solidFill>
                  <a:srgbClr val="FFFFFF"/>
                </a:solidFill>
                <a:latin typeface="Aptos"/>
              </a:rPr>
              <a:t>5</a:t>
            </a:r>
          </a:p>
        </p:txBody>
      </p:sp>
      <p:sp>
        <p:nvSpPr>
          <p:cNvPr id="64" name="Text box"/>
          <p:cNvSpPr>
            <a:spLocks noGrp="1"/>
          </p:cNvSpPr>
          <p:nvPr>
            <p:ph type="ftr" idx="11"/>
          </p:nvPr>
        </p:nvSpPr>
        <p:spPr>
          <a:xfrm>
            <a:off x="4648200" y="6356352"/>
            <a:ext cx="32040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900" b="0">
                <a:solidFill>
                  <a:srgbClr val="FFFFFF"/>
                </a:solidFill>
                <a:latin typeface="Aptos"/>
              </a:rPr>
              <a:t>@SIH Idea submission- Template</a:t>
            </a:r>
          </a:p>
        </p:txBody>
      </p:sp>
      <p:sp>
        <p:nvSpPr>
          <p:cNvPr id="65" name="Oval" descr="Your startup LOGO"/>
          <p:cNvSpPr>
            <a:spLocks/>
          </p:cNvSpPr>
          <p:nvPr/>
        </p:nvSpPr>
        <p:spPr>
          <a:xfrm>
            <a:off x="329773" y="252246"/>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algn="ctr"/>
            <a:r>
              <a:rPr sz="1500" b="1" dirty="0">
                <a:solidFill>
                  <a:srgbClr val="224F87"/>
                </a:solidFill>
                <a:latin typeface="Aptos"/>
              </a:rPr>
              <a:t>VE</a:t>
            </a:r>
            <a:r>
              <a:rPr lang="en-IN" sz="1500" b="1" dirty="0">
                <a:solidFill>
                  <a:srgbClr val="224F87"/>
                </a:solidFill>
                <a:latin typeface="Aptos"/>
              </a:rPr>
              <a:t> </a:t>
            </a:r>
            <a:r>
              <a:rPr sz="1500" b="1" dirty="0">
                <a:solidFill>
                  <a:srgbClr val="224F87"/>
                </a:solidFill>
                <a:latin typeface="Aptos"/>
              </a:rPr>
              <a:t>GA</a:t>
            </a:r>
          </a:p>
        </p:txBody>
      </p:sp>
      <p:pic>
        <p:nvPicPr>
          <p:cNvPr id="66" name="Image"/>
          <p:cNvPicPr>
            <a:picLocks noChangeAspect="1"/>
          </p:cNvPicPr>
          <p:nvPr/>
        </p:nvPicPr>
        <p:blipFill>
          <a:blip r:embed="rId3" cstate="print"/>
          <a:stretch>
            <a:fillRect/>
          </a:stretch>
        </p:blipFill>
        <p:spPr>
          <a:xfrm>
            <a:off x="9780086" y="1500"/>
            <a:ext cx="2249850" cy="1062337"/>
          </a:xfrm>
          <a:prstGeom prst="rect">
            <a:avLst/>
          </a:prstGeom>
          <a:noFill/>
          <a:ln w="12700" cap="flat" cmpd="sng">
            <a:noFill/>
            <a:prstDash val="solid"/>
            <a:miter/>
          </a:ln>
        </p:spPr>
      </p:pic>
      <p:sp>
        <p:nvSpPr>
          <p:cNvPr id="67" name="TextBox 66"/>
          <p:cNvSpPr txBox="1"/>
          <p:nvPr/>
        </p:nvSpPr>
        <p:spPr>
          <a:xfrm>
            <a:off x="3170412" y="955983"/>
            <a:ext cx="6162138" cy="461665"/>
          </a:xfrm>
          <a:prstGeom prst="rect">
            <a:avLst/>
          </a:prstGeom>
          <a:noFill/>
        </p:spPr>
        <p:txBody>
          <a:bodyPr wrap="square">
            <a:spAutoFit/>
          </a:bodyPr>
          <a:lstStyle/>
          <a:p>
            <a:pPr algn="l"/>
            <a:r>
              <a:rPr sz="2400" b="1" u="sng" dirty="0">
                <a:solidFill>
                  <a:srgbClr val="224F87"/>
                </a:solidFill>
                <a:latin typeface="Aptos"/>
              </a:rPr>
              <a:t>IMPACT ON DISASTER PREPAREDNESS</a:t>
            </a:r>
          </a:p>
        </p:txBody>
      </p:sp>
      <p:sp>
        <p:nvSpPr>
          <p:cNvPr id="75" name="Rounded Rectangle 74"/>
          <p:cNvSpPr/>
          <p:nvPr/>
        </p:nvSpPr>
        <p:spPr>
          <a:xfrm>
            <a:off x="594360" y="1536192"/>
            <a:ext cx="3401568" cy="1554480"/>
          </a:xfrm>
          <a:prstGeom prst="roundRect">
            <a:avLst/>
          </a:prstGeom>
          <a:solidFill>
            <a:srgbClr val="FFFFFF"/>
          </a:solidFill>
          <a:ln w="15240">
            <a:solidFill>
              <a:srgbClr val="224F87"/>
            </a:solidFill>
          </a:ln>
        </p:spPr>
        <p:style>
          <a:lnRef idx="1">
            <a:schemeClr val="accent1"/>
          </a:lnRef>
          <a:fillRef idx="3">
            <a:schemeClr val="accent1"/>
          </a:fillRef>
          <a:effectRef idx="2">
            <a:schemeClr val="accent1"/>
          </a:effectRef>
          <a:fontRef idx="minor">
            <a:schemeClr val="lt1"/>
          </a:fontRef>
        </p:style>
        <p:txBody>
          <a:bodyPr wrap="square" lIns="118872" rIns="118872" rtlCol="0" anchor="ctr"/>
          <a:lstStyle/>
          <a:p>
            <a:pPr algn="l"/>
            <a:endParaRPr/>
          </a:p>
        </p:txBody>
      </p:sp>
      <p:sp>
        <p:nvSpPr>
          <p:cNvPr id="76" name="TextBox 75"/>
          <p:cNvSpPr txBox="1"/>
          <p:nvPr/>
        </p:nvSpPr>
        <p:spPr>
          <a:xfrm>
            <a:off x="758952" y="1664207"/>
            <a:ext cx="3108960" cy="256032"/>
          </a:xfrm>
          <a:prstGeom prst="rect">
            <a:avLst/>
          </a:prstGeom>
          <a:noFill/>
        </p:spPr>
        <p:txBody>
          <a:bodyPr wrap="square">
            <a:spAutoFit/>
          </a:bodyPr>
          <a:lstStyle/>
          <a:p>
            <a:r>
              <a:rPr sz="900">
                <a:solidFill>
                  <a:srgbClr val="191919"/>
                </a:solidFill>
              </a:rPr>
              <a:t>EARLIER LOCAL WARNING</a:t>
            </a:r>
          </a:p>
          <a:p>
            <a:r>
              <a:rPr sz="900">
                <a:solidFill>
                  <a:srgbClr val="191919"/>
                </a:solidFill>
              </a:rPr>
              <a:t>• Local sensing detects changing environmental conditions.</a:t>
            </a:r>
          </a:p>
          <a:p>
            <a:r>
              <a:rPr sz="900">
                <a:solidFill>
                  <a:srgbClr val="191919"/>
                </a:solidFill>
              </a:rPr>
              <a:t>• Edge intelligence supports faster localized detection.</a:t>
            </a:r>
          </a:p>
        </p:txBody>
      </p:sp>
      <p:sp>
        <p:nvSpPr>
          <p:cNvPr id="77" name="TextBox 76"/>
          <p:cNvSpPr txBox="1"/>
          <p:nvPr/>
        </p:nvSpPr>
        <p:spPr>
          <a:xfrm>
            <a:off x="758952" y="2011680"/>
            <a:ext cx="3090672" cy="1005840"/>
          </a:xfrm>
          <a:prstGeom prst="rect">
            <a:avLst/>
          </a:prstGeom>
          <a:noFill/>
        </p:spPr>
        <p:txBody>
          <a:bodyPr wrap="square" lIns="0" tIns="0" rIns="36576" bIns="0"/>
          <a:lstStyle/>
          <a:p/>
        </p:txBody>
      </p:sp>
      <p:sp>
        <p:nvSpPr>
          <p:cNvPr id="78" name="Rounded Rectangle 77"/>
          <p:cNvSpPr/>
          <p:nvPr/>
        </p:nvSpPr>
        <p:spPr>
          <a:xfrm>
            <a:off x="4251960" y="1536192"/>
            <a:ext cx="3401568" cy="1554480"/>
          </a:xfrm>
          <a:prstGeom prst="roundRect">
            <a:avLst/>
          </a:prstGeom>
          <a:solidFill>
            <a:srgbClr val="FFFFFF"/>
          </a:solidFill>
          <a:ln w="15240">
            <a:solidFill>
              <a:srgbClr val="277E49"/>
            </a:solidFill>
          </a:ln>
        </p:spPr>
        <p:style>
          <a:lnRef idx="1">
            <a:schemeClr val="accent1"/>
          </a:lnRef>
          <a:fillRef idx="3">
            <a:schemeClr val="accent1"/>
          </a:fillRef>
          <a:effectRef idx="2">
            <a:schemeClr val="accent1"/>
          </a:effectRef>
          <a:fontRef idx="minor">
            <a:schemeClr val="lt1"/>
          </a:fontRef>
        </p:style>
        <p:txBody>
          <a:bodyPr wrap="square" lIns="118872" rIns="118872" rtlCol="0" anchor="ctr"/>
          <a:lstStyle/>
          <a:p>
            <a:pPr algn="l"/>
            <a:endParaRPr/>
          </a:p>
        </p:txBody>
      </p:sp>
      <p:sp>
        <p:nvSpPr>
          <p:cNvPr id="79" name="TextBox 78"/>
          <p:cNvSpPr txBox="1"/>
          <p:nvPr/>
        </p:nvSpPr>
        <p:spPr>
          <a:xfrm>
            <a:off x="4416552" y="1664207"/>
            <a:ext cx="3108960" cy="256032"/>
          </a:xfrm>
          <a:prstGeom prst="rect">
            <a:avLst/>
          </a:prstGeom>
          <a:noFill/>
        </p:spPr>
        <p:txBody>
          <a:bodyPr wrap="square">
            <a:spAutoFit/>
          </a:bodyPr>
          <a:lstStyle/>
          <a:p>
            <a:r>
              <a:rPr sz="900">
                <a:solidFill>
                  <a:srgbClr val="191919"/>
                </a:solidFill>
              </a:rPr>
              <a:t>MULTI-HAZARD, MODULAR DESIGN</a:t>
            </a:r>
          </a:p>
          <a:p>
            <a:r>
              <a:rPr sz="900">
                <a:solidFill>
                  <a:srgbClr val="191919"/>
                </a:solidFill>
              </a:rPr>
              <a:t>• Flood monitoring is the current prototype.</a:t>
            </a:r>
          </a:p>
          <a:p>
            <a:r>
              <a:rPr sz="900">
                <a:solidFill>
                  <a:srgbClr val="191919"/>
                </a:solidFill>
              </a:rPr>
              <a:t>• Modular nodes can extend to fire, air quality, heat and other hazards.</a:t>
            </a:r>
          </a:p>
        </p:txBody>
      </p:sp>
      <p:sp>
        <p:nvSpPr>
          <p:cNvPr id="80" name="TextBox 79"/>
          <p:cNvSpPr txBox="1"/>
          <p:nvPr/>
        </p:nvSpPr>
        <p:spPr>
          <a:xfrm>
            <a:off x="4416552" y="2011680"/>
            <a:ext cx="3090672" cy="1005840"/>
          </a:xfrm>
          <a:prstGeom prst="rect">
            <a:avLst/>
          </a:prstGeom>
          <a:noFill/>
        </p:spPr>
        <p:txBody>
          <a:bodyPr wrap="square" lIns="0" tIns="0" rIns="36576" bIns="0"/>
          <a:lstStyle/>
          <a:p/>
        </p:txBody>
      </p:sp>
      <p:sp>
        <p:nvSpPr>
          <p:cNvPr id="81" name="Rounded Rectangle 80"/>
          <p:cNvSpPr/>
          <p:nvPr/>
        </p:nvSpPr>
        <p:spPr>
          <a:xfrm>
            <a:off x="7909560" y="1536192"/>
            <a:ext cx="3401568" cy="1554480"/>
          </a:xfrm>
          <a:prstGeom prst="roundRect">
            <a:avLst/>
          </a:prstGeom>
          <a:solidFill>
            <a:srgbClr val="FFFFFF"/>
          </a:solidFill>
          <a:ln w="15240">
            <a:solidFill>
              <a:srgbClr val="F28B27"/>
            </a:solidFill>
          </a:ln>
        </p:spPr>
        <p:style>
          <a:lnRef idx="1">
            <a:schemeClr val="accent1"/>
          </a:lnRef>
          <a:fillRef idx="3">
            <a:schemeClr val="accent1"/>
          </a:fillRef>
          <a:effectRef idx="2">
            <a:schemeClr val="accent1"/>
          </a:effectRef>
          <a:fontRef idx="minor">
            <a:schemeClr val="lt1"/>
          </a:fontRef>
        </p:style>
        <p:txBody>
          <a:bodyPr wrap="square" lIns="118872" rIns="118872" rtlCol="0" anchor="ctr"/>
          <a:lstStyle/>
          <a:p>
            <a:pPr algn="l"/>
            <a:endParaRPr/>
          </a:p>
        </p:txBody>
      </p:sp>
      <p:sp>
        <p:nvSpPr>
          <p:cNvPr id="82" name="TextBox 81"/>
          <p:cNvSpPr txBox="1"/>
          <p:nvPr/>
        </p:nvSpPr>
        <p:spPr>
          <a:xfrm>
            <a:off x="8074152" y="1664207"/>
            <a:ext cx="3108960" cy="256032"/>
          </a:xfrm>
          <a:prstGeom prst="rect">
            <a:avLst/>
          </a:prstGeom>
          <a:noFill/>
        </p:spPr>
        <p:txBody>
          <a:bodyPr wrap="square">
            <a:spAutoFit/>
          </a:bodyPr>
          <a:lstStyle/>
          <a:p>
            <a:r>
              <a:rPr sz="900">
                <a:solidFill>
                  <a:srgbClr val="191919"/>
                </a:solidFill>
              </a:rPr>
              <a:t>COOPERATIVE ALERTS</a:t>
            </a:r>
          </a:p>
          <a:p>
            <a:r>
              <a:rPr sz="900">
                <a:solidFill>
                  <a:srgbClr val="191919"/>
                </a:solidFill>
              </a:rPr>
              <a:t>• Risk summaries move from local zones to regional systems.</a:t>
            </a:r>
          </a:p>
          <a:p>
            <a:r>
              <a:rPr sz="900">
                <a:solidFill>
                  <a:srgbClr val="191919"/>
                </a:solidFill>
              </a:rPr>
              <a:t>• Downstream zones can increase monitoring when upstream risk rises.</a:t>
            </a:r>
          </a:p>
        </p:txBody>
      </p:sp>
      <p:sp>
        <p:nvSpPr>
          <p:cNvPr id="83" name="TextBox 82"/>
          <p:cNvSpPr txBox="1"/>
          <p:nvPr/>
        </p:nvSpPr>
        <p:spPr>
          <a:xfrm>
            <a:off x="8074152" y="2011680"/>
            <a:ext cx="3090672" cy="1005840"/>
          </a:xfrm>
          <a:prstGeom prst="rect">
            <a:avLst/>
          </a:prstGeom>
          <a:noFill/>
        </p:spPr>
        <p:txBody>
          <a:bodyPr wrap="square" lIns="0" tIns="0" rIns="36576" bIns="0"/>
          <a:lstStyle/>
          <a:p/>
        </p:txBody>
      </p:sp>
      <p:sp>
        <p:nvSpPr>
          <p:cNvPr id="84" name="Rounded Rectangle 83"/>
          <p:cNvSpPr/>
          <p:nvPr/>
        </p:nvSpPr>
        <p:spPr>
          <a:xfrm>
            <a:off x="594360" y="3547872"/>
            <a:ext cx="3401568" cy="1554480"/>
          </a:xfrm>
          <a:prstGeom prst="roundRect">
            <a:avLst/>
          </a:prstGeom>
          <a:solidFill>
            <a:srgbClr val="FFFFFF"/>
          </a:solidFill>
          <a:ln w="15240">
            <a:solidFill>
              <a:srgbClr val="224F87"/>
            </a:solidFill>
          </a:ln>
        </p:spPr>
        <p:style>
          <a:lnRef idx="1">
            <a:schemeClr val="accent1"/>
          </a:lnRef>
          <a:fillRef idx="3">
            <a:schemeClr val="accent1"/>
          </a:fillRef>
          <a:effectRef idx="2">
            <a:schemeClr val="accent1"/>
          </a:effectRef>
          <a:fontRef idx="minor">
            <a:schemeClr val="lt1"/>
          </a:fontRef>
        </p:style>
        <p:txBody>
          <a:bodyPr wrap="square" lIns="118872" rIns="118872" rtlCol="0" anchor="ctr"/>
          <a:lstStyle/>
          <a:p>
            <a:pPr algn="l"/>
            <a:endParaRPr/>
          </a:p>
        </p:txBody>
      </p:sp>
      <p:sp>
        <p:nvSpPr>
          <p:cNvPr id="85" name="TextBox 84"/>
          <p:cNvSpPr txBox="1"/>
          <p:nvPr/>
        </p:nvSpPr>
        <p:spPr>
          <a:xfrm>
            <a:off x="758952" y="3675887"/>
            <a:ext cx="3108960" cy="256032"/>
          </a:xfrm>
          <a:prstGeom prst="rect">
            <a:avLst/>
          </a:prstGeom>
          <a:noFill/>
        </p:spPr>
        <p:txBody>
          <a:bodyPr wrap="square">
            <a:spAutoFit/>
          </a:bodyPr>
          <a:lstStyle/>
          <a:p>
            <a:r>
              <a:rPr sz="900">
                <a:solidFill>
                  <a:srgbClr val="191919"/>
                </a:solidFill>
              </a:rPr>
              <a:t>WORKS DURING CONNECTIVITY LOSS</a:t>
            </a:r>
          </a:p>
          <a:p>
            <a:r>
              <a:rPr sz="900">
                <a:solidFill>
                  <a:srgbClr val="191919"/>
                </a:solidFill>
              </a:rPr>
              <a:t>• Local sensing and edge intelligence continue without continuous Internet.</a:t>
            </a:r>
          </a:p>
          <a:p>
            <a:r>
              <a:rPr sz="900">
                <a:solidFill>
                  <a:srgbClr val="191919"/>
                </a:solidFill>
              </a:rPr>
              <a:t>• Events are buffered and synchronized later.</a:t>
            </a:r>
          </a:p>
        </p:txBody>
      </p:sp>
      <p:sp>
        <p:nvSpPr>
          <p:cNvPr id="86" name="TextBox 85"/>
          <p:cNvSpPr txBox="1"/>
          <p:nvPr/>
        </p:nvSpPr>
        <p:spPr>
          <a:xfrm>
            <a:off x="758952" y="4023360"/>
            <a:ext cx="3090672" cy="1005840"/>
          </a:xfrm>
          <a:prstGeom prst="rect">
            <a:avLst/>
          </a:prstGeom>
          <a:noFill/>
        </p:spPr>
        <p:txBody>
          <a:bodyPr wrap="square" lIns="0" tIns="0" rIns="36576" bIns="0"/>
          <a:lstStyle/>
          <a:p/>
        </p:txBody>
      </p:sp>
      <p:sp>
        <p:nvSpPr>
          <p:cNvPr id="87" name="Rounded Rectangle 86"/>
          <p:cNvSpPr/>
          <p:nvPr/>
        </p:nvSpPr>
        <p:spPr>
          <a:xfrm>
            <a:off x="4251960" y="3547872"/>
            <a:ext cx="3401568" cy="1554480"/>
          </a:xfrm>
          <a:prstGeom prst="roundRect">
            <a:avLst/>
          </a:prstGeom>
          <a:solidFill>
            <a:srgbClr val="FFFFFF"/>
          </a:solidFill>
          <a:ln w="15240">
            <a:solidFill>
              <a:srgbClr val="277E49"/>
            </a:solidFill>
          </a:ln>
        </p:spPr>
        <p:style>
          <a:lnRef idx="1">
            <a:schemeClr val="accent1"/>
          </a:lnRef>
          <a:fillRef idx="3">
            <a:schemeClr val="accent1"/>
          </a:fillRef>
          <a:effectRef idx="2">
            <a:schemeClr val="accent1"/>
          </a:effectRef>
          <a:fontRef idx="minor">
            <a:schemeClr val="lt1"/>
          </a:fontRef>
        </p:style>
        <p:txBody>
          <a:bodyPr wrap="square" lIns="118872" rIns="118872" rtlCol="0" anchor="ctr"/>
          <a:lstStyle/>
          <a:p>
            <a:pPr algn="l"/>
            <a:endParaRPr/>
          </a:p>
        </p:txBody>
      </p:sp>
      <p:sp>
        <p:nvSpPr>
          <p:cNvPr id="88" name="TextBox 87"/>
          <p:cNvSpPr txBox="1"/>
          <p:nvPr/>
        </p:nvSpPr>
        <p:spPr>
          <a:xfrm>
            <a:off x="4416552" y="3675887"/>
            <a:ext cx="3108960" cy="256032"/>
          </a:xfrm>
          <a:prstGeom prst="rect">
            <a:avLst/>
          </a:prstGeom>
          <a:noFill/>
        </p:spPr>
        <p:txBody>
          <a:bodyPr wrap="square">
            <a:spAutoFit/>
          </a:bodyPr>
          <a:lstStyle/>
          <a:p>
            <a:r>
              <a:rPr sz="900">
                <a:solidFill>
                  <a:srgbClr val="191919"/>
                </a:solidFill>
              </a:rPr>
              <a:t>LOWER BANDWIDTH &amp; LATENCY</a:t>
            </a:r>
          </a:p>
          <a:p>
            <a:r>
              <a:rPr sz="900">
                <a:solidFill>
                  <a:srgbClr val="191919"/>
                </a:solidFill>
              </a:rPr>
              <a:t>• Only critical alerts, summaries and risk assessments leave the node.</a:t>
            </a:r>
          </a:p>
          <a:p>
            <a:r>
              <a:rPr sz="900">
                <a:solidFill>
                  <a:srgbClr val="191919"/>
                </a:solidFill>
              </a:rPr>
              <a:t>• Local inference reduces cloud dependence.</a:t>
            </a:r>
          </a:p>
        </p:txBody>
      </p:sp>
      <p:sp>
        <p:nvSpPr>
          <p:cNvPr id="89" name="TextBox 88"/>
          <p:cNvSpPr txBox="1"/>
          <p:nvPr/>
        </p:nvSpPr>
        <p:spPr>
          <a:xfrm>
            <a:off x="4416552" y="4023360"/>
            <a:ext cx="3090672" cy="1005840"/>
          </a:xfrm>
          <a:prstGeom prst="rect">
            <a:avLst/>
          </a:prstGeom>
          <a:noFill/>
        </p:spPr>
        <p:txBody>
          <a:bodyPr wrap="square" lIns="0" tIns="0" rIns="36576" bIns="0"/>
          <a:lstStyle/>
          <a:p/>
        </p:txBody>
      </p:sp>
      <p:sp>
        <p:nvSpPr>
          <p:cNvPr id="90" name="Rounded Rectangle 89"/>
          <p:cNvSpPr/>
          <p:nvPr/>
        </p:nvSpPr>
        <p:spPr>
          <a:xfrm>
            <a:off x="7909560" y="3547872"/>
            <a:ext cx="3401568" cy="1554480"/>
          </a:xfrm>
          <a:prstGeom prst="roundRect">
            <a:avLst/>
          </a:prstGeom>
          <a:solidFill>
            <a:srgbClr val="FFFFFF"/>
          </a:solidFill>
          <a:ln w="15240">
            <a:solidFill>
              <a:srgbClr val="F28B27"/>
            </a:solidFill>
          </a:ln>
        </p:spPr>
        <p:style>
          <a:lnRef idx="1">
            <a:schemeClr val="accent1"/>
          </a:lnRef>
          <a:fillRef idx="3">
            <a:schemeClr val="accent1"/>
          </a:fillRef>
          <a:effectRef idx="2">
            <a:schemeClr val="accent1"/>
          </a:effectRef>
          <a:fontRef idx="minor">
            <a:schemeClr val="lt1"/>
          </a:fontRef>
        </p:style>
        <p:txBody>
          <a:bodyPr wrap="square" lIns="118872" rIns="118872" rtlCol="0" anchor="ctr"/>
          <a:lstStyle/>
          <a:p>
            <a:pPr algn="l"/>
            <a:endParaRPr/>
          </a:p>
        </p:txBody>
      </p:sp>
      <p:sp>
        <p:nvSpPr>
          <p:cNvPr id="91" name="TextBox 90"/>
          <p:cNvSpPr txBox="1"/>
          <p:nvPr/>
        </p:nvSpPr>
        <p:spPr>
          <a:xfrm>
            <a:off x="8074152" y="3675887"/>
            <a:ext cx="3108960" cy="256032"/>
          </a:xfrm>
          <a:prstGeom prst="rect">
            <a:avLst/>
          </a:prstGeom>
          <a:noFill/>
        </p:spPr>
        <p:txBody>
          <a:bodyPr wrap="square">
            <a:spAutoFit/>
          </a:bodyPr>
          <a:lstStyle/>
          <a:p>
            <a:r>
              <a:rPr sz="900">
                <a:solidFill>
                  <a:srgbClr val="191919"/>
                </a:solidFill>
              </a:rPr>
              <a:t>ACTIONABLE RISK INFORMATION</a:t>
            </a:r>
          </a:p>
          <a:p>
            <a:r>
              <a:rPr sz="900">
                <a:solidFill>
                  <a:srgbClr val="191919"/>
                </a:solidFill>
              </a:rPr>
              <a:t>• Zone-wise maps, sensor status and alerts support authorities and communities.</a:t>
            </a:r>
          </a:p>
          <a:p>
            <a:r>
              <a:rPr sz="900">
                <a:solidFill>
                  <a:srgbClr val="191919"/>
                </a:solidFill>
              </a:rPr>
              <a:t>• Central analytics can support long-term trends.</a:t>
            </a:r>
          </a:p>
        </p:txBody>
      </p:sp>
      <p:sp>
        <p:nvSpPr>
          <p:cNvPr id="92" name="TextBox 91"/>
          <p:cNvSpPr txBox="1"/>
          <p:nvPr/>
        </p:nvSpPr>
        <p:spPr>
          <a:xfrm>
            <a:off x="8074152" y="4023360"/>
            <a:ext cx="3090672" cy="1005840"/>
          </a:xfrm>
          <a:prstGeom prst="rect">
            <a:avLst/>
          </a:prstGeom>
          <a:noFill/>
        </p:spPr>
        <p:txBody>
          <a:bodyPr wrap="square" lIns="0" tIns="0" rIns="36576" bIns="0"/>
          <a:lstStyle/>
          <a:p/>
        </p:txBody>
      </p:sp>
      <p:sp>
        <p:nvSpPr>
          <p:cNvPr id="93" name="Rounded Rectangle 92"/>
          <p:cNvSpPr/>
          <p:nvPr/>
        </p:nvSpPr>
        <p:spPr>
          <a:xfrm>
            <a:off x="594360" y="5504688"/>
            <a:ext cx="10716768" cy="566928"/>
          </a:xfrm>
          <a:prstGeom prst="roundRect">
            <a:avLst>
              <a:gd name="adj" fmla="val 8000"/>
            </a:avLst>
          </a:prstGeom>
          <a:solidFill>
            <a:srgbClr val="C97A1A"/>
          </a:solidFill>
          <a:ln w="15240">
            <a:solidFill>
              <a:srgbClr val="C97A1A"/>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r>
              <a:rPr sz="900">
                <a:solidFill>
                  <a:srgbClr val="191919"/>
                </a:solidFill>
              </a:rPr>
              <a:t>Environmental Sensing  →  Edge AI  →  Local Risk  →  Alert / Risk Map  →  Regional Response</a:t>
            </a:r>
          </a:p>
        </p:txBody>
      </p:sp>
    </p:spTree>
    <p:extLst>
      <p:ext uri="{BB962C8B-B14F-4D97-AF65-F5344CB8AC3E}">
        <p14:creationId xmlns:p14="http://schemas.microsoft.com/office/powerpoint/2010/main" val="476013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 name="Rectangle"/>
          <p:cNvSpPr>
            <a:spLocks/>
          </p:cNvSpPr>
          <p:nvPr/>
        </p:nvSpPr>
        <p:spPr>
          <a:xfrm>
            <a:off x="0" y="6354762"/>
            <a:ext cx="12191999" cy="503237"/>
          </a:xfrm>
          <a:prstGeom prst="rect">
            <a:avLst/>
          </a:prstGeom>
          <a:solidFill>
            <a:srgbClr val="0070C0"/>
          </a:solidFill>
          <a:ln w="9525" cap="flat" cmpd="sng">
            <a:noFill/>
            <a:prstDash val="solid"/>
            <a:miter/>
          </a:ln>
          <a:effectLst>
            <a:outerShdw dist="23000" dir="5400000" rotWithShape="0">
              <a:srgbClr val="808080">
                <a:alpha val="34509"/>
              </a:srgbClr>
            </a:outerShdw>
          </a:effectLst>
        </p:spPr>
        <p:txBody>
          <a:bodyPr/>
          <a:lstStyle/>
          <a:p>
            <a:endParaRPr/>
          </a:p>
        </p:txBody>
      </p:sp>
      <p:sp>
        <p:nvSpPr>
          <p:cNvPr id="71" name="Text box"/>
          <p:cNvSpPr>
            <a:spLocks noGrp="1"/>
          </p:cNvSpPr>
          <p:nvPr>
            <p:ph type="title"/>
          </p:nvPr>
        </p:nvSpPr>
        <p:spPr>
          <a:xfrm>
            <a:off x="609600" y="-47625"/>
            <a:ext cx="10972800" cy="1143000"/>
          </a:xfrm>
          <a:prstGeom prst="rect">
            <a:avLst/>
          </a:prstGeom>
          <a:noFill/>
          <a:ln w="9525" cap="flat" cmpd="sng">
            <a:noFill/>
            <a:prstDash val="solid"/>
            <a:miter/>
          </a:ln>
        </p:spPr>
        <p:txBody>
          <a:bodyPr vert="horz" wrap="square" lIns="91440" tIns="45720" rIns="91440" bIns="45720" anchor="ctr" anchorCtr="0">
            <a:prstTxWarp prst="textNoShape">
              <a:avLst/>
            </a:prstTxWarp>
          </a:bodyPr>
          <a:lstStyle/>
          <a:p>
            <a:pPr marL="0" indent="0" algn="ctr" eaLnBrk="1" hangingPunct="1">
              <a:lnSpc>
                <a:spcPct val="100000"/>
              </a:lnSpc>
              <a:spcBef>
                <a:spcPts val="0"/>
              </a:spcBef>
              <a:spcAft>
                <a:spcPts val="0"/>
              </a:spcAft>
              <a:buNone/>
            </a:pPr>
            <a:r>
              <a:rPr lang="en-US" altLang="zh-CN" sz="3600" b="1" i="0" u="none" strike="noStrike" kern="1200" cap="none" spc="0" baseline="0">
                <a:solidFill>
                  <a:schemeClr val="tx1"/>
                </a:solidFill>
                <a:latin typeface="Times New Roman" pitchFamily="18" charset="0"/>
                <a:ea typeface="ＭＳ Ｐゴシック" pitchFamily="1" charset="-128"/>
                <a:cs typeface="Times New Roman" pitchFamily="18" charset="0"/>
              </a:rPr>
              <a:t>RESEARCH  AND REFERENCES</a:t>
            </a:r>
            <a:endParaRPr lang="zh-CN" altLang="en-US" sz="3600" b="1" i="0" u="none" strike="noStrike" kern="1200" cap="none" spc="0" baseline="0">
              <a:solidFill>
                <a:schemeClr val="tx1"/>
              </a:solidFill>
              <a:latin typeface="Times New Roman" pitchFamily="18" charset="0"/>
              <a:ea typeface="ＭＳ Ｐゴシック" pitchFamily="1" charset="-128"/>
              <a:cs typeface="Times New Roman" pitchFamily="18" charset="0"/>
            </a:endParaRPr>
          </a:p>
        </p:txBody>
      </p:sp>
      <p:sp>
        <p:nvSpPr>
          <p:cNvPr id="73" name="Text box"/>
          <p:cNvSpPr>
            <a:spLocks noGrp="1"/>
          </p:cNvSpPr>
          <p:nvPr>
            <p:ph type="sldNum" idx="12"/>
          </p:nvPr>
        </p:nvSpPr>
        <p:spPr>
          <a:xfrm>
            <a:off x="8737600" y="6356352"/>
            <a:ext cx="2844799"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1000" b="1">
                <a:solidFill>
                  <a:srgbClr val="FFFFFF"/>
                </a:solidFill>
                <a:latin typeface="Aptos"/>
              </a:rPr>
              <a:t>6</a:t>
            </a:r>
          </a:p>
        </p:txBody>
      </p:sp>
      <p:sp>
        <p:nvSpPr>
          <p:cNvPr id="74" name="Text box"/>
          <p:cNvSpPr>
            <a:spLocks noGrp="1"/>
          </p:cNvSpPr>
          <p:nvPr>
            <p:ph type="ftr" idx="11"/>
          </p:nvPr>
        </p:nvSpPr>
        <p:spPr>
          <a:xfrm>
            <a:off x="4648200" y="6356352"/>
            <a:ext cx="32040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r>
              <a:rPr sz="900" b="0">
                <a:solidFill>
                  <a:srgbClr val="FFFFFF"/>
                </a:solidFill>
                <a:latin typeface="Aptos"/>
              </a:rPr>
              <a:t>@SIH Idea submission- Template</a:t>
            </a:r>
          </a:p>
        </p:txBody>
      </p:sp>
      <p:sp>
        <p:nvSpPr>
          <p:cNvPr id="75" name="Oval" descr="Your startup LOGO"/>
          <p:cNvSpPr>
            <a:spLocks/>
          </p:cNvSpPr>
          <p:nvPr/>
        </p:nvSpPr>
        <p:spPr>
          <a:xfrm>
            <a:off x="329773" y="252246"/>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algn="ctr"/>
            <a:r>
              <a:rPr sz="1500" b="1" dirty="0">
                <a:solidFill>
                  <a:srgbClr val="224F87"/>
                </a:solidFill>
                <a:latin typeface="Aptos"/>
              </a:rPr>
              <a:t>VE</a:t>
            </a:r>
            <a:r>
              <a:rPr lang="en-IN" sz="1500" b="1" dirty="0">
                <a:solidFill>
                  <a:srgbClr val="224F87"/>
                </a:solidFill>
                <a:latin typeface="Aptos"/>
              </a:rPr>
              <a:t> </a:t>
            </a:r>
            <a:r>
              <a:rPr sz="1500" b="1" dirty="0">
                <a:solidFill>
                  <a:srgbClr val="224F87"/>
                </a:solidFill>
                <a:latin typeface="Aptos"/>
              </a:rPr>
              <a:t>GA</a:t>
            </a:r>
          </a:p>
        </p:txBody>
      </p:sp>
      <p:pic>
        <p:nvPicPr>
          <p:cNvPr id="76" name="Image"/>
          <p:cNvPicPr>
            <a:picLocks noChangeAspect="1"/>
          </p:cNvPicPr>
          <p:nvPr/>
        </p:nvPicPr>
        <p:blipFill>
          <a:blip r:embed="rId3" cstate="print"/>
          <a:stretch>
            <a:fillRect/>
          </a:stretch>
        </p:blipFill>
        <p:spPr>
          <a:xfrm>
            <a:off x="9780086" y="1500"/>
            <a:ext cx="2249850" cy="1062337"/>
          </a:xfrm>
          <a:prstGeom prst="rect">
            <a:avLst/>
          </a:prstGeom>
          <a:noFill/>
          <a:ln w="12700" cap="flat" cmpd="sng">
            <a:noFill/>
            <a:prstDash val="solid"/>
            <a:miter/>
          </a:ln>
        </p:spPr>
      </p:pic>
      <p:sp>
        <p:nvSpPr>
          <p:cNvPr id="93" name="TextBox 92"/>
          <p:cNvSpPr txBox="1"/>
          <p:nvPr/>
        </p:nvSpPr>
        <p:spPr>
          <a:xfrm>
            <a:off x="667512" y="5833872"/>
            <a:ext cx="11009376" cy="378565"/>
          </a:xfrm>
          <a:prstGeom prst="rect">
            <a:avLst/>
          </a:prstGeom>
          <a:noFill/>
        </p:spPr>
        <p:txBody>
          <a:bodyPr wrap="square">
            <a:spAutoFit/>
          </a:bodyPr>
          <a:lstStyle/>
          <a:p>
            <a:r>
              <a:rPr sz="850">
                <a:solidFill>
                  <a:srgbClr val="191919"/>
                </a:solidFill>
              </a:rPr>
              <a:t>References establish the environmental monitoring, early-warning and hardware basis. VEGA-specific edge intelligence, cooperative communication and modular multi-hazard architecture are proposed system features.</a:t>
            </a:r>
          </a:p>
        </p:txBody>
      </p:sp>
      <p:sp>
        <p:nvSpPr>
          <p:cNvPr id="94" name="TextBox 93"/>
          <p:cNvSpPr txBox="1"/>
          <p:nvPr/>
        </p:nvSpPr>
        <p:spPr>
          <a:xfrm>
            <a:off x="594360" y="927523"/>
            <a:ext cx="11155680" cy="320040"/>
          </a:xfrm>
          <a:prstGeom prst="rect">
            <a:avLst/>
          </a:prstGeom>
          <a:noFill/>
        </p:spPr>
        <p:txBody>
          <a:bodyPr wrap="square">
            <a:spAutoFit/>
          </a:bodyPr>
          <a:lstStyle/>
          <a:p>
            <a:pPr algn="ctr"/>
            <a:r>
              <a:rPr sz="1400" b="1" dirty="0">
                <a:solidFill>
                  <a:srgbClr val="23466E"/>
                </a:solidFill>
                <a:latin typeface="Arial"/>
              </a:rPr>
              <a:t>SOURCE LINKS — RESEARCH, ARCHITECTURE &amp; COMPONENT REFERENCES</a:t>
            </a:r>
          </a:p>
        </p:txBody>
      </p:sp>
      <p:sp>
        <p:nvSpPr>
          <p:cNvPr id="95" name="TextBox 94"/>
          <p:cNvSpPr txBox="1"/>
          <p:nvPr/>
        </p:nvSpPr>
        <p:spPr>
          <a:xfrm>
            <a:off x="850392" y="1389888"/>
            <a:ext cx="4663440" cy="3498394"/>
          </a:xfrm>
          <a:prstGeom prst="rect">
            <a:avLst/>
          </a:prstGeom>
          <a:noFill/>
        </p:spPr>
        <p:txBody>
          <a:bodyPr wrap="square">
            <a:spAutoFit/>
          </a:bodyPr>
          <a:lstStyle/>
          <a:p>
            <a:r>
              <a:rPr sz="850">
                <a:solidFill>
                  <a:srgbClr val="191919"/>
                </a:solidFill>
              </a:rPr>
              <a:t>PROBLEM STATEMENT / SYSTEM BASIS</a:t>
            </a:r>
          </a:p>
          <a:p/>
          <a:p>
            <a:r>
              <a:rPr sz="850">
                <a:solidFill>
                  <a:srgbClr val="191919"/>
                </a:solidFill>
              </a:rPr>
              <a:t>• Smart India Hackathon 2026 — SIH26178</a:t>
            </a:r>
          </a:p>
          <a:p>
            <a:r>
              <a:rPr sz="850">
                <a:solidFill>
                  <a:srgbClr val="191919"/>
                </a:solidFill>
              </a:rPr>
              <a:t>  Qualcomm Inc | Hardware | Disaster Management</a:t>
            </a:r>
          </a:p>
          <a:p>
            <a:r>
              <a:rPr sz="850">
                <a:solidFill>
                  <a:srgbClr val="191919"/>
                </a:solidFill>
              </a:rPr>
              <a:t>  https://sih2026.vuce.in/ps/SIH26178</a:t>
            </a:r>
          </a:p>
          <a:p/>
          <a:p>
            <a:r>
              <a:rPr sz="850">
                <a:solidFill>
                  <a:srgbClr val="191919"/>
                </a:solidFill>
              </a:rPr>
              <a:t>• WMO — Early Warnings for All</a:t>
            </a:r>
          </a:p>
          <a:p>
            <a:r>
              <a:rPr sz="850">
                <a:solidFill>
                  <a:srgbClr val="191919"/>
                </a:solidFill>
              </a:rPr>
              <a:t>  https://wmo.int/all-activities/build-resilience/early-warnings-all</a:t>
            </a:r>
          </a:p>
          <a:p/>
          <a:p>
            <a:r>
              <a:rPr sz="850">
                <a:solidFill>
                  <a:srgbClr val="191919"/>
                </a:solidFill>
              </a:rPr>
              <a:t>• WMO — Flash Flood Guidance System</a:t>
            </a:r>
          </a:p>
          <a:p>
            <a:r>
              <a:rPr sz="850">
                <a:solidFill>
                  <a:srgbClr val="191919"/>
                </a:solidFill>
              </a:rPr>
              <a:t>  https://wmo.int/projects/ffgs</a:t>
            </a:r>
          </a:p>
          <a:p/>
          <a:p>
            <a:r>
              <a:rPr sz="850">
                <a:solidFill>
                  <a:srgbClr val="191919"/>
                </a:solidFill>
              </a:rPr>
              <a:t>• Central Water Commission — Hydrological Observation</a:t>
            </a:r>
          </a:p>
          <a:p>
            <a:r>
              <a:rPr sz="850">
                <a:solidFill>
                  <a:srgbClr val="191919"/>
                </a:solidFill>
              </a:rPr>
              <a:t>  https://cwc.gov.in/hydro-meteorological-observation</a:t>
            </a:r>
          </a:p>
          <a:p/>
          <a:p>
            <a:r>
              <a:rPr sz="850">
                <a:solidFill>
                  <a:srgbClr val="191919"/>
                </a:solidFill>
              </a:rPr>
              <a:t>• India Meteorological Department — Rainfall Information</a:t>
            </a:r>
          </a:p>
          <a:p>
            <a:r>
              <a:rPr sz="850">
                <a:solidFill>
                  <a:srgbClr val="191919"/>
                </a:solidFill>
              </a:rPr>
              <a:t>  https://mausam.imd.gov.in/responsive/rainfallinformation.php</a:t>
            </a:r>
          </a:p>
        </p:txBody>
      </p:sp>
      <p:sp>
        <p:nvSpPr>
          <p:cNvPr id="96" name="TextBox 95"/>
          <p:cNvSpPr txBox="1"/>
          <p:nvPr/>
        </p:nvSpPr>
        <p:spPr>
          <a:xfrm>
            <a:off x="6172200" y="1389888"/>
            <a:ext cx="5440680" cy="2769989"/>
          </a:xfrm>
          <a:prstGeom prst="rect">
            <a:avLst/>
          </a:prstGeom>
          <a:noFill/>
        </p:spPr>
        <p:txBody>
          <a:bodyPr wrap="square">
            <a:spAutoFit/>
          </a:bodyPr>
          <a:lstStyle/>
          <a:p>
            <a:r>
              <a:rPr sz="850">
                <a:solidFill>
                  <a:srgbClr val="191919"/>
                </a:solidFill>
              </a:rPr>
              <a:t>HARDWARE / EDGE REFERENCES</a:t>
            </a:r>
          </a:p>
          <a:p/>
          <a:p>
            <a:r>
              <a:rPr sz="850">
                <a:solidFill>
                  <a:srgbClr val="191919"/>
                </a:solidFill>
              </a:rPr>
              <a:t>• Espressif — ESP32</a:t>
            </a:r>
          </a:p>
          <a:p>
            <a:r>
              <a:rPr sz="850">
                <a:solidFill>
                  <a:srgbClr val="191919"/>
                </a:solidFill>
              </a:rPr>
              <a:t>  https://documentation.espressif.com/esp32_datasheet_en.html</a:t>
            </a:r>
          </a:p>
          <a:p/>
          <a:p>
            <a:r>
              <a:rPr sz="850">
                <a:solidFill>
                  <a:srgbClr val="191919"/>
                </a:solidFill>
              </a:rPr>
              <a:t>• Semtech — SX1262 LoRa</a:t>
            </a:r>
          </a:p>
          <a:p>
            <a:r>
              <a:rPr sz="850">
                <a:solidFill>
                  <a:srgbClr val="191919"/>
                </a:solidFill>
              </a:rPr>
              <a:t>  https://www.semtech.com/products/wireless-rf/lora-connect/sx1262</a:t>
            </a:r>
          </a:p>
          <a:p/>
          <a:p>
            <a:r>
              <a:rPr sz="850">
                <a:solidFill>
                  <a:srgbClr val="191919"/>
                </a:solidFill>
              </a:rPr>
              <a:t>• Analog Devices — DS3231 RTC</a:t>
            </a:r>
          </a:p>
          <a:p>
            <a:r>
              <a:rPr sz="850">
                <a:solidFill>
                  <a:srgbClr val="191919"/>
                </a:solidFill>
              </a:rPr>
              <a:t>  https://www.analog.com/en/products/ds3231.html</a:t>
            </a:r>
          </a:p>
          <a:p/>
          <a:p>
            <a:r>
              <a:rPr sz="850">
                <a:solidFill>
                  <a:srgbClr val="191919"/>
                </a:solidFill>
              </a:rPr>
              <a:t>• TensorFlow Lite for Microcontrollers</a:t>
            </a:r>
          </a:p>
          <a:p>
            <a:r>
              <a:rPr sz="850">
                <a:solidFill>
                  <a:srgbClr val="191919"/>
                </a:solidFill>
              </a:rPr>
              <a:t>  Lightweight ML inference on microcontrollers</a:t>
            </a:r>
          </a:p>
          <a:p>
            <a:r>
              <a:rPr sz="850">
                <a:solidFill>
                  <a:srgbClr val="191919"/>
                </a:solidFill>
              </a:rPr>
              <a:t>  https://www.tensorflow.org/lite/microcontrollers</a:t>
            </a:r>
          </a:p>
          <a:p/>
          <a:p>
            <a:r>
              <a:rPr sz="850">
                <a:solidFill>
                  <a:srgbClr val="191919"/>
                </a:solidFill>
              </a:rPr>
              <a:t>PRIOR IMPLEMENTATION</a:t>
            </a:r>
          </a:p>
          <a:p>
            <a:r>
              <a:rPr sz="850">
                <a:solidFill>
                  <a:srgbClr val="191919"/>
                </a:solidFill>
              </a:rPr>
              <a:t>• CrashLink — ESP32 + LoRa prototype by Team VEGA</a:t>
            </a:r>
          </a:p>
          <a:p>
            <a:r>
              <a:rPr sz="850">
                <a:solidFill>
                  <a:srgbClr val="191919"/>
                </a:solidFill>
              </a:rPr>
              <a:t>  https://github.com/surajjha0622/CrashLink</a:t>
            </a:r>
          </a:p>
        </p:txBody>
      </p:sp>
      <p:sp>
        <p:nvSpPr>
          <p:cNvPr id="3" name="TextBox 2">
            <a:extLst>
              <a:ext uri="{FF2B5EF4-FFF2-40B4-BE49-F238E27FC236}">
                <a16:creationId xmlns:a16="http://schemas.microsoft.com/office/drawing/2014/main" id="{99DAFA8E-7F66-9808-048D-CD26173274B8}"/>
              </a:ext>
            </a:extLst>
          </p:cNvPr>
          <p:cNvSpPr txBox="1"/>
          <p:nvPr/>
        </p:nvSpPr>
        <p:spPr>
          <a:xfrm>
            <a:off x="6172200" y="4526280"/>
            <a:ext cx="5440680" cy="1292662"/>
          </a:xfrm>
          <a:prstGeom prst="rect">
            <a:avLst/>
          </a:prstGeom>
          <a:noFill/>
        </p:spPr>
        <p:txBody>
          <a:bodyPr wrap="square">
            <a:spAutoFit/>
          </a:bodyPr>
          <a:lstStyle/>
          <a:p/>
        </p:txBody>
      </p:sp>
    </p:spTree>
    <p:extLst>
      <p:ext uri="{BB962C8B-B14F-4D97-AF65-F5344CB8AC3E}">
        <p14:creationId xmlns:p14="http://schemas.microsoft.com/office/powerpoint/2010/main" val="772826554"/>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ppt/theme/theme2.xml><?xml version="1.0" encoding="utf-8"?>
<a:theme xmlns:a="http://schemas.openxmlformats.org/drawingml/2006/main" name="notesMaster1">
  <a:themeElements>
    <a:clrScheme name="notesMaster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Normal.eit</Template>
  <TotalTime>9188</TotalTime>
  <Words>1475</Words>
  <Application>Microsoft Office PowerPoint</Application>
  <PresentationFormat>Widescreen</PresentationFormat>
  <Paragraphs>190</Paragraphs>
  <Slides>6</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Aptos</vt:lpstr>
      <vt:lpstr>Aptos Display</vt:lpstr>
      <vt:lpstr>Arial</vt:lpstr>
      <vt:lpstr>Calibri</vt:lpstr>
      <vt:lpstr>Garamond</vt:lpstr>
      <vt:lpstr>Georgia</vt:lpstr>
      <vt:lpstr>Times New Roman</vt:lpstr>
      <vt:lpstr>TradeGothic</vt:lpstr>
      <vt:lpstr>Office Theme</vt:lpstr>
      <vt:lpstr>SMART INDIA HACKATHON 2026</vt:lpstr>
      <vt:lpstr>SUCHAK — FLOOD EARLY-WARNING SYSTEM</vt:lpstr>
      <vt:lpstr>TECHNICAL APPROACH</vt:lpstr>
      <vt:lpstr>FEASIBILITY AND VIABILITY</vt:lpstr>
      <vt:lpstr>IMPACT AND BENEFITS</vt:lpstr>
      <vt:lpstr>RESEARCH  AND REFERENCES</vt:lpstr>
    </vt:vector>
  </TitlesOfParts>
  <Company>Crowdfunder,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creator>Crowdfunder</dc:creator>
  <cp:lastModifiedBy>Suraj Jha</cp:lastModifiedBy>
  <cp:revision>172</cp:revision>
  <dcterms:created xsi:type="dcterms:W3CDTF">2013-12-12T18:46:50Z</dcterms:created>
  <dcterms:modified xsi:type="dcterms:W3CDTF">2026-09-29T17:08:15Z</dcterms:modified>
</cp:coreProperties>
</file>