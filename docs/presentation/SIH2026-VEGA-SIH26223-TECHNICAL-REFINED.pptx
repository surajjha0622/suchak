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kinsoku lang="zh-CN" invalStChars="!%),.:;?]}¨·ˇˉ་―‖’”…‰∶、。〃々〉》」』】〕〗！＂＇％），．：；？］｀｜｝～￠" invalEndChars="([{·‘“〈《「『【〔〖（．［｛￡￥"/>
  <p:defaultTextStyle>
    <a:defPPr>
      <a:defRPr lang="zh-CN"/>
    </a:defPPr>
    <a:lvl1pPr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1pPr>
    <a:lvl2pPr marL="457200" indent="0"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2pPr>
    <a:lvl3pPr marL="914400" indent="0"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3pPr>
    <a:lvl4pPr marL="1371600" indent="0"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4pPr>
    <a:lvl5pPr marL="1828800" indent="0"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5pPr>
    <a:lvl6pPr marL="2286000" indent="0" algn="l" defTabSz="914400" eaLnBrk="1" fontAlgn="auto" latinLnBrk="0" hangingPunct="1">
      <a:buNone/>
      <a:defRPr sz="1800" kern="1200">
        <a:solidFill>
          <a:schemeClr val="tx1"/>
        </a:solidFill>
        <a:latin typeface="Calibri" pitchFamily="34" charset="0"/>
        <a:ea typeface="ＭＳ Ｐゴシック" pitchFamily="1" charset="-128"/>
        <a:cs typeface="Droid Sans" charset="0"/>
      </a:defRPr>
    </a:lvl6pPr>
    <a:lvl7pPr marL="2743200" indent="0" algn="l" defTabSz="914400" eaLnBrk="1" fontAlgn="auto" latinLnBrk="0" hangingPunct="1">
      <a:buNone/>
      <a:defRPr sz="1800" kern="1200">
        <a:solidFill>
          <a:schemeClr val="tx1"/>
        </a:solidFill>
        <a:latin typeface="Calibri" pitchFamily="34" charset="0"/>
        <a:ea typeface="ＭＳ Ｐゴシック" pitchFamily="1" charset="-128"/>
        <a:cs typeface="Droid Sans" charset="0"/>
      </a:defRPr>
    </a:lvl7pPr>
    <a:lvl8pPr marL="3200400" indent="0" algn="l" defTabSz="914400" eaLnBrk="1" fontAlgn="auto" latinLnBrk="0" hangingPunct="1">
      <a:buNone/>
      <a:defRPr sz="1800" kern="1200">
        <a:solidFill>
          <a:schemeClr val="tx1"/>
        </a:solidFill>
        <a:latin typeface="Calibri" pitchFamily="34" charset="0"/>
        <a:ea typeface="ＭＳ Ｐゴシック" pitchFamily="1" charset="-128"/>
        <a:cs typeface="Droid Sans" charset="0"/>
      </a:defRPr>
    </a:lvl8pPr>
    <a:lvl9pPr marL="3200400" indent="0" algn="l" defTabSz="914400" eaLnBrk="1" fontAlgn="auto" latinLnBrk="0" hangingPunct="1">
      <a:buNone/>
      <a:defRPr sz="1800" kern="1200">
        <a:solidFill>
          <a:schemeClr val="tx1"/>
        </a:solidFill>
        <a:latin typeface="Calibri" pitchFamily="34" charset="0"/>
        <a:ea typeface="ＭＳ Ｐゴシック" pitchFamily="1" charset="-128"/>
        <a:cs typeface="Droid Sans"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8CC3"/>
    <a:srgbClr val="D0DDED"/>
    <a:srgbClr val="1F497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snapToObjects="1">
      <p:cViewPr>
        <p:scale>
          <a:sx n="100" d="100"/>
          <a:sy n="100" d="100"/>
        </p:scale>
        <p:origin x="-86" y="-5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a:t>
            </a:fld>
            <a:endParaRPr lang="zh-CN" altLang="en-US" sz="1200">
              <a:latin typeface="Calibri" pitchFamily="34" charset="0"/>
              <a:ea typeface="ＭＳ Ｐゴシック" pitchFamily="1" charset="-128"/>
              <a:cs typeface="Calibri" pitchFamily="34" charset="0"/>
            </a:endParaRPr>
          </a:p>
        </p:txBody>
      </p:sp>
      <p:sp>
        <p:nvSpPr>
          <p:cNvPr id="7" name="Text box"/>
          <p:cNvSpPr>
            <a:spLocks noGrp="1"/>
          </p:cNvSpPr>
          <p:nvPr>
            <p:ph type="hdr"/>
          </p:nvPr>
        </p:nvSpPr>
        <p:spPr>
          <a:xfrm>
            <a:off x="0" y="0"/>
            <a:ext cx="2971799"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fontAlgn="auto">
              <a:spcBef>
                <a:spcPts val="0"/>
              </a:spcBef>
              <a:spcAft>
                <a:spcPts val="0"/>
              </a:spcAft>
            </a:pPr>
            <a:endParaRPr lang="zh-CN" altLang="en-US" sz="1200">
              <a:latin typeface="Calibri" pitchFamily="34" charset="0"/>
              <a:ea typeface="宋体" charset="0"/>
              <a:cs typeface="Calibri" pitchFamily="34" charset="0"/>
            </a:endParaRPr>
          </a:p>
        </p:txBody>
      </p:sp>
      <p:sp>
        <p:nvSpPr>
          <p:cNvPr id="8" name="Text box"/>
          <p:cNvSpPr>
            <a:spLocks noGrp="1"/>
          </p:cNvSpPr>
          <p:nvPr>
            <p:ph type="dt" idx="1"/>
          </p:nvPr>
        </p:nvSpPr>
        <p:spPr>
          <a:xfrm>
            <a:off x="3884613" y="0"/>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Calibri" pitchFamily="34" charset="0"/>
                <a:ea typeface="ＭＳ Ｐゴシック" pitchFamily="1" charset="-128"/>
                <a:cs typeface="Calibri" pitchFamily="34" charset="0"/>
              </a:rPr>
              <a:t>9/29/2026</a:t>
            </a:fld>
            <a:endParaRPr lang="zh-CN" altLang="en-US" sz="1200">
              <a:latin typeface="Calibri" pitchFamily="34" charset="0"/>
              <a:ea typeface="ＭＳ Ｐゴシック" pitchFamily="1" charset="-128"/>
              <a:cs typeface="Calibri" pitchFamily="34" charset="0"/>
            </a:endParaRPr>
          </a:p>
        </p:txBody>
      </p:sp>
      <p:sp>
        <p:nvSpPr>
          <p:cNvPr id="9" name="Object"/>
          <p:cNvSpPr>
            <a:spLocks noGrp="1" noRot="1" noChangeAspect="1"/>
          </p:cNvSpPr>
          <p:nvPr>
            <p:ph type="sldImg" idx="2"/>
          </p:nvPr>
        </p:nvSpPr>
        <p:spPr>
          <a:xfrm>
            <a:off x="381000" y="685800"/>
            <a:ext cx="6096000" cy="3429000"/>
          </a:xfrm>
          <a:prstGeom prst="rect">
            <a:avLst/>
          </a:prstGeom>
          <a:noFill/>
          <a:ln w="12700" cap="flat" cmpd="sng">
            <a:solidFill>
              <a:srgbClr val="000000"/>
            </a:solidFill>
            <a:prstDash val="solid"/>
            <a:round/>
          </a:ln>
        </p:spPr>
      </p:sp>
      <p:sp>
        <p:nvSpPr>
          <p:cNvPr id="10" name="Text box"/>
          <p:cNvSpPr>
            <a:spLocks noGrp="1"/>
          </p:cNvSpPr>
          <p:nvPr>
            <p:ph type="body" idx="3"/>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11" name="Text box"/>
          <p:cNvSpPr>
            <a:spLocks noGrp="1"/>
          </p:cNvSpPr>
          <p:nvPr>
            <p:ph type="ftr" idx="4"/>
          </p:nvPr>
        </p:nvSpPr>
        <p:spPr>
          <a:xfrm>
            <a:off x="0" y="8685213"/>
            <a:ext cx="2971799"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fontAlgn="auto">
              <a:spcBef>
                <a:spcPts val="0"/>
              </a:spcBef>
              <a:spcAft>
                <a:spcPts val="0"/>
              </a:spcAft>
            </a:pPr>
            <a:endParaRPr lang="zh-CN" altLang="en-US" sz="1200">
              <a:latin typeface="Calibri" pitchFamily="34" charset="0"/>
              <a:ea typeface="宋体" charset="0"/>
              <a:cs typeface="Calibri" pitchFamily="34" charset="0"/>
            </a:endParaRPr>
          </a:p>
        </p:txBody>
      </p:sp>
    </p:spTree>
    <p:extLst>
      <p:ext uri="{BB962C8B-B14F-4D97-AF65-F5344CB8AC3E}">
        <p14:creationId xmlns:p14="http://schemas.microsoft.com/office/powerpoint/2010/main" val="36294993"/>
      </p:ext>
    </p:extLst>
  </p:cSld>
  <p:clrMap bg1="lt1" tx1="dk1" bg2="lt2" tx2="dk2" accent1="accent1" accent2="accent2" accent3="accent3" accent4="accent4" accent5="accent5" accent6="accent6" hlink="hlink" folHlink="folHlink"/>
  <p:hf hdr="0" ftr="0" dt="0"/>
  <p:notesStyle>
    <a:lvl1pPr marL="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ＭＳ Ｐゴシック" pitchFamily="1" charset="-128"/>
      </a:defRPr>
    </a:lvl1pPr>
    <a:lvl2pPr marL="4572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Calibri" pitchFamily="34" charset="0"/>
      </a:defRPr>
    </a:lvl2pPr>
    <a:lvl3pPr marL="9144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Calibri" pitchFamily="34" charset="0"/>
      </a:defRPr>
    </a:lvl3pPr>
    <a:lvl4pPr marL="13716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Calibri" pitchFamily="34" charset="0"/>
      </a:defRPr>
    </a:lvl4pPr>
    <a:lvl5pPr marL="18288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Calibri" pitchFamily="34"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charset="0"/>
        <a:cs typeface="Calibri" pitchFamily="34"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charset="0"/>
        <a:cs typeface="Calibri" pitchFamily="34"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charset="0"/>
        <a:cs typeface="Calibri" pitchFamily="34"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charset="0"/>
        <a:cs typeface="Calibri" pitchFamily="3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1</a:t>
            </a:fld>
            <a:endParaRPr lang="zh-CN" altLang="en-US" sz="1200">
              <a:latin typeface="Calibri" pitchFamily="34" charset="0"/>
              <a:ea typeface="ＭＳ Ｐゴシック" pitchFamily="1" charset="-128"/>
              <a:cs typeface="Calibri" pitchFamily="34" charset="0"/>
            </a:endParaRPr>
          </a:p>
        </p:txBody>
      </p:sp>
    </p:spTree>
    <p:extLst>
      <p:ext uri="{BB962C8B-B14F-4D97-AF65-F5344CB8AC3E}">
        <p14:creationId xmlns:p14="http://schemas.microsoft.com/office/powerpoint/2010/main" val="415904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2</a:t>
            </a:fld>
            <a:endParaRPr lang="zh-CN" altLang="en-US" sz="1200">
              <a:latin typeface="Calibri" pitchFamily="34" charset="0"/>
              <a:ea typeface="ＭＳ Ｐゴシック" pitchFamily="1" charset="-128"/>
              <a:cs typeface="Calibri" pitchFamily="34" charset="0"/>
            </a:endParaRPr>
          </a:p>
        </p:txBody>
      </p:sp>
      <p:sp>
        <p:nvSpPr>
          <p:cNvPr id="3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3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3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Calibri" pitchFamily="34" charset="0"/>
                <a:ea typeface="ＭＳ Ｐゴシック" pitchFamily="1" charset="-128"/>
                <a:cs typeface="Lucida Sans"/>
              </a:rPr>
              <a:t>2</a:t>
            </a:fld>
            <a:endParaRPr lang="zh-CN" altLang="en-US"/>
          </a:p>
        </p:txBody>
      </p:sp>
    </p:spTree>
    <p:extLst>
      <p:ext uri="{BB962C8B-B14F-4D97-AF65-F5344CB8AC3E}">
        <p14:creationId xmlns:p14="http://schemas.microsoft.com/office/powerpoint/2010/main" val="104821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3</a:t>
            </a:fld>
            <a:endParaRPr lang="zh-CN" altLang="en-US" sz="1200">
              <a:latin typeface="Calibri" pitchFamily="34" charset="0"/>
              <a:ea typeface="ＭＳ Ｐゴシック" pitchFamily="1" charset="-128"/>
              <a:cs typeface="Calibri" pitchFamily="34" charset="0"/>
            </a:endParaRPr>
          </a:p>
        </p:txBody>
      </p:sp>
      <p:sp>
        <p:nvSpPr>
          <p:cNvPr id="4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4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4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Calibri" pitchFamily="34" charset="0"/>
                <a:ea typeface="ＭＳ Ｐゴシック" pitchFamily="1" charset="-128"/>
                <a:cs typeface="Lucida Sans"/>
              </a:rPr>
              <a:t>3</a:t>
            </a:fld>
            <a:endParaRPr lang="zh-CN" altLang="en-US"/>
          </a:p>
        </p:txBody>
      </p:sp>
    </p:spTree>
    <p:extLst>
      <p:ext uri="{BB962C8B-B14F-4D97-AF65-F5344CB8AC3E}">
        <p14:creationId xmlns:p14="http://schemas.microsoft.com/office/powerpoint/2010/main" val="230964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4</a:t>
            </a:fld>
            <a:endParaRPr lang="zh-CN" altLang="en-US" sz="1200">
              <a:latin typeface="Calibri" pitchFamily="34" charset="0"/>
              <a:ea typeface="ＭＳ Ｐゴシック" pitchFamily="1" charset="-128"/>
              <a:cs typeface="Calibri" pitchFamily="34" charset="0"/>
            </a:endParaRPr>
          </a:p>
        </p:txBody>
      </p:sp>
      <p:sp>
        <p:nvSpPr>
          <p:cNvPr id="5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5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5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r" defTabSz="457200" eaLnBrk="1" fontAlgn="base" latinLnBrk="0"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Calibri" pitchFamily="34" charset="0"/>
                <a:ea typeface="ＭＳ Ｐゴシック" pitchFamily="1" charset="-128"/>
                <a:cs typeface="Calibri" pitchFamily="34" charset="0"/>
              </a:rPr>
              <a:t>4</a:t>
            </a:fld>
            <a:endParaRPr lang="zh-CN" altLang="en-US" sz="1200" b="0" i="0" u="none" strike="noStrike" kern="1200" cap="none" spc="0" baseline="0">
              <a:solidFill>
                <a:srgbClr val="000000"/>
              </a:solidFill>
              <a:latin typeface="Calibri" pitchFamily="34" charset="0"/>
              <a:ea typeface="ＭＳ Ｐゴシック" pitchFamily="1" charset="-128"/>
              <a:cs typeface="Calibri" pitchFamily="34" charset="0"/>
            </a:endParaRPr>
          </a:p>
        </p:txBody>
      </p:sp>
    </p:spTree>
    <p:extLst>
      <p:ext uri="{BB962C8B-B14F-4D97-AF65-F5344CB8AC3E}">
        <p14:creationId xmlns:p14="http://schemas.microsoft.com/office/powerpoint/2010/main" val="262415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5</a:t>
            </a:fld>
            <a:endParaRPr lang="zh-CN" altLang="en-US" sz="1200">
              <a:latin typeface="Calibri" pitchFamily="34" charset="0"/>
              <a:ea typeface="ＭＳ Ｐゴシック" pitchFamily="1" charset="-128"/>
              <a:cs typeface="Calibri" pitchFamily="34" charset="0"/>
            </a:endParaRPr>
          </a:p>
        </p:txBody>
      </p:sp>
      <p:sp>
        <p:nvSpPr>
          <p:cNvPr id="6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6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6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r" defTabSz="457200" eaLnBrk="1" fontAlgn="base" latinLnBrk="0"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Calibri" pitchFamily="34" charset="0"/>
                <a:ea typeface="ＭＳ Ｐゴシック" pitchFamily="1" charset="-128"/>
                <a:cs typeface="Calibri" pitchFamily="34" charset="0"/>
              </a:rPr>
              <a:t>5</a:t>
            </a:fld>
            <a:endParaRPr lang="zh-CN" altLang="en-US" sz="1200" b="0" i="0" u="none" strike="noStrike" kern="1200" cap="none" spc="0" baseline="0">
              <a:solidFill>
                <a:srgbClr val="000000"/>
              </a:solidFill>
              <a:latin typeface="Calibri" pitchFamily="34" charset="0"/>
              <a:ea typeface="ＭＳ Ｐゴシック" pitchFamily="1" charset="-128"/>
              <a:cs typeface="Calibri" pitchFamily="34" charset="0"/>
            </a:endParaRPr>
          </a:p>
        </p:txBody>
      </p:sp>
    </p:spTree>
    <p:extLst>
      <p:ext uri="{BB962C8B-B14F-4D97-AF65-F5344CB8AC3E}">
        <p14:creationId xmlns:p14="http://schemas.microsoft.com/office/powerpoint/2010/main" val="561750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6</a:t>
            </a:fld>
            <a:endParaRPr lang="zh-CN" altLang="en-US" sz="1200">
              <a:latin typeface="Calibri" pitchFamily="34" charset="0"/>
              <a:ea typeface="ＭＳ Ｐゴシック" pitchFamily="1" charset="-128"/>
              <a:cs typeface="Calibri" pitchFamily="34" charset="0"/>
            </a:endParaRPr>
          </a:p>
        </p:txBody>
      </p:sp>
      <p:sp>
        <p:nvSpPr>
          <p:cNvPr id="7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7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7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r" defTabSz="457200" eaLnBrk="1" fontAlgn="base" latinLnBrk="0"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Calibri" pitchFamily="34" charset="0"/>
                <a:ea typeface="ＭＳ Ｐゴシック" pitchFamily="1" charset="-128"/>
                <a:cs typeface="Calibri" pitchFamily="34" charset="0"/>
              </a:rPr>
              <a:t>6</a:t>
            </a:fld>
            <a:endParaRPr lang="zh-CN" altLang="en-US" sz="1200" b="0" i="0" u="none" strike="noStrike" kern="1200" cap="none" spc="0" baseline="0">
              <a:solidFill>
                <a:srgbClr val="000000"/>
              </a:solidFill>
              <a:latin typeface="Calibri" pitchFamily="34" charset="0"/>
              <a:ea typeface="ＭＳ Ｐゴシック" pitchFamily="1" charset="-128"/>
              <a:cs typeface="Calibri" pitchFamily="34" charset="0"/>
            </a:endParaRPr>
          </a:p>
        </p:txBody>
      </p:sp>
    </p:spTree>
    <p:extLst>
      <p:ext uri="{BB962C8B-B14F-4D97-AF65-F5344CB8AC3E}">
        <p14:creationId xmlns:p14="http://schemas.microsoft.com/office/powerpoint/2010/main" val="625609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3" name="Text box"/>
          <p:cNvSpPr>
            <a:spLocks noGrp="1"/>
          </p:cNvSpPr>
          <p:nvPr>
            <p:ph type="ctrTitle"/>
          </p:nvPr>
        </p:nvSpPr>
        <p:spPr>
          <a:xfrm>
            <a:off x="914400" y="2130428"/>
            <a:ext cx="10363199" cy="1470025"/>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TradeGothic" charset="0"/>
                <a:ea typeface="ＭＳ Ｐゴシック" pitchFamily="1" charset="-128"/>
                <a:cs typeface="Lucida Sans"/>
              </a:rPr>
              <a:t>Click to edit Master title style</a:t>
            </a:r>
            <a:endParaRPr lang="zh-CN" altLang="en-US" sz="4400" b="0" i="0" u="none" strike="noStrike" kern="1200" cap="none" spc="0" baseline="0">
              <a:solidFill>
                <a:schemeClr val="tx1"/>
              </a:solidFill>
              <a:latin typeface="TradeGothic" charset="0"/>
              <a:ea typeface="ＭＳ Ｐゴシック" pitchFamily="1" charset="-128"/>
              <a:cs typeface="Lucida Sans"/>
            </a:endParaRPr>
          </a:p>
        </p:txBody>
      </p:sp>
      <p:sp>
        <p:nvSpPr>
          <p:cNvPr id="14" name="Text box"/>
          <p:cNvSpPr>
            <a:spLocks noGrp="1"/>
          </p:cNvSpPr>
          <p:nvPr>
            <p:ph type="subTitle" idx="1"/>
          </p:nvPr>
        </p:nvSpPr>
        <p:spPr>
          <a:xfrm>
            <a:off x="1828800" y="3886200"/>
            <a:ext cx="8534401" cy="17526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ct val="20000"/>
              </a:spcBef>
              <a:spcAft>
                <a:spcPts val="0"/>
              </a:spcAft>
              <a:buNone/>
            </a:pPr>
            <a:r>
              <a:rPr lang="en-US" altLang="zh-CN" sz="3200" b="0" i="0" u="none" strike="noStrike" kern="1200" cap="none" spc="0" baseline="0">
                <a:solidFill>
                  <a:srgbClr val="898989"/>
                </a:solidFill>
                <a:latin typeface="TradeGothic" charset="0"/>
                <a:ea typeface="ＭＳ Ｐゴシック" pitchFamily="1" charset="-128"/>
                <a:cs typeface="Lucida Sans"/>
              </a:rPr>
              <a:t>Click to edit Master subtitle style</a:t>
            </a:r>
            <a:endParaRPr lang="zh-CN" altLang="en-US" sz="3200" b="0" i="0" u="none" strike="noStrike" kern="1200" cap="none" spc="0" baseline="0">
              <a:solidFill>
                <a:srgbClr val="898989"/>
              </a:solidFill>
              <a:latin typeface="TradeGothic" charset="0"/>
              <a:ea typeface="ＭＳ Ｐゴシック" pitchFamily="1" charset="-128"/>
              <a:cs typeface="Lucida Sans"/>
            </a:endParaRPr>
          </a:p>
        </p:txBody>
      </p:sp>
      <p:sp>
        <p:nvSpPr>
          <p:cNvPr id="15" name="Text box"/>
          <p:cNvSpPr>
            <a:spLocks noGrp="1"/>
          </p:cNvSpPr>
          <p:nvPr>
            <p:ph type="dt" idx="10"/>
          </p:nvPr>
        </p:nvSpPr>
        <p:spPr>
          <a:xfrm>
            <a:off x="609600" y="6356352"/>
            <a:ext cx="28448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fld id="{CAD2D6BD-DE1B-4B5F-8B41-2702339687B9}" type="datetime1">
              <a:rPr lang="en-US" altLang="zh-CN" sz="1200" b="0" i="0" u="none" strike="noStrike" kern="1200" cap="none" spc="0" baseline="0">
                <a:solidFill>
                  <a:srgbClr val="898989"/>
                </a:solidFill>
                <a:latin typeface="TradeGothic" charset="0"/>
                <a:ea typeface="ＭＳ Ｐゴシック" pitchFamily="1" charset="-128"/>
                <a:cs typeface="Calibri" pitchFamily="34" charset="0"/>
              </a:rPr>
              <a:t>9/29/2026</a:t>
            </a:fld>
            <a:endParaRPr lang="zh-CN" altLang="en-US" sz="1200" b="0" i="0" u="none" strike="noStrike" kern="1200" cap="none" spc="0" baseline="0">
              <a:solidFill>
                <a:srgbClr val="898989"/>
              </a:solidFill>
              <a:latin typeface="TradeGothic" charset="0"/>
              <a:ea typeface="ＭＳ Ｐゴシック" pitchFamily="1" charset="-128"/>
              <a:cs typeface="Calibri" pitchFamily="34" charset="0"/>
            </a:endParaRPr>
          </a:p>
        </p:txBody>
      </p:sp>
      <p:sp>
        <p:nvSpPr>
          <p:cNvPr id="16" name="Text box"/>
          <p:cNvSpPr>
            <a:spLocks noGrp="1"/>
          </p:cNvSpPr>
          <p:nvPr>
            <p:ph type="ftr" idx="11"/>
          </p:nvPr>
        </p:nvSpPr>
        <p:spPr>
          <a:xfrm>
            <a:off x="4165600" y="6356352"/>
            <a:ext cx="3860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ctr" fontAlgn="auto">
              <a:lnSpc>
                <a:spcPct val="100000"/>
              </a:lnSpc>
              <a:spcBef>
                <a:spcPts val="0"/>
              </a:spcBef>
              <a:spcAft>
                <a:spcPts val="0"/>
              </a:spcAft>
              <a:buNone/>
            </a:pPr>
            <a:r>
              <a:rPr lang="en-US" altLang="zh-CN" sz="1200" b="0" i="0" u="none" strike="noStrike" kern="1200" cap="none" spc="0" baseline="0">
                <a:solidFill>
                  <a:srgbClr val="898989"/>
                </a:solidFill>
                <a:latin typeface="TradeGothic" charset="0"/>
                <a:ea typeface="宋体" charset="0"/>
                <a:cs typeface="Calibri" pitchFamily="34" charset="0"/>
              </a:rPr>
              <a:t>@SIH Idea submission- Template</a:t>
            </a:r>
            <a:endParaRPr lang="zh-CN" altLang="en-US" sz="1200" b="0" i="0" u="none" strike="noStrike" kern="1200" cap="none" spc="0" baseline="0">
              <a:solidFill>
                <a:srgbClr val="898989"/>
              </a:solidFill>
              <a:latin typeface="TradeGothic" charset="0"/>
              <a:ea typeface="宋体" charset="0"/>
              <a:cs typeface="Calibri" pitchFamily="34" charset="0"/>
            </a:endParaRPr>
          </a:p>
        </p:txBody>
      </p:sp>
      <p:sp>
        <p:nvSpPr>
          <p:cNvPr id="17"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TradeGothic" charset="0"/>
                <a:ea typeface="ＭＳ Ｐゴシック" pitchFamily="1" charset="-128"/>
                <a:cs typeface="Calibri" pitchFamily="34" charset="0"/>
              </a:rPr>
              <a:t>‹#›</a:t>
            </a:fld>
            <a:endParaRPr lang="zh-CN" altLang="en-US" sz="1200" b="0" i="0" u="none" strike="noStrike" kern="1200" cap="none" spc="0" baseline="0">
              <a:solidFill>
                <a:srgbClr val="898989"/>
              </a:solidFill>
              <a:latin typeface="TradeGothic" charset="0"/>
              <a:ea typeface="ＭＳ Ｐゴシック" pitchFamily="1" charset="-128"/>
              <a:cs typeface="Calibri" pitchFamily="34" charset="0"/>
            </a:endParaRPr>
          </a:p>
        </p:txBody>
      </p:sp>
    </p:spTree>
    <p:extLst>
      <p:ext uri="{BB962C8B-B14F-4D97-AF65-F5344CB8AC3E}">
        <p14:creationId xmlns:p14="http://schemas.microsoft.com/office/powerpoint/2010/main" val="1951395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80868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585411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411165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a:t>单击此处编辑母版标题样式</a:t>
            </a:r>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257560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794621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826863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7479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24418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626126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03196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25"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r>
              <a:rPr lang="en-US" altLang="zh-CN"/>
              <a:t>Click to edit Master title style</a:t>
            </a:r>
            <a:endParaRPr lang="zh-CN" altLang="en-US"/>
          </a:p>
        </p:txBody>
      </p:sp>
      <p:sp>
        <p:nvSpPr>
          <p:cNvPr id="26" name="Text box"/>
          <p:cNvSpPr>
            <a:spLocks noGrp="1"/>
          </p:cNvSpPr>
          <p:nvPr>
            <p:ph type="body" idx="1"/>
          </p:nvPr>
        </p:nvSpPr>
        <p:spPr>
          <a:xfrm>
            <a:off x="609600" y="1095375"/>
            <a:ext cx="10972800" cy="5030787"/>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27" name="Text box"/>
          <p:cNvSpPr>
            <a:spLocks noGrp="1"/>
          </p:cNvSpPr>
          <p:nvPr>
            <p:ph type="dt" idx="10"/>
          </p:nvPr>
        </p:nvSpPr>
        <p:spPr>
          <a:xfrm>
            <a:off x="609600" y="6356352"/>
            <a:ext cx="28448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fld id="{CAD2D6BD-DE1B-4B5F-8B41-2702339687B9}" type="datetime1">
              <a:rPr lang="en-US" altLang="zh-CN" sz="1200">
                <a:solidFill>
                  <a:srgbClr val="898989"/>
                </a:solidFill>
                <a:latin typeface="TradeGothic" charset="0"/>
                <a:ea typeface="ＭＳ Ｐゴシック" pitchFamily="1" charset="-128"/>
                <a:cs typeface="Calibri" pitchFamily="34" charset="0"/>
              </a:rPr>
              <a:t>9/29/2026</a:t>
            </a:fld>
            <a:endParaRPr lang="zh-CN" altLang="en-US" sz="1200">
              <a:solidFill>
                <a:srgbClr val="898989"/>
              </a:solidFill>
              <a:latin typeface="TradeGothic" charset="0"/>
              <a:ea typeface="ＭＳ Ｐゴシック" pitchFamily="1" charset="-128"/>
              <a:cs typeface="Calibri" pitchFamily="34" charset="0"/>
            </a:endParaRPr>
          </a:p>
        </p:txBody>
      </p:sp>
      <p:sp>
        <p:nvSpPr>
          <p:cNvPr id="28" name="Text box"/>
          <p:cNvSpPr>
            <a:spLocks noGrp="1"/>
          </p:cNvSpPr>
          <p:nvPr>
            <p:ph type="ftr" idx="11"/>
          </p:nvPr>
        </p:nvSpPr>
        <p:spPr>
          <a:xfrm>
            <a:off x="4165600" y="6356352"/>
            <a:ext cx="3860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fontAlgn="auto">
              <a:spcBef>
                <a:spcPts val="0"/>
              </a:spcBef>
              <a:spcAft>
                <a:spcPts val="0"/>
              </a:spcAft>
            </a:pPr>
            <a:r>
              <a:rPr lang="en-US" altLang="zh-CN" sz="1200">
                <a:solidFill>
                  <a:srgbClr val="898989"/>
                </a:solidFill>
                <a:latin typeface="TradeGothic" charset="0"/>
                <a:ea typeface="宋体" charset="0"/>
                <a:cs typeface="Calibri" pitchFamily="34" charset="0"/>
              </a:rPr>
              <a:t>@SIH Idea submission- Template</a:t>
            </a:r>
            <a:endParaRPr lang="zh-CN" altLang="en-US" sz="1200">
              <a:solidFill>
                <a:srgbClr val="898989"/>
              </a:solidFill>
              <a:latin typeface="TradeGothic" charset="0"/>
              <a:ea typeface="宋体" charset="0"/>
              <a:cs typeface="Calibri" pitchFamily="34" charset="0"/>
            </a:endParaRPr>
          </a:p>
        </p:txBody>
      </p:sp>
      <p:sp>
        <p:nvSpPr>
          <p:cNvPr id="29"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rgbClr val="898989"/>
                </a:solidFill>
                <a:latin typeface="TradeGothic" charset="0"/>
                <a:ea typeface="ＭＳ Ｐゴシック" pitchFamily="1" charset="-128"/>
                <a:cs typeface="Calibri" pitchFamily="34" charset="0"/>
              </a:rPr>
              <a:t>‹#›</a:t>
            </a:fld>
            <a:endParaRPr lang="zh-CN" altLang="en-US" sz="1200">
              <a:solidFill>
                <a:srgbClr val="898989"/>
              </a:solidFill>
              <a:latin typeface="TradeGothic" charset="0"/>
              <a:ea typeface="ＭＳ Ｐゴシック" pitchFamily="1" charset="-128"/>
              <a:cs typeface="Calibri" pitchFamily="34" charset="0"/>
            </a:endParaRPr>
          </a:p>
        </p:txBody>
      </p:sp>
    </p:spTree>
    <p:extLst>
      <p:ext uri="{BB962C8B-B14F-4D97-AF65-F5344CB8AC3E}">
        <p14:creationId xmlns:p14="http://schemas.microsoft.com/office/powerpoint/2010/main" val="451793265"/>
      </p:ext>
    </p:extLst>
  </p:cSld>
  <p:clrMapOvr>
    <a:masterClrMapping/>
  </p:clrMapOvr>
  <p:hf sldNu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r>
              <a:rPr lang="en-US" altLang="zh-CN"/>
              <a:t>Click to edit Master title style</a:t>
            </a:r>
            <a:endParaRPr lang="zh-CN" altLang="en-US"/>
          </a:p>
        </p:txBody>
      </p:sp>
      <p:sp>
        <p:nvSpPr>
          <p:cNvPr id="3" name="Text box"/>
          <p:cNvSpPr>
            <a:spLocks noGrp="1"/>
          </p:cNvSpPr>
          <p:nvPr>
            <p:ph type="body" idx="1"/>
          </p:nvPr>
        </p:nvSpPr>
        <p:spPr>
          <a:xfrm>
            <a:off x="609600" y="1095375"/>
            <a:ext cx="10972800" cy="5030787"/>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box"/>
          <p:cNvSpPr>
            <a:spLocks noGrp="1"/>
          </p:cNvSpPr>
          <p:nvPr>
            <p:ph type="dt" idx="2"/>
          </p:nvPr>
        </p:nvSpPr>
        <p:spPr>
          <a:xfrm>
            <a:off x="609600" y="6356352"/>
            <a:ext cx="28448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fld id="{CAD2D6BD-DE1B-4B5F-8B41-2702339687B9}" type="datetime1">
              <a:rPr lang="en-US" altLang="zh-CN" sz="1200">
                <a:solidFill>
                  <a:srgbClr val="898989"/>
                </a:solidFill>
                <a:latin typeface="TradeGothic" charset="0"/>
                <a:ea typeface="ＭＳ Ｐゴシック" pitchFamily="1" charset="-128"/>
                <a:cs typeface="Calibri" pitchFamily="34" charset="0"/>
              </a:rPr>
              <a:t>9/29/2026</a:t>
            </a:fld>
            <a:endParaRPr lang="zh-CN" altLang="en-US" sz="1200">
              <a:solidFill>
                <a:srgbClr val="898989"/>
              </a:solidFill>
              <a:latin typeface="TradeGothic" charset="0"/>
              <a:ea typeface="ＭＳ Ｐゴシック" pitchFamily="1" charset="-128"/>
              <a:cs typeface="Calibri" pitchFamily="34" charset="0"/>
            </a:endParaRPr>
          </a:p>
        </p:txBody>
      </p:sp>
      <p:sp>
        <p:nvSpPr>
          <p:cNvPr id="5" name="Text box"/>
          <p:cNvSpPr>
            <a:spLocks noGrp="1"/>
          </p:cNvSpPr>
          <p:nvPr>
            <p:ph type="ftr" idx="3"/>
          </p:nvPr>
        </p:nvSpPr>
        <p:spPr>
          <a:xfrm>
            <a:off x="4165600" y="6356352"/>
            <a:ext cx="3860799"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fontAlgn="auto">
              <a:spcBef>
                <a:spcPts val="0"/>
              </a:spcBef>
              <a:spcAft>
                <a:spcPts val="0"/>
              </a:spcAft>
            </a:pPr>
            <a:r>
              <a:rPr lang="en-US" altLang="zh-CN" sz="1200">
                <a:solidFill>
                  <a:srgbClr val="898989"/>
                </a:solidFill>
                <a:latin typeface="TradeGothic" charset="0"/>
                <a:ea typeface="宋体" charset="0"/>
                <a:cs typeface="Calibri" pitchFamily="34" charset="0"/>
              </a:rPr>
              <a:t>@SIH Idea submission- Template</a:t>
            </a:r>
            <a:endParaRPr lang="zh-CN" altLang="en-US" sz="1200">
              <a:solidFill>
                <a:srgbClr val="898989"/>
              </a:solidFill>
              <a:latin typeface="TradeGothic" charset="0"/>
              <a:ea typeface="宋体" charset="0"/>
              <a:cs typeface="Calibri" pitchFamily="34" charset="0"/>
            </a:endParaRPr>
          </a:p>
        </p:txBody>
      </p:sp>
      <p:sp>
        <p:nvSpPr>
          <p:cNvPr id="6" name="Text box"/>
          <p:cNvSpPr>
            <a:spLocks noGrp="1"/>
          </p:cNvSpPr>
          <p:nvPr>
            <p:ph type="sldNum" idx="4"/>
          </p:nvPr>
        </p:nvSpPr>
        <p:spPr>
          <a:xfrm>
            <a:off x="8737600" y="6356352"/>
            <a:ext cx="2844799"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rgbClr val="898989"/>
                </a:solidFill>
                <a:latin typeface="TradeGothic" charset="0"/>
                <a:ea typeface="ＭＳ Ｐゴシック" pitchFamily="1" charset="-128"/>
                <a:cs typeface="Calibri" pitchFamily="34" charset="0"/>
              </a:rPr>
              <a:t>‹#›</a:t>
            </a:fld>
            <a:endParaRPr lang="zh-CN" altLang="en-US" sz="1200">
              <a:solidFill>
                <a:srgbClr val="898989"/>
              </a:solidFill>
              <a:latin typeface="TradeGothic" charset="0"/>
              <a:ea typeface="ＭＳ Ｐゴシック" pitchFamily="1" charset="-128"/>
              <a:cs typeface="Calibri" pitchFamily="34" charset="0"/>
            </a:endParaRPr>
          </a:p>
        </p:txBody>
      </p:sp>
    </p:spTree>
    <p:extLst>
      <p:ext uri="{BB962C8B-B14F-4D97-AF65-F5344CB8AC3E}">
        <p14:creationId xmlns:p14="http://schemas.microsoft.com/office/powerpoint/2010/main" val="20781066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0" fontAlgn="base" hangingPunct="0">
        <a:spcBef>
          <a:spcPts val="0"/>
        </a:spcBef>
        <a:spcAft>
          <a:spcPts val="0"/>
        </a:spcAft>
        <a:buNone/>
        <a:defRPr sz="4400" kern="1200">
          <a:solidFill>
            <a:schemeClr val="tx1"/>
          </a:solidFill>
          <a:latin typeface="TradeGothic" charset="0"/>
          <a:ea typeface="ＭＳ Ｐゴシック" pitchFamily="1" charset="-128"/>
          <a:cs typeface="ＭＳ Ｐゴシック" pitchFamily="1" charset="-128"/>
        </a:defRPr>
      </a:lvl1pPr>
    </p:titleStyle>
    <p:bodyStyle>
      <a:lvl1pPr marL="342900" indent="-342900" algn="l" defTabSz="914400" eaLnBrk="0" fontAlgn="base" hangingPunct="0">
        <a:spcBef>
          <a:spcPct val="20000"/>
        </a:spcBef>
        <a:spcAft>
          <a:spcPts val="0"/>
        </a:spcAft>
        <a:buFont typeface="Arial" pitchFamily="34" charset="0"/>
        <a:buChar char="•"/>
        <a:defRPr sz="3200" kern="1200">
          <a:solidFill>
            <a:schemeClr val="tx1"/>
          </a:solidFill>
          <a:latin typeface="TradeGothic" charset="0"/>
          <a:ea typeface="ＭＳ Ｐゴシック" pitchFamily="1" charset="-128"/>
          <a:cs typeface="ＭＳ Ｐゴシック" pitchFamily="1" charset="-128"/>
        </a:defRPr>
      </a:lvl1pPr>
      <a:lvl2pPr marL="742950" indent="-285750" algn="l" defTabSz="914400" eaLnBrk="0" fontAlgn="base" hangingPunct="0">
        <a:spcBef>
          <a:spcPct val="20000"/>
        </a:spcBef>
        <a:spcAft>
          <a:spcPts val="0"/>
        </a:spcAft>
        <a:buFont typeface="Arial" pitchFamily="34" charset="0"/>
        <a:buChar char="–"/>
        <a:defRPr sz="2800" kern="1200">
          <a:solidFill>
            <a:schemeClr val="tx1"/>
          </a:solidFill>
          <a:latin typeface="TradeGothic" charset="0"/>
          <a:ea typeface="ＭＳ Ｐゴシック" pitchFamily="1" charset="-128"/>
          <a:cs typeface="Calibri" pitchFamily="34" charset="0"/>
        </a:defRPr>
      </a:lvl2pPr>
      <a:lvl3pPr marL="1143000" indent="-228600" algn="l" defTabSz="914400" eaLnBrk="0" fontAlgn="base" hangingPunct="0">
        <a:spcBef>
          <a:spcPct val="20000"/>
        </a:spcBef>
        <a:spcAft>
          <a:spcPts val="0"/>
        </a:spcAft>
        <a:buFont typeface="Arial" pitchFamily="34" charset="0"/>
        <a:buChar char="•"/>
        <a:defRPr sz="2400" kern="1200">
          <a:solidFill>
            <a:schemeClr val="tx1"/>
          </a:solidFill>
          <a:latin typeface="TradeGothic" charset="0"/>
          <a:ea typeface="ＭＳ Ｐゴシック" pitchFamily="1" charset="-128"/>
          <a:cs typeface="Calibri" pitchFamily="34" charset="0"/>
        </a:defRPr>
      </a:lvl3pPr>
      <a:lvl4pPr marL="1600200" indent="-228600" algn="l" defTabSz="914400" eaLnBrk="0" fontAlgn="base" hangingPunct="0">
        <a:spcBef>
          <a:spcPct val="20000"/>
        </a:spcBef>
        <a:spcAft>
          <a:spcPts val="0"/>
        </a:spcAft>
        <a:buFont typeface="Arial" pitchFamily="34" charset="0"/>
        <a:buChar char="–"/>
        <a:defRPr sz="2000" kern="1200">
          <a:solidFill>
            <a:schemeClr val="tx1"/>
          </a:solidFill>
          <a:latin typeface="TradeGothic" charset="0"/>
          <a:ea typeface="ＭＳ Ｐゴシック" pitchFamily="1" charset="-128"/>
          <a:cs typeface="Calibri" pitchFamily="34" charset="0"/>
        </a:defRPr>
      </a:lvl4pPr>
      <a:lvl5pPr marL="2057400" indent="-228600" algn="l" defTabSz="914400" eaLnBrk="0" fontAlgn="base" hangingPunct="0">
        <a:spcBef>
          <a:spcPct val="20000"/>
        </a:spcBef>
        <a:spcAft>
          <a:spcPts val="0"/>
        </a:spcAft>
        <a:buFont typeface="Arial" pitchFamily="34" charset="0"/>
        <a:buChar char="»"/>
        <a:defRPr sz="2000" kern="1200">
          <a:solidFill>
            <a:schemeClr val="tx1"/>
          </a:solidFill>
          <a:latin typeface="TradeGothic" charset="0"/>
          <a:ea typeface="ＭＳ Ｐゴシック" pitchFamily="1" charset="-128"/>
          <a:cs typeface="Calibri" pitchFamily="34"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charset="0"/>
          <a:cs typeface="Calibri" pitchFamily="34"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charset="0"/>
          <a:cs typeface="Calibri" pitchFamily="34"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charset="0"/>
          <a:cs typeface="Calibri" pitchFamily="34"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charset="0"/>
          <a:cs typeface="Calibri"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hyperlink" Target="https://github.com/surajjha0622/Suchak"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10.pn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hyperlink" Target="https://github.com/surajjha0622/CrashLink" TargetMode="External"/><Relationship Id="rId4" Type="http://schemas.openxmlformats.org/officeDocument/2006/relationships/hyperlink" Target="https://resources.lora-alliance.org/document/lorawan-specification-v1-0-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p:cNvSpPr>
            <a:spLocks noChangeAspect="1"/>
          </p:cNvSpPr>
          <p:nvPr/>
        </p:nvSpPr>
        <p:spPr>
          <a:xfrm>
            <a:off x="1524000" y="0"/>
            <a:ext cx="9144000" cy="6858000"/>
          </a:xfrm>
          <a:prstGeom prst="rect">
            <a:avLst/>
          </a:prstGeom>
          <a:ln w="25400" cap="flat" cmpd="sng">
            <a:noFill/>
            <a:prstDash val="solid"/>
            <a:round/>
          </a:ln>
        </p:spPr>
        <p:txBody>
          <a:bodyPr/>
          <a:lstStyle/>
          <a:p>
            <a:endParaRPr/>
          </a:p>
        </p:txBody>
      </p:sp>
      <p:sp>
        <p:nvSpPr>
          <p:cNvPr id="19" name="曲线"/>
          <p:cNvSpPr>
            <a:spLocks noChangeAspect="1"/>
          </p:cNvSpPr>
          <p:nvPr/>
        </p:nvSpPr>
        <p:spPr>
          <a:xfrm>
            <a:off x="5656779" y="851521"/>
            <a:ext cx="4638605" cy="5154966"/>
          </a:xfrm>
          <a:custGeom>
            <a:avLst/>
            <a:gdLst>
              <a:gd name="T1" fmla="*/ 0 w 21600"/>
              <a:gd name="T2" fmla="*/ 0 h 21600"/>
              <a:gd name="T3" fmla="*/ 21600 w 21600"/>
              <a:gd name="T4" fmla="*/ 21600 h 21600"/>
            </a:gdLst>
            <a:ahLst/>
            <a:cxnLst/>
            <a:rect l="T1" t="T2" r="T3" b="T4"/>
            <a:pathLst>
              <a:path w="21600" h="21600">
                <a:moveTo>
                  <a:pt x="1268" y="13094"/>
                </a:moveTo>
                <a:cubicBezTo>
                  <a:pt x="1268" y="13094"/>
                  <a:pt x="1268" y="13094"/>
                  <a:pt x="3137" y="13094"/>
                </a:cubicBezTo>
                <a:cubicBezTo>
                  <a:pt x="3254" y="13094"/>
                  <a:pt x="3367" y="13172"/>
                  <a:pt x="3423" y="13297"/>
                </a:cubicBezTo>
                <a:cubicBezTo>
                  <a:pt x="3423" y="13297"/>
                  <a:pt x="3423" y="13297"/>
                  <a:pt x="4360" y="15232"/>
                </a:cubicBezTo>
                <a:cubicBezTo>
                  <a:pt x="4420" y="15352"/>
                  <a:pt x="4420" y="15507"/>
                  <a:pt x="4360" y="15627"/>
                </a:cubicBezTo>
                <a:cubicBezTo>
                  <a:pt x="4360" y="15627"/>
                  <a:pt x="4360" y="15627"/>
                  <a:pt x="3423" y="17562"/>
                </a:cubicBezTo>
                <a:cubicBezTo>
                  <a:pt x="3367" y="17688"/>
                  <a:pt x="3254" y="17765"/>
                  <a:pt x="3137" y="17765"/>
                </a:cubicBezTo>
                <a:cubicBezTo>
                  <a:pt x="3137" y="17765"/>
                  <a:pt x="3137" y="17765"/>
                  <a:pt x="1268" y="17765"/>
                </a:cubicBezTo>
                <a:cubicBezTo>
                  <a:pt x="1147" y="17765"/>
                  <a:pt x="1038" y="17688"/>
                  <a:pt x="977" y="17562"/>
                </a:cubicBezTo>
                <a:cubicBezTo>
                  <a:pt x="977" y="17562"/>
                  <a:pt x="977" y="17562"/>
                  <a:pt x="45" y="15627"/>
                </a:cubicBezTo>
                <a:cubicBezTo>
                  <a:pt x="-15" y="15507"/>
                  <a:pt x="-15" y="15352"/>
                  <a:pt x="45" y="15232"/>
                </a:cubicBezTo>
                <a:cubicBezTo>
                  <a:pt x="45" y="15232"/>
                  <a:pt x="45" y="15232"/>
                  <a:pt x="977" y="13297"/>
                </a:cubicBezTo>
                <a:cubicBezTo>
                  <a:pt x="1038" y="13172"/>
                  <a:pt x="1147" y="13094"/>
                  <a:pt x="1268" y="13094"/>
                </a:cubicBezTo>
              </a:path>
              <a:path w="21600" h="21600">
                <a:moveTo>
                  <a:pt x="8695" y="2388"/>
                </a:moveTo>
                <a:cubicBezTo>
                  <a:pt x="8695" y="2388"/>
                  <a:pt x="8695" y="2388"/>
                  <a:pt x="9656" y="2388"/>
                </a:cubicBezTo>
                <a:lnTo>
                  <a:pt x="9768" y="2388"/>
                </a:lnTo>
                <a:lnTo>
                  <a:pt x="9875" y="2609"/>
                </a:lnTo>
                <a:cubicBezTo>
                  <a:pt x="10024" y="2917"/>
                  <a:pt x="10197" y="3275"/>
                  <a:pt x="10399" y="3691"/>
                </a:cubicBezTo>
                <a:cubicBezTo>
                  <a:pt x="10491" y="3876"/>
                  <a:pt x="10491" y="4113"/>
                  <a:pt x="10399" y="4297"/>
                </a:cubicBezTo>
                <a:cubicBezTo>
                  <a:pt x="10399" y="4297"/>
                  <a:pt x="10399" y="4297"/>
                  <a:pt x="8964" y="7260"/>
                </a:cubicBezTo>
                <a:cubicBezTo>
                  <a:pt x="8878" y="7453"/>
                  <a:pt x="8705" y="7571"/>
                  <a:pt x="8526" y="7571"/>
                </a:cubicBezTo>
                <a:cubicBezTo>
                  <a:pt x="8526" y="7571"/>
                  <a:pt x="8526" y="7571"/>
                  <a:pt x="5664" y="7571"/>
                </a:cubicBezTo>
                <a:cubicBezTo>
                  <a:pt x="5617" y="7571"/>
                  <a:pt x="5572" y="7563"/>
                  <a:pt x="5529" y="7549"/>
                </a:cubicBezTo>
                <a:lnTo>
                  <a:pt x="5436" y="7503"/>
                </a:lnTo>
                <a:lnTo>
                  <a:pt x="5493" y="7385"/>
                </a:lnTo>
                <a:cubicBezTo>
                  <a:pt x="6005" y="6323"/>
                  <a:pt x="6660" y="4962"/>
                  <a:pt x="7499" y="3222"/>
                </a:cubicBezTo>
                <a:cubicBezTo>
                  <a:pt x="7748" y="2706"/>
                  <a:pt x="8197" y="2388"/>
                  <a:pt x="8695" y="2388"/>
                </a:cubicBezTo>
              </a:path>
              <a:path w="21600" h="21600">
                <a:moveTo>
                  <a:pt x="5494" y="0"/>
                </a:moveTo>
                <a:cubicBezTo>
                  <a:pt x="5494" y="0"/>
                  <a:pt x="5494" y="0"/>
                  <a:pt x="8722" y="0"/>
                </a:cubicBezTo>
                <a:cubicBezTo>
                  <a:pt x="8925" y="0"/>
                  <a:pt x="9120" y="133"/>
                  <a:pt x="9217" y="350"/>
                </a:cubicBezTo>
                <a:cubicBezTo>
                  <a:pt x="9217" y="350"/>
                  <a:pt x="9217" y="350"/>
                  <a:pt x="10085" y="2142"/>
                </a:cubicBezTo>
                <a:lnTo>
                  <a:pt x="10183" y="2345"/>
                </a:lnTo>
                <a:lnTo>
                  <a:pt x="10106" y="2345"/>
                </a:lnTo>
                <a:lnTo>
                  <a:pt x="9742" y="2345"/>
                </a:lnTo>
                <a:lnTo>
                  <a:pt x="9583" y="2018"/>
                </a:lnTo>
                <a:cubicBezTo>
                  <a:pt x="8978" y="768"/>
                  <a:pt x="8978" y="768"/>
                  <a:pt x="8978" y="768"/>
                </a:cubicBezTo>
                <a:cubicBezTo>
                  <a:pt x="8892" y="575"/>
                  <a:pt x="8719" y="457"/>
                  <a:pt x="8539" y="457"/>
                </a:cubicBezTo>
                <a:cubicBezTo>
                  <a:pt x="5677" y="457"/>
                  <a:pt x="5677" y="457"/>
                  <a:pt x="5677" y="457"/>
                </a:cubicBezTo>
                <a:cubicBezTo>
                  <a:pt x="5492" y="457"/>
                  <a:pt x="5325" y="575"/>
                  <a:pt x="5232" y="768"/>
                </a:cubicBezTo>
                <a:cubicBezTo>
                  <a:pt x="3804" y="3731"/>
                  <a:pt x="3804" y="3731"/>
                  <a:pt x="3804" y="3731"/>
                </a:cubicBezTo>
                <a:cubicBezTo>
                  <a:pt x="3711" y="3915"/>
                  <a:pt x="3711" y="4152"/>
                  <a:pt x="3804" y="4337"/>
                </a:cubicBezTo>
                <a:cubicBezTo>
                  <a:pt x="5232" y="7300"/>
                  <a:pt x="5232" y="7300"/>
                  <a:pt x="5232" y="7300"/>
                </a:cubicBezTo>
                <a:cubicBezTo>
                  <a:pt x="5278" y="7396"/>
                  <a:pt x="5343" y="7473"/>
                  <a:pt x="5420" y="7527"/>
                </a:cubicBezTo>
                <a:lnTo>
                  <a:pt x="5442" y="7538"/>
                </a:lnTo>
                <a:lnTo>
                  <a:pt x="5325" y="7779"/>
                </a:lnTo>
                <a:lnTo>
                  <a:pt x="5239" y="7959"/>
                </a:lnTo>
                <a:lnTo>
                  <a:pt x="5328" y="8004"/>
                </a:lnTo>
                <a:cubicBezTo>
                  <a:pt x="5377" y="8020"/>
                  <a:pt x="5428" y="8029"/>
                  <a:pt x="5480" y="8029"/>
                </a:cubicBezTo>
                <a:cubicBezTo>
                  <a:pt x="8709" y="8029"/>
                  <a:pt x="8709" y="8029"/>
                  <a:pt x="8709" y="8029"/>
                </a:cubicBezTo>
                <a:cubicBezTo>
                  <a:pt x="8911" y="8029"/>
                  <a:pt x="9106" y="7895"/>
                  <a:pt x="9204" y="7678"/>
                </a:cubicBezTo>
                <a:cubicBezTo>
                  <a:pt x="10821" y="4336"/>
                  <a:pt x="10821" y="4336"/>
                  <a:pt x="10821" y="4336"/>
                </a:cubicBezTo>
                <a:cubicBezTo>
                  <a:pt x="10926" y="4128"/>
                  <a:pt x="10926" y="3861"/>
                  <a:pt x="10821" y="3653"/>
                </a:cubicBezTo>
                <a:cubicBezTo>
                  <a:pt x="10619" y="3235"/>
                  <a:pt x="10442" y="2869"/>
                  <a:pt x="10288" y="2550"/>
                </a:cubicBezTo>
                <a:lnTo>
                  <a:pt x="10209" y="2388"/>
                </a:lnTo>
                <a:lnTo>
                  <a:pt x="10571" y="2388"/>
                </a:lnTo>
                <a:cubicBezTo>
                  <a:pt x="11698" y="2388"/>
                  <a:pt x="13499" y="2388"/>
                  <a:pt x="16382" y="2388"/>
                </a:cubicBezTo>
                <a:cubicBezTo>
                  <a:pt x="16863" y="2388"/>
                  <a:pt x="17328" y="2706"/>
                  <a:pt x="17561" y="3222"/>
                </a:cubicBezTo>
                <a:cubicBezTo>
                  <a:pt x="17561" y="3222"/>
                  <a:pt x="17561" y="3222"/>
                  <a:pt x="21413" y="11180"/>
                </a:cubicBezTo>
                <a:cubicBezTo>
                  <a:pt x="21662" y="11676"/>
                  <a:pt x="21662" y="12311"/>
                  <a:pt x="21413" y="12807"/>
                </a:cubicBezTo>
                <a:cubicBezTo>
                  <a:pt x="21413" y="12807"/>
                  <a:pt x="21413" y="12807"/>
                  <a:pt x="17561" y="20766"/>
                </a:cubicBezTo>
                <a:cubicBezTo>
                  <a:pt x="17328" y="21282"/>
                  <a:pt x="16863" y="21600"/>
                  <a:pt x="16382" y="21600"/>
                </a:cubicBezTo>
                <a:cubicBezTo>
                  <a:pt x="16382" y="21600"/>
                  <a:pt x="16382" y="21600"/>
                  <a:pt x="8695" y="21600"/>
                </a:cubicBezTo>
                <a:cubicBezTo>
                  <a:pt x="8197" y="21600"/>
                  <a:pt x="7748" y="21282"/>
                  <a:pt x="7499" y="20766"/>
                </a:cubicBezTo>
                <a:cubicBezTo>
                  <a:pt x="7499" y="20766"/>
                  <a:pt x="7499" y="20766"/>
                  <a:pt x="3664" y="12807"/>
                </a:cubicBezTo>
                <a:cubicBezTo>
                  <a:pt x="3415" y="12311"/>
                  <a:pt x="3415" y="11676"/>
                  <a:pt x="3664" y="11180"/>
                </a:cubicBezTo>
                <a:cubicBezTo>
                  <a:pt x="3664" y="11180"/>
                  <a:pt x="3664" y="11180"/>
                  <a:pt x="5088" y="8225"/>
                </a:cubicBezTo>
                <a:lnTo>
                  <a:pt x="5208" y="7976"/>
                </a:lnTo>
                <a:lnTo>
                  <a:pt x="5204" y="7974"/>
                </a:lnTo>
                <a:cubicBezTo>
                  <a:pt x="5118" y="7913"/>
                  <a:pt x="5044" y="7826"/>
                  <a:pt x="4992" y="7718"/>
                </a:cubicBezTo>
                <a:cubicBezTo>
                  <a:pt x="4992" y="7718"/>
                  <a:pt x="4992" y="7718"/>
                  <a:pt x="3381" y="4375"/>
                </a:cubicBezTo>
                <a:cubicBezTo>
                  <a:pt x="3277" y="4167"/>
                  <a:pt x="3277" y="3900"/>
                  <a:pt x="3381" y="3692"/>
                </a:cubicBezTo>
                <a:cubicBezTo>
                  <a:pt x="3381" y="3692"/>
                  <a:pt x="3381" y="3692"/>
                  <a:pt x="4992" y="350"/>
                </a:cubicBezTo>
                <a:cubicBezTo>
                  <a:pt x="5097" y="133"/>
                  <a:pt x="5285" y="0"/>
                  <a:pt x="5494" y="0"/>
                </a:cubicBezTo>
                <a:close/>
              </a:path>
            </a:pathLst>
          </a:custGeom>
          <a:solidFill>
            <a:srgbClr val="808080">
              <a:alpha val="15000"/>
            </a:srgbClr>
          </a:solidFill>
          <a:ln w="25400" cap="flat" cmpd="sng">
            <a:noFill/>
            <a:prstDash val="solid"/>
            <a:round/>
          </a:ln>
        </p:spPr>
        <p:txBody>
          <a:bodyPr/>
          <a:lstStyle/>
          <a:p>
            <a:endParaRPr/>
          </a:p>
        </p:txBody>
      </p:sp>
      <p:pic>
        <p:nvPicPr>
          <p:cNvPr id="20" name="Image"/>
          <p:cNvPicPr>
            <a:picLocks noChangeAspect="1"/>
          </p:cNvPicPr>
          <p:nvPr/>
        </p:nvPicPr>
        <p:blipFill>
          <a:blip r:embed="rId3" cstate="print"/>
          <a:srcRect r="59916"/>
          <a:stretch>
            <a:fillRect/>
          </a:stretch>
        </p:blipFill>
        <p:spPr>
          <a:xfrm>
            <a:off x="6854891" y="1715881"/>
            <a:ext cx="3203509" cy="3426237"/>
          </a:xfrm>
          <a:prstGeom prst="rect">
            <a:avLst/>
          </a:prstGeom>
          <a:noFill/>
          <a:ln w="12700" cap="flat" cmpd="sng">
            <a:noFill/>
            <a:prstDash val="solid"/>
            <a:miter/>
          </a:ln>
        </p:spPr>
      </p:pic>
      <p:sp>
        <p:nvSpPr>
          <p:cNvPr id="21" name="Text box"/>
          <p:cNvSpPr>
            <a:spLocks noGrp="1"/>
          </p:cNvSpPr>
          <p:nvPr>
            <p:ph type="subTitle" idx="1"/>
          </p:nvPr>
        </p:nvSpPr>
        <p:spPr>
          <a:xfrm>
            <a:off x="1245686" y="648614"/>
            <a:ext cx="8534399" cy="17526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pPr algn="ctr"/>
            <a:r>
              <a:rPr lang="en-IN" sz="2400" b="1" dirty="0">
                <a:solidFill>
                  <a:srgbClr val="224F87"/>
                </a:solidFill>
                <a:latin typeface="Georgia"/>
              </a:rPr>
              <a:t>SUCHAK</a:t>
            </a:r>
            <a:r>
              <a:rPr sz="2400" b="1" dirty="0">
                <a:solidFill>
                  <a:srgbClr val="224F87"/>
                </a:solidFill>
                <a:latin typeface="Georgia"/>
              </a:rPr>
              <a:t> — FLOOD EARLY-WARNING SYSTEM</a:t>
            </a:r>
          </a:p>
        </p:txBody>
      </p:sp>
      <p:sp>
        <p:nvSpPr>
          <p:cNvPr id="22" name="Text box"/>
          <p:cNvSpPr>
            <a:spLocks noGrp="1"/>
          </p:cNvSpPr>
          <p:nvPr>
            <p:ph type="ctrTitle"/>
          </p:nvPr>
        </p:nvSpPr>
        <p:spPr>
          <a:xfrm>
            <a:off x="331286" y="-526757"/>
            <a:ext cx="10363199" cy="207645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4000" b="1" i="0" u="none" strike="noStrike" kern="1200" cap="none" spc="0" baseline="0">
                <a:solidFill>
                  <a:schemeClr val="tx2"/>
                </a:solidFill>
                <a:latin typeface="Garamond" pitchFamily="18" charset="0"/>
                <a:ea typeface="ＭＳ Ｐゴシック" pitchFamily="1" charset="-128"/>
                <a:cs typeface="Lucida Sans"/>
              </a:rPr>
              <a:t>SMART INDIA HACKATHON 2026</a:t>
            </a:r>
            <a:endParaRPr lang="zh-CN" altLang="en-US" sz="4000" b="1" i="0" u="none" strike="noStrike" kern="1200" cap="none" spc="0" baseline="0">
              <a:solidFill>
                <a:schemeClr val="tx2"/>
              </a:solidFill>
              <a:latin typeface="Garamond" pitchFamily="18" charset="0"/>
              <a:ea typeface="ＭＳ Ｐゴシック" pitchFamily="1" charset="-128"/>
              <a:cs typeface="Lucida Sans"/>
            </a:endParaRPr>
          </a:p>
        </p:txBody>
      </p:sp>
      <p:sp>
        <p:nvSpPr>
          <p:cNvPr id="23" name="Rectangle"/>
          <p:cNvSpPr>
            <a:spLocks/>
          </p:cNvSpPr>
          <p:nvPr/>
        </p:nvSpPr>
        <p:spPr>
          <a:xfrm>
            <a:off x="209759" y="1464358"/>
            <a:ext cx="6645132" cy="392928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a:spcAft>
                <a:spcPts val="800"/>
              </a:spcAft>
            </a:pPr>
            <a:r>
              <a:rPr sz="2400" b="1" dirty="0">
                <a:solidFill>
                  <a:srgbClr val="224F87"/>
                </a:solidFill>
                <a:latin typeface="Aptos"/>
              </a:rPr>
              <a:t>PROBLEM STATEMENT ID </a:t>
            </a:r>
            <a:r>
              <a:rPr lang="en-IN" sz="2400" b="1" dirty="0">
                <a:solidFill>
                  <a:srgbClr val="224F87"/>
                </a:solidFill>
                <a:latin typeface="Aptos"/>
              </a:rPr>
              <a:t>:</a:t>
            </a:r>
            <a:r>
              <a:rPr sz="2400" b="1" dirty="0">
                <a:solidFill>
                  <a:srgbClr val="224F87"/>
                </a:solidFill>
                <a:latin typeface="Aptos"/>
              </a:rPr>
              <a:t> </a:t>
            </a:r>
            <a:r>
              <a:rPr sz="2400" b="1" dirty="0">
                <a:solidFill>
                  <a:srgbClr val="232D37"/>
                </a:solidFill>
                <a:latin typeface="Aptos"/>
              </a:rPr>
              <a:t>SIH26223</a:t>
            </a:r>
          </a:p>
          <a:p>
            <a:pPr>
              <a:spcAft>
                <a:spcPts val="800"/>
              </a:spcAft>
            </a:pPr>
            <a:r>
              <a:rPr sz="2400" b="1" dirty="0">
                <a:solidFill>
                  <a:srgbClr val="224F87"/>
                </a:solidFill>
                <a:latin typeface="Aptos"/>
              </a:rPr>
              <a:t>PROBLEM STATEMENT TITLE </a:t>
            </a:r>
            <a:r>
              <a:rPr lang="en-IN" sz="2400" b="1" dirty="0">
                <a:solidFill>
                  <a:srgbClr val="224F87"/>
                </a:solidFill>
                <a:latin typeface="Aptos"/>
              </a:rPr>
              <a:t>:</a:t>
            </a:r>
            <a:r>
              <a:rPr sz="2400" b="1" dirty="0">
                <a:solidFill>
                  <a:srgbClr val="224F87"/>
                </a:solidFill>
                <a:latin typeface="Aptos"/>
              </a:rPr>
              <a:t> </a:t>
            </a:r>
            <a:r>
              <a:rPr sz="2400" b="1" dirty="0">
                <a:solidFill>
                  <a:srgbClr val="232D37"/>
                </a:solidFill>
                <a:latin typeface="Aptos"/>
              </a:rPr>
              <a:t>Student Innovation — </a:t>
            </a:r>
            <a:r>
              <a:rPr sz="2000" b="1" dirty="0">
                <a:solidFill>
                  <a:srgbClr val="232D37"/>
                </a:solidFill>
                <a:latin typeface="Aptos"/>
              </a:rPr>
              <a:t>Disaster management includes ideas related to risk mitigation, Planning and management before, after or during a disaster.</a:t>
            </a:r>
          </a:p>
          <a:p>
            <a:pPr>
              <a:spcAft>
                <a:spcPts val="800"/>
              </a:spcAft>
            </a:pPr>
            <a:r>
              <a:rPr sz="2400" b="1" dirty="0">
                <a:solidFill>
                  <a:srgbClr val="224F87"/>
                </a:solidFill>
                <a:latin typeface="Aptos"/>
              </a:rPr>
              <a:t>THEME</a:t>
            </a:r>
            <a:r>
              <a:rPr lang="en-IN" sz="2400" b="1" dirty="0">
                <a:solidFill>
                  <a:srgbClr val="224F87"/>
                </a:solidFill>
                <a:latin typeface="Aptos"/>
              </a:rPr>
              <a:t> :</a:t>
            </a:r>
            <a:r>
              <a:rPr sz="2400" b="1" dirty="0">
                <a:solidFill>
                  <a:srgbClr val="224F87"/>
                </a:solidFill>
                <a:latin typeface="Aptos"/>
              </a:rPr>
              <a:t>  </a:t>
            </a:r>
            <a:r>
              <a:rPr sz="2400" b="1" dirty="0">
                <a:solidFill>
                  <a:srgbClr val="232D37"/>
                </a:solidFill>
                <a:latin typeface="Aptos"/>
              </a:rPr>
              <a:t>Disaster Management</a:t>
            </a:r>
          </a:p>
          <a:p>
            <a:pPr>
              <a:spcAft>
                <a:spcPts val="800"/>
              </a:spcAft>
            </a:pPr>
            <a:r>
              <a:rPr sz="2400" b="1" dirty="0">
                <a:solidFill>
                  <a:srgbClr val="224F87"/>
                </a:solidFill>
                <a:latin typeface="Aptos"/>
              </a:rPr>
              <a:t>PS CATEGORY </a:t>
            </a:r>
            <a:r>
              <a:rPr lang="en-IN" sz="2400" b="1" dirty="0">
                <a:solidFill>
                  <a:srgbClr val="224F87"/>
                </a:solidFill>
                <a:latin typeface="Aptos"/>
              </a:rPr>
              <a:t>:</a:t>
            </a:r>
            <a:r>
              <a:rPr sz="2400" b="1" dirty="0">
                <a:solidFill>
                  <a:srgbClr val="224F87"/>
                </a:solidFill>
                <a:latin typeface="Aptos"/>
              </a:rPr>
              <a:t> </a:t>
            </a:r>
            <a:r>
              <a:rPr sz="2400" b="1" dirty="0">
                <a:solidFill>
                  <a:srgbClr val="232D37"/>
                </a:solidFill>
                <a:latin typeface="Aptos"/>
              </a:rPr>
              <a:t>Hardware</a:t>
            </a:r>
          </a:p>
          <a:p>
            <a:pPr>
              <a:spcAft>
                <a:spcPts val="800"/>
              </a:spcAft>
            </a:pPr>
            <a:r>
              <a:rPr sz="2400" b="1" dirty="0">
                <a:solidFill>
                  <a:srgbClr val="224F87"/>
                </a:solidFill>
                <a:latin typeface="Aptos"/>
              </a:rPr>
              <a:t>TEAM ID </a:t>
            </a:r>
            <a:r>
              <a:rPr lang="en-IN" sz="2400" b="1" dirty="0">
                <a:solidFill>
                  <a:srgbClr val="224F87"/>
                </a:solidFill>
                <a:latin typeface="Aptos"/>
              </a:rPr>
              <a:t>:</a:t>
            </a:r>
            <a:r>
              <a:rPr sz="2400" b="1" dirty="0">
                <a:solidFill>
                  <a:srgbClr val="224F87"/>
                </a:solidFill>
                <a:latin typeface="Aptos"/>
              </a:rPr>
              <a:t> </a:t>
            </a:r>
            <a:r>
              <a:rPr sz="2400" dirty="0">
                <a:solidFill>
                  <a:srgbClr val="232D37"/>
                </a:solidFill>
                <a:latin typeface="Aptos"/>
              </a:rPr>
              <a:t>—</a:t>
            </a:r>
            <a:r>
              <a:rPr lang="en-IN" sz="2400" dirty="0">
                <a:solidFill>
                  <a:srgbClr val="232D37"/>
                </a:solidFill>
                <a:latin typeface="Aptos"/>
              </a:rPr>
              <a:t> </a:t>
            </a:r>
            <a:r>
              <a:rPr lang="en-IN" sz="2400" b="1" dirty="0">
                <a:solidFill>
                  <a:schemeClr val="tx2">
                    <a:lumMod val="50000"/>
                  </a:schemeClr>
                </a:solidFill>
                <a:latin typeface="Aptos"/>
              </a:rPr>
              <a:t>155626</a:t>
            </a:r>
            <a:endParaRPr sz="2400" b="1" dirty="0">
              <a:solidFill>
                <a:schemeClr val="tx2">
                  <a:lumMod val="50000"/>
                </a:schemeClr>
              </a:solidFill>
              <a:latin typeface="Aptos"/>
            </a:endParaRPr>
          </a:p>
          <a:p>
            <a:pPr>
              <a:spcAft>
                <a:spcPts val="800"/>
              </a:spcAft>
            </a:pPr>
            <a:r>
              <a:rPr sz="2400" b="1" dirty="0">
                <a:solidFill>
                  <a:srgbClr val="224F87"/>
                </a:solidFill>
                <a:latin typeface="Aptos"/>
              </a:rPr>
              <a:t>TEAM NAME </a:t>
            </a:r>
            <a:r>
              <a:rPr lang="en-IN" sz="2400" b="1" dirty="0">
                <a:solidFill>
                  <a:srgbClr val="224F87"/>
                </a:solidFill>
                <a:latin typeface="Aptos"/>
              </a:rPr>
              <a:t>:</a:t>
            </a:r>
            <a:r>
              <a:rPr sz="2400" b="1" dirty="0">
                <a:solidFill>
                  <a:srgbClr val="224F87"/>
                </a:solidFill>
                <a:latin typeface="Aptos"/>
              </a:rPr>
              <a:t> </a:t>
            </a:r>
            <a:r>
              <a:rPr sz="2400" b="1" dirty="0">
                <a:solidFill>
                  <a:srgbClr val="232D37"/>
                </a:solidFill>
                <a:latin typeface="Aptos"/>
              </a:rPr>
              <a:t>VE</a:t>
            </a:r>
            <a:r>
              <a:rPr lang="en-IN" sz="2400" b="1" dirty="0">
                <a:solidFill>
                  <a:srgbClr val="232D37"/>
                </a:solidFill>
                <a:latin typeface="Aptos"/>
              </a:rPr>
              <a:t> </a:t>
            </a:r>
            <a:r>
              <a:rPr sz="2400" b="1" dirty="0">
                <a:solidFill>
                  <a:srgbClr val="232D37"/>
                </a:solidFill>
                <a:latin typeface="Aptos"/>
              </a:rPr>
              <a:t>GA</a:t>
            </a:r>
          </a:p>
        </p:txBody>
      </p:sp>
      <p:pic>
        <p:nvPicPr>
          <p:cNvPr id="24" name="Image"/>
          <p:cNvPicPr>
            <a:picLocks noChangeAspect="1"/>
          </p:cNvPicPr>
          <p:nvPr/>
        </p:nvPicPr>
        <p:blipFill>
          <a:blip r:embed="rId4" cstate="print"/>
          <a:stretch>
            <a:fillRect/>
          </a:stretch>
        </p:blipFill>
        <p:spPr>
          <a:xfrm>
            <a:off x="9780086" y="1500"/>
            <a:ext cx="2249850" cy="1062337"/>
          </a:xfrm>
          <a:prstGeom prst="rect">
            <a:avLst/>
          </a:prstGeom>
          <a:noFill/>
          <a:ln w="12700" cap="flat" cmpd="sng">
            <a:noFill/>
            <a:prstDash val="solid"/>
            <a:miter/>
          </a:ln>
        </p:spPr>
      </p:pic>
    </p:spTree>
    <p:extLst>
      <p:ext uri="{BB962C8B-B14F-4D97-AF65-F5344CB8AC3E}">
        <p14:creationId xmlns:p14="http://schemas.microsoft.com/office/powerpoint/2010/main" val="14722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31" name="Text box"/>
          <p:cNvSpPr>
            <a:spLocks noGrp="1"/>
          </p:cNvSpPr>
          <p:nvPr>
            <p:ph type="title"/>
          </p:nvPr>
        </p:nvSpPr>
        <p:spPr>
          <a:xfrm>
            <a:off x="182998" y="0"/>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algn="ctr"/>
            <a:r>
              <a:rPr lang="en-IN" sz="2500" b="1" dirty="0">
                <a:solidFill>
                  <a:srgbClr val="224F87"/>
                </a:solidFill>
                <a:latin typeface="Georgia"/>
              </a:rPr>
              <a:t>SUCHAK</a:t>
            </a:r>
            <a:r>
              <a:rPr sz="2500" b="1" dirty="0">
                <a:solidFill>
                  <a:srgbClr val="224F87"/>
                </a:solidFill>
                <a:latin typeface="Georgia"/>
              </a:rPr>
              <a:t> — FLOOD EARLY-WARNING SYSTEM</a:t>
            </a:r>
          </a:p>
        </p:txBody>
      </p:sp>
      <p:sp>
        <p:nvSpPr>
          <p:cNvPr id="3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2</a:t>
            </a:r>
          </a:p>
        </p:txBody>
      </p:sp>
      <p:sp>
        <p:nvSpPr>
          <p:cNvPr id="3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35" name="Oval" descr="Your startup LOGO"/>
          <p:cNvSpPr>
            <a:spLocks/>
          </p:cNvSpPr>
          <p:nvPr/>
        </p:nvSpPr>
        <p:spPr>
          <a:xfrm>
            <a:off x="329773" y="25224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36" name="Image"/>
          <p:cNvPicPr>
            <a:picLocks noChangeAspect="1"/>
          </p:cNvPicPr>
          <p:nvPr/>
        </p:nvPicPr>
        <p:blipFill>
          <a:blip r:embed="rId3" cstate="print"/>
          <a:stretch>
            <a:fillRect/>
          </a:stretch>
        </p:blipFill>
        <p:spPr>
          <a:xfrm>
            <a:off x="9780086" y="1500"/>
            <a:ext cx="2249850" cy="1062337"/>
          </a:xfrm>
          <a:prstGeom prst="rect">
            <a:avLst/>
          </a:prstGeom>
          <a:noFill/>
          <a:ln w="12700" cap="flat" cmpd="sng">
            <a:noFill/>
            <a:prstDash val="solid"/>
            <a:miter/>
          </a:ln>
        </p:spPr>
      </p:pic>
      <p:sp>
        <p:nvSpPr>
          <p:cNvPr id="3" name="TextBox 2">
            <a:extLst>
              <a:ext uri="{FF2B5EF4-FFF2-40B4-BE49-F238E27FC236}">
                <a16:creationId xmlns:a16="http://schemas.microsoft.com/office/drawing/2014/main" id="{BFB951F6-9BEC-A929-A457-C695FA9546E1}"/>
              </a:ext>
            </a:extLst>
          </p:cNvPr>
          <p:cNvSpPr txBox="1"/>
          <p:nvPr/>
        </p:nvSpPr>
        <p:spPr>
          <a:xfrm>
            <a:off x="502920" y="1737360"/>
            <a:ext cx="5166360" cy="868680"/>
          </a:xfrm>
          <a:prstGeom prst="rect">
            <a:avLst/>
          </a:prstGeom>
          <a:noFill/>
        </p:spPr>
        <p:txBody>
          <a:bodyPr wrap="square" lIns="18288" tIns="0" rIns="45720" bIns="0" rtlCol="0"/>
          <a:lstStyle/>
          <a:p>
            <a:pPr algn="l">
              <a:spcAft>
                <a:spcPts val="300"/>
              </a:spcAft>
            </a:pPr>
            <a:r>
              <a:rPr sz="1300" b="0" u="none">
                <a:solidFill>
                  <a:srgbClr val="1E2A2E"/>
                </a:solidFill>
                <a:latin typeface="Calibri"/>
              </a:rPr>
              <a:t>•  Flood alerts can be delayed by centralized monitoring and multiple decision stages.</a:t>
            </a:r>
          </a:p>
          <a:p>
            <a:pPr algn="l">
              <a:spcAft>
                <a:spcPts val="300"/>
              </a:spcAft>
            </a:pPr>
            <a:r>
              <a:rPr sz="1300" b="0" u="none">
                <a:solidFill>
                  <a:srgbClr val="1E2A2E"/>
                </a:solidFill>
                <a:latin typeface="Calibri"/>
              </a:rPr>
              <a:t>•  Remote areas may also have limited local monitoring and unreliable connectivity.</a:t>
            </a:r>
          </a:p>
        </p:txBody>
      </p:sp>
      <p:sp>
        <p:nvSpPr>
          <p:cNvPr id="4" name="TextBox 3">
            <a:extLst>
              <a:ext uri="{FF2B5EF4-FFF2-40B4-BE49-F238E27FC236}">
                <a16:creationId xmlns:a16="http://schemas.microsoft.com/office/drawing/2014/main" id="{73C12080-62ED-9779-4E52-06CB8EA33972}"/>
              </a:ext>
            </a:extLst>
          </p:cNvPr>
          <p:cNvSpPr txBox="1"/>
          <p:nvPr/>
        </p:nvSpPr>
        <p:spPr>
          <a:xfrm>
            <a:off x="502920" y="1155880"/>
            <a:ext cx="2103120" cy="457200"/>
          </a:xfrm>
          <a:prstGeom prst="rect">
            <a:avLst/>
          </a:prstGeom>
          <a:noFill/>
        </p:spPr>
        <p:txBody>
          <a:bodyPr wrap="square" lIns="0" tIns="0" rIns="0" bIns="18288" rtlCol="0"/>
          <a:lstStyle/>
          <a:p>
            <a:pPr algn="l">
              <a:spcAft>
                <a:spcPts val="300"/>
              </a:spcAft>
            </a:pPr>
            <a:r>
              <a:rPr sz="2000" b="1" u="sng">
                <a:solidFill>
                  <a:srgbClr val="0B4A66"/>
                </a:solidFill>
                <a:latin typeface="Calibri"/>
              </a:rPr>
              <a:t>PROBLEM</a:t>
            </a:r>
          </a:p>
        </p:txBody>
      </p:sp>
      <p:sp>
        <p:nvSpPr>
          <p:cNvPr id="6" name="TextBox 5">
            <a:extLst>
              <a:ext uri="{FF2B5EF4-FFF2-40B4-BE49-F238E27FC236}">
                <a16:creationId xmlns:a16="http://schemas.microsoft.com/office/drawing/2014/main" id="{0BE46D13-CFF4-2A36-9E41-B585A2367388}"/>
              </a:ext>
            </a:extLst>
          </p:cNvPr>
          <p:cNvSpPr txBox="1"/>
          <p:nvPr/>
        </p:nvSpPr>
        <p:spPr>
          <a:xfrm>
            <a:off x="502920" y="2715768"/>
            <a:ext cx="2194560" cy="457200"/>
          </a:xfrm>
          <a:prstGeom prst="rect">
            <a:avLst/>
          </a:prstGeom>
          <a:noFill/>
        </p:spPr>
        <p:txBody>
          <a:bodyPr wrap="square" lIns="0" tIns="0" rIns="0" bIns="18288" rtlCol="0"/>
          <a:lstStyle/>
          <a:p>
            <a:pPr algn="l">
              <a:spcAft>
                <a:spcPts val="300"/>
              </a:spcAft>
            </a:pPr>
            <a:r>
              <a:rPr sz="2000" b="1" u="sng">
                <a:solidFill>
                  <a:srgbClr val="0B4A66"/>
                </a:solidFill>
                <a:latin typeface="Calibri"/>
              </a:rPr>
              <a:t>SOLUTION</a:t>
            </a:r>
          </a:p>
        </p:txBody>
      </p:sp>
      <p:sp>
        <p:nvSpPr>
          <p:cNvPr id="8" name="TextBox 7">
            <a:extLst>
              <a:ext uri="{FF2B5EF4-FFF2-40B4-BE49-F238E27FC236}">
                <a16:creationId xmlns:a16="http://schemas.microsoft.com/office/drawing/2014/main" id="{E8424171-3D0F-54DE-B6C7-A887AB683983}"/>
              </a:ext>
            </a:extLst>
          </p:cNvPr>
          <p:cNvSpPr txBox="1"/>
          <p:nvPr/>
        </p:nvSpPr>
        <p:spPr>
          <a:xfrm>
            <a:off x="502920" y="3215923"/>
            <a:ext cx="5166360" cy="2041877"/>
          </a:xfrm>
          <a:prstGeom prst="rect">
            <a:avLst/>
          </a:prstGeom>
          <a:noFill/>
        </p:spPr>
        <p:txBody>
          <a:bodyPr wrap="square" lIns="18288" tIns="0" rIns="45720" bIns="0" rtlCol="0"/>
          <a:lstStyle/>
          <a:p>
            <a:pPr algn="l">
              <a:spcAft>
                <a:spcPts val="300"/>
              </a:spcAft>
            </a:pPr>
            <a:r>
              <a:rPr sz="1300" b="0" u="none" dirty="0">
                <a:solidFill>
                  <a:srgbClr val="1E2A2E"/>
                </a:solidFill>
                <a:latin typeface="Calibri"/>
              </a:rPr>
              <a:t>•  Distributed sensors + local gateways for zone-wise flood monitoring.</a:t>
            </a:r>
          </a:p>
          <a:p>
            <a:pPr algn="l">
              <a:spcAft>
                <a:spcPts val="300"/>
              </a:spcAft>
            </a:pPr>
            <a:r>
              <a:rPr sz="1300" b="0" u="none" dirty="0">
                <a:solidFill>
                  <a:srgbClr val="1E2A2E"/>
                </a:solidFill>
                <a:latin typeface="Calibri"/>
              </a:rPr>
              <a:t>•  Camera and vibration / frequency nodes give early flash-flood indication.</a:t>
            </a:r>
          </a:p>
          <a:p>
            <a:pPr algn="l">
              <a:spcAft>
                <a:spcPts val="300"/>
              </a:spcAft>
            </a:pPr>
            <a:r>
              <a:rPr sz="1300" b="0" u="none" dirty="0">
                <a:solidFill>
                  <a:srgbClr val="1E2A2E"/>
                </a:solidFill>
                <a:latin typeface="Calibri"/>
              </a:rPr>
              <a:t>•  LoRa carries processed results only — never raw video.</a:t>
            </a:r>
          </a:p>
          <a:p>
            <a:pPr algn="l">
              <a:spcAft>
                <a:spcPts val="300"/>
              </a:spcAft>
            </a:pPr>
            <a:r>
              <a:rPr sz="1300" b="0" u="none" dirty="0">
                <a:solidFill>
                  <a:srgbClr val="1E2A2E"/>
                </a:solidFill>
                <a:latin typeface="Calibri"/>
              </a:rPr>
              <a:t>•  Local risk detection and siren alerts even when the Internet is unavailable.</a:t>
            </a:r>
          </a:p>
          <a:p>
            <a:pPr algn="l">
              <a:spcAft>
                <a:spcPts val="300"/>
              </a:spcAft>
            </a:pPr>
            <a:r>
              <a:rPr sz="1300" b="0" u="none" dirty="0">
                <a:solidFill>
                  <a:srgbClr val="1E2A2E"/>
                </a:solidFill>
                <a:latin typeface="Calibri"/>
              </a:rPr>
              <a:t>•  Risk information is shared with downstream zones as conditions change.</a:t>
            </a:r>
            <a:endParaRPr lang="en-IN" sz="1300" b="0" u="none" dirty="0">
              <a:solidFill>
                <a:srgbClr val="1E2A2E"/>
              </a:solidFill>
              <a:latin typeface="Calibri"/>
            </a:endParaRPr>
          </a:p>
          <a:p>
            <a:pPr>
              <a:spcAft>
                <a:spcPts val="300"/>
              </a:spcAft>
            </a:pPr>
            <a:r>
              <a:rPr lang="en-US" sz="1300" dirty="0">
                <a:solidFill>
                  <a:srgbClr val="1E2A2E"/>
                </a:solidFill>
                <a:latin typeface="Calibri"/>
              </a:rPr>
              <a:t>• Public Web Dashboard for showing Zone risk map.</a:t>
            </a:r>
          </a:p>
          <a:p>
            <a:pPr>
              <a:spcAft>
                <a:spcPts val="300"/>
              </a:spcAft>
            </a:pPr>
            <a:r>
              <a:rPr lang="en-US" sz="1300" dirty="0">
                <a:solidFill>
                  <a:srgbClr val="1E2A2E"/>
                </a:solidFill>
                <a:latin typeface="Calibri"/>
              </a:rPr>
              <a:t>• Authorities Local Dashboard for Siren Control, Node(s) health &amp; zone risk map.</a:t>
            </a:r>
          </a:p>
          <a:p>
            <a:pPr>
              <a:spcAft>
                <a:spcPts val="300"/>
              </a:spcAft>
            </a:pPr>
            <a:endParaRPr lang="en-US" sz="1300" dirty="0">
              <a:solidFill>
                <a:srgbClr val="1E2A2E"/>
              </a:solidFill>
              <a:latin typeface="Calibri"/>
            </a:endParaRPr>
          </a:p>
          <a:p>
            <a:pPr algn="l">
              <a:spcAft>
                <a:spcPts val="300"/>
              </a:spcAft>
            </a:pPr>
            <a:endParaRPr lang="en-IN" sz="1300" b="0" u="none" dirty="0">
              <a:solidFill>
                <a:srgbClr val="1E2A2E"/>
              </a:solidFill>
              <a:latin typeface="Calibri"/>
            </a:endParaRPr>
          </a:p>
          <a:p>
            <a:pPr algn="l">
              <a:spcAft>
                <a:spcPts val="300"/>
              </a:spcAft>
            </a:pPr>
            <a:endParaRPr sz="1300" b="0" u="none" dirty="0">
              <a:solidFill>
                <a:srgbClr val="1E2A2E"/>
              </a:solidFill>
              <a:latin typeface="Calibri"/>
            </a:endParaRPr>
          </a:p>
        </p:txBody>
      </p:sp>
      <p:sp>
        <p:nvSpPr>
          <p:cNvPr id="37" name="TextBox 36"/>
          <p:cNvSpPr txBox="1"/>
          <p:nvPr/>
        </p:nvSpPr>
        <p:spPr>
          <a:xfrm>
            <a:off x="515112" y="1498621"/>
            <a:ext cx="5577840" cy="219456"/>
          </a:xfrm>
          <a:prstGeom prst="rect">
            <a:avLst/>
          </a:prstGeom>
          <a:noFill/>
        </p:spPr>
        <p:txBody>
          <a:bodyPr wrap="square" lIns="0" tIns="0" rIns="0" bIns="0"/>
          <a:lstStyle/>
          <a:p>
            <a:pPr algn="l">
              <a:spcAft>
                <a:spcPts val="300"/>
              </a:spcAft>
            </a:pPr>
            <a:r>
              <a:rPr sz="1150" b="0" i="1" u="none" dirty="0">
                <a:solidFill>
                  <a:srgbClr val="3E6B75"/>
                </a:solidFill>
                <a:latin typeface="Calibri"/>
              </a:rPr>
              <a:t>Right now an alert has to pass through people before it reaches anyone who can act.</a:t>
            </a:r>
          </a:p>
        </p:txBody>
      </p:sp>
      <p:sp>
        <p:nvSpPr>
          <p:cNvPr id="38" name="TextBox 37"/>
          <p:cNvSpPr txBox="1"/>
          <p:nvPr/>
        </p:nvSpPr>
        <p:spPr>
          <a:xfrm>
            <a:off x="515112" y="3032619"/>
            <a:ext cx="5577840" cy="237744"/>
          </a:xfrm>
          <a:prstGeom prst="rect">
            <a:avLst/>
          </a:prstGeom>
          <a:noFill/>
        </p:spPr>
        <p:txBody>
          <a:bodyPr wrap="square" lIns="0" tIns="0" rIns="0" bIns="0"/>
          <a:lstStyle/>
          <a:p>
            <a:pPr algn="l">
              <a:spcAft>
                <a:spcPts val="300"/>
              </a:spcAft>
            </a:pPr>
            <a:r>
              <a:rPr sz="1150" b="0" i="1" u="none">
                <a:solidFill>
                  <a:srgbClr val="3E6B75"/>
                </a:solidFill>
                <a:latin typeface="Calibri"/>
              </a:rPr>
              <a:t>So we let the sensors decide on the spot, zone by zone.</a:t>
            </a:r>
          </a:p>
        </p:txBody>
      </p:sp>
      <p:sp>
        <p:nvSpPr>
          <p:cNvPr id="39" name="Rounded Rectangle 38"/>
          <p:cNvSpPr/>
          <p:nvPr/>
        </p:nvSpPr>
        <p:spPr>
          <a:xfrm>
            <a:off x="515112" y="5351491"/>
            <a:ext cx="5166360" cy="621792"/>
          </a:xfrm>
          <a:prstGeom prst="roundRect">
            <a:avLst>
              <a:gd name="adj" fmla="val 8000"/>
            </a:avLst>
          </a:prstGeom>
          <a:ln/>
        </p:spPr>
        <p:style>
          <a:lnRef idx="3">
            <a:schemeClr val="lt1"/>
          </a:lnRef>
          <a:fillRef idx="1">
            <a:schemeClr val="accent6"/>
          </a:fillRef>
          <a:effectRef idx="1">
            <a:schemeClr val="accent6"/>
          </a:effectRef>
          <a:fontRef idx="minor">
            <a:schemeClr val="lt1"/>
          </a:fontRef>
        </p:style>
        <p:txBody>
          <a:bodyPr wrap="square" lIns="73152" tIns="18288" rIns="73152" bIns="18288" rtlCol="0" anchor="ctr"/>
          <a:lstStyle/>
          <a:p>
            <a:pPr algn="ctr">
              <a:spcAft>
                <a:spcPts val="100"/>
              </a:spcAft>
            </a:pPr>
            <a:r>
              <a:rPr sz="1200" b="1" u="none" dirty="0">
                <a:solidFill>
                  <a:srgbClr val="FFFFFF"/>
                </a:solidFill>
                <a:latin typeface="Calibri"/>
              </a:rPr>
              <a:t>Rainfall + Water Level + Vibration + Camera</a:t>
            </a:r>
          </a:p>
          <a:p>
            <a:pPr algn="ctr">
              <a:spcAft>
                <a:spcPts val="300"/>
              </a:spcAft>
            </a:pPr>
            <a:r>
              <a:rPr sz="1200" b="1" u="none" dirty="0">
                <a:solidFill>
                  <a:srgbClr val="FFFFFF"/>
                </a:solidFill>
                <a:latin typeface="Calibri"/>
              </a:rPr>
              <a:t>→  Local Risk  →  Downstream Warning  →  Alert</a:t>
            </a:r>
          </a:p>
        </p:txBody>
      </p:sp>
      <p:pic>
        <p:nvPicPr>
          <p:cNvPr id="13" name="Picture 12">
            <a:extLst>
              <a:ext uri="{FF2B5EF4-FFF2-40B4-BE49-F238E27FC236}">
                <a16:creationId xmlns:a16="http://schemas.microsoft.com/office/drawing/2014/main" id="{7BF33190-7559-69A8-8032-2E6E4125007F}"/>
              </a:ext>
            </a:extLst>
          </p:cNvPr>
          <p:cNvPicPr>
            <a:picLocks noChangeAspect="1"/>
          </p:cNvPicPr>
          <p:nvPr/>
        </p:nvPicPr>
        <p:blipFill>
          <a:blip r:embed="rId4">
            <a:extLst>
              <a:ext uri="{28A0092B-C50C-407E-A947-70E740481C1C}">
                <a14:useLocalDpi xmlns:a14="http://schemas.microsoft.com/office/drawing/2010/main" val="0"/>
              </a:ext>
            </a:extLst>
          </a:blip>
          <a:srcRect b="15198"/>
          <a:stretch>
            <a:fillRect/>
          </a:stretch>
        </p:blipFill>
        <p:spPr>
          <a:xfrm>
            <a:off x="5878117" y="1431187"/>
            <a:ext cx="5995416" cy="3663382"/>
          </a:xfrm>
          <a:prstGeom prst="rect">
            <a:avLst/>
          </a:prstGeom>
        </p:spPr>
      </p:pic>
      <p:sp>
        <p:nvSpPr>
          <p:cNvPr id="15" name="Rounded Rectangle 96">
            <a:extLst>
              <a:ext uri="{FF2B5EF4-FFF2-40B4-BE49-F238E27FC236}">
                <a16:creationId xmlns:a16="http://schemas.microsoft.com/office/drawing/2014/main" id="{95157BDB-457D-80DC-5774-A28BA9883250}"/>
              </a:ext>
            </a:extLst>
          </p:cNvPr>
          <p:cNvSpPr/>
          <p:nvPr/>
        </p:nvSpPr>
        <p:spPr>
          <a:xfrm>
            <a:off x="7109761" y="5330868"/>
            <a:ext cx="2802192" cy="663038"/>
          </a:xfrm>
          <a:prstGeom prst="roundRect">
            <a:avLst>
              <a:gd name="adj" fmla="val 8000"/>
            </a:avLst>
          </a:prstGeom>
          <a:ln/>
        </p:spPr>
        <p:style>
          <a:lnRef idx="2">
            <a:schemeClr val="accent6">
              <a:shade val="15000"/>
            </a:schemeClr>
          </a:lnRef>
          <a:fillRef idx="1">
            <a:schemeClr val="accent6"/>
          </a:fillRef>
          <a:effectRef idx="0">
            <a:schemeClr val="accent6"/>
          </a:effectRef>
          <a:fontRef idx="minor">
            <a:schemeClr val="lt1"/>
          </a:fontRef>
        </p:style>
        <p:txBody>
          <a:bodyPr wrap="square" lIns="109728" rIns="109728" rtlCol="0" anchor="ctr"/>
          <a:lstStyle/>
          <a:p>
            <a:pPr algn="ctr">
              <a:spcAft>
                <a:spcPts val="300"/>
              </a:spcAft>
            </a:pPr>
            <a:r>
              <a:rPr lang="en-IN" sz="1200" b="1" dirty="0">
                <a:solidFill>
                  <a:srgbClr val="C97A1A"/>
                </a:solidFill>
                <a:latin typeface="Calibri"/>
              </a:rPr>
              <a:t>     </a:t>
            </a:r>
            <a:r>
              <a:rPr lang="en-IN" sz="1200" b="1" dirty="0" err="1">
                <a:solidFill>
                  <a:srgbClr val="FFFFFF"/>
                </a:solidFill>
                <a:latin typeface="Calibri"/>
              </a:rPr>
              <a:t>Github</a:t>
            </a:r>
            <a:r>
              <a:rPr lang="en-IN" sz="1200" b="1" dirty="0">
                <a:solidFill>
                  <a:srgbClr val="FFFFFF"/>
                </a:solidFill>
                <a:latin typeface="Calibri"/>
              </a:rPr>
              <a:t> Repository :</a:t>
            </a:r>
            <a:r>
              <a:rPr lang="en-IN" sz="1400" b="1" dirty="0">
                <a:solidFill>
                  <a:srgbClr val="FFFFFF"/>
                </a:solidFill>
                <a:latin typeface="Calibri"/>
              </a:rPr>
              <a:t> </a:t>
            </a:r>
            <a:r>
              <a:rPr lang="en-IN" sz="1100" b="1" dirty="0">
                <a:solidFill>
                  <a:srgbClr val="C97A1A"/>
                </a:solidFill>
                <a:latin typeface="Calibri"/>
                <a:hlinkClick r:id="rId5"/>
              </a:rPr>
              <a:t>https://github.com/surajjha0622/Suchak</a:t>
            </a:r>
            <a:endParaRPr sz="1100" b="1" u="none" dirty="0">
              <a:solidFill>
                <a:srgbClr val="C97A1A"/>
              </a:solidFill>
              <a:latin typeface="Calibri"/>
            </a:endParaRPr>
          </a:p>
        </p:txBody>
      </p:sp>
      <p:pic>
        <p:nvPicPr>
          <p:cNvPr id="17" name="Picture 16">
            <a:extLst>
              <a:ext uri="{FF2B5EF4-FFF2-40B4-BE49-F238E27FC236}">
                <a16:creationId xmlns:a16="http://schemas.microsoft.com/office/drawing/2014/main" id="{EC966C77-5C3B-8BCD-2CE6-51C5B34C234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155798" y="5303520"/>
            <a:ext cx="717735" cy="717735"/>
          </a:xfrm>
          <a:prstGeom prst="rect">
            <a:avLst/>
          </a:prstGeom>
        </p:spPr>
      </p:pic>
    </p:spTree>
    <p:extLst>
      <p:ext uri="{BB962C8B-B14F-4D97-AF65-F5344CB8AC3E}">
        <p14:creationId xmlns:p14="http://schemas.microsoft.com/office/powerpoint/2010/main" val="2037532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207FF5-4CEB-E18F-0EB6-CC62D6FECA0A}"/>
              </a:ext>
            </a:extLst>
          </p:cNvPr>
          <p:cNvSpPr txBox="1"/>
          <p:nvPr/>
        </p:nvSpPr>
        <p:spPr>
          <a:xfrm>
            <a:off x="6532565" y="1436086"/>
            <a:ext cx="4547997" cy="1815882"/>
          </a:xfrm>
          <a:prstGeom prst="rect">
            <a:avLst/>
          </a:prstGeom>
          <a:noFill/>
        </p:spPr>
        <p:txBody>
          <a:bodyPr wrap="square" rtlCol="0">
            <a:spAutoFit/>
          </a:bodyPr>
          <a:lstStyle/>
          <a:p>
            <a:r>
              <a:rPr lang="en-IN" sz="800" dirty="0"/>
              <a:t>VEGA Flood Early Warning System, Disaster Management, Hyperlocal Flood Monitoring, Distributed Sensor Network, Zone Based Monitoring, Cooperative Flood Warning, Upstream Downstream Warning, Rain Gauge, Rainfall, Rainfall Measurement, Water Level Sensor, Water Level, River Level, Rate of Rise, ESP32, DS3231 RTC, Real Time Clock, Sensor Node, Field Node, SX1262, LoRa, Long Range Communication, Low Power Communication, Zone Gateway, Gateway, Edge Processing, Local Processing, Data Quality Check, Risk Assessment, Risk Level, Adaptive Sampling, Sampling Frequency, Downstream Monitoring, Cooperative Response, Local Alert, Local Siren, Authorities Dashboard, Public Dashboard, Offline Mode, Local Risk Logic, Data Buffering, Data Synchronization, Solar Power, LiFePO4, Low Power Operation, Flood Warning, Flood Alert, Early Warning System, Early Warning, Hydrological Monitoring, Hydrological Data, Environmental Monitoring, Real Time Monitoring, Remote Monitoring, Wireless Sensor Network, IoT, IoT and Electronics, Embedded System, Edge Computing, Edge Gateway, LoRa Communication, LoRa Node, LoRa Gateway, Rainfall Monitoring, Water Level Monitoring, River Monitoring, Flood Risk, Zone Risk, Risk Detection, Risk Classification, Local Warning, Downstream Alert, Upstream Alert, Offline Operation, Resilient Communication.</a:t>
            </a:r>
          </a:p>
        </p:txBody>
      </p:sp>
      <p:pic>
        <p:nvPicPr>
          <p:cNvPr id="4" name="Picture 3">
            <a:extLst>
              <a:ext uri="{FF2B5EF4-FFF2-40B4-BE49-F238E27FC236}">
                <a16:creationId xmlns:a16="http://schemas.microsoft.com/office/drawing/2014/main" id="{E5427A0E-F0B0-1B8F-E574-537943E57F4C}"/>
              </a:ext>
            </a:extLst>
          </p:cNvPr>
          <p:cNvPicPr>
            <a:picLocks noChangeAspect="1"/>
          </p:cNvPicPr>
          <p:nvPr/>
        </p:nvPicPr>
        <p:blipFill>
          <a:blip r:embed="rId3">
            <a:extLst>
              <a:ext uri="{28A0092B-C50C-407E-A947-70E740481C1C}">
                <a14:useLocalDpi xmlns:a14="http://schemas.microsoft.com/office/drawing/2010/main" val="0"/>
              </a:ext>
            </a:extLst>
          </a:blip>
          <a:srcRect l="1787"/>
          <a:stretch>
            <a:fillRect/>
          </a:stretch>
        </p:blipFill>
        <p:spPr>
          <a:xfrm>
            <a:off x="6023577" y="645850"/>
            <a:ext cx="5403606" cy="3582342"/>
          </a:xfrm>
          <a:prstGeom prst="rect">
            <a:avLst/>
          </a:prstGeom>
          <a:ln>
            <a:noFill/>
          </a:ln>
        </p:spPr>
      </p:pic>
      <p:sp>
        <p:nvSpPr>
          <p:cNvPr id="4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41"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eaLnBrk="1" hangingPunct="1">
              <a:lnSpc>
                <a:spcPct val="100000"/>
              </a:lnSpc>
              <a:spcBef>
                <a:spcPts val="0"/>
              </a:spcBef>
              <a:spcAft>
                <a:spcPts val="0"/>
              </a:spcAft>
              <a:buNone/>
            </a:pPr>
            <a:r>
              <a:rPr lang="en-US" altLang="zh-CN" sz="3600" b="1" i="0" u="none" strike="noStrike" kern="1200" cap="none" spc="0" baseline="0" dirty="0">
                <a:solidFill>
                  <a:schemeClr val="tx1"/>
                </a:solidFill>
                <a:latin typeface="Times New Roman" pitchFamily="18" charset="0"/>
                <a:ea typeface="ＭＳ Ｐゴシック" pitchFamily="1" charset="-128"/>
                <a:cs typeface="Times New Roman" pitchFamily="18" charset="0"/>
              </a:rPr>
              <a:t>TECHNICAL APPROACH</a:t>
            </a:r>
            <a:endParaRPr lang="zh-CN" altLang="en-US" sz="3600" b="1" i="0" u="none" strike="noStrike" kern="1200" cap="none" spc="0" baseline="0" dirty="0">
              <a:solidFill>
                <a:schemeClr val="tx1"/>
              </a:solidFill>
              <a:latin typeface="Times New Roman" pitchFamily="18" charset="0"/>
              <a:ea typeface="ＭＳ Ｐゴシック" pitchFamily="1" charset="-128"/>
              <a:cs typeface="Times New Roman" pitchFamily="18" charset="0"/>
            </a:endParaRPr>
          </a:p>
        </p:txBody>
      </p:sp>
      <p:sp>
        <p:nvSpPr>
          <p:cNvPr id="4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3</a:t>
            </a:r>
          </a:p>
        </p:txBody>
      </p:sp>
      <p:sp>
        <p:nvSpPr>
          <p:cNvPr id="4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45" name="Oval" descr="Your startup LOGO"/>
          <p:cNvSpPr>
            <a:spLocks/>
          </p:cNvSpPr>
          <p:nvPr/>
        </p:nvSpPr>
        <p:spPr>
          <a:xfrm>
            <a:off x="320040" y="120208"/>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46" name="Image"/>
          <p:cNvPicPr>
            <a:picLocks noChangeAspect="1"/>
          </p:cNvPicPr>
          <p:nvPr/>
        </p:nvPicPr>
        <p:blipFill>
          <a:blip r:embed="rId4" cstate="print"/>
          <a:stretch>
            <a:fillRect/>
          </a:stretch>
        </p:blipFill>
        <p:spPr>
          <a:xfrm>
            <a:off x="9780086" y="1500"/>
            <a:ext cx="2249850" cy="1062337"/>
          </a:xfrm>
          <a:prstGeom prst="rect">
            <a:avLst/>
          </a:prstGeom>
          <a:noFill/>
          <a:ln w="12700" cap="flat" cmpd="sng">
            <a:noFill/>
            <a:prstDash val="solid"/>
            <a:miter/>
          </a:ln>
        </p:spPr>
      </p:pic>
      <p:sp>
        <p:nvSpPr>
          <p:cNvPr id="51" name="TextBox 50"/>
          <p:cNvSpPr txBox="1"/>
          <p:nvPr/>
        </p:nvSpPr>
        <p:spPr>
          <a:xfrm>
            <a:off x="502920" y="4754880"/>
            <a:ext cx="1737360" cy="365760"/>
          </a:xfrm>
          <a:prstGeom prst="rect">
            <a:avLst/>
          </a:prstGeom>
          <a:noFill/>
        </p:spPr>
        <p:txBody>
          <a:bodyPr wrap="square" lIns="0" tIns="0" rIns="0" bIns="0" anchor="t"/>
          <a:lstStyle/>
          <a:p>
            <a:pPr algn="l">
              <a:lnSpc>
                <a:spcPct val="100000"/>
              </a:lnSpc>
              <a:spcAft>
                <a:spcPts val="300"/>
              </a:spcAft>
            </a:pPr>
            <a:r>
              <a:rPr sz="1400" b="1" u="sng">
                <a:solidFill>
                  <a:srgbClr val="0B4A66"/>
                </a:solidFill>
                <a:latin typeface="Calibri"/>
              </a:rPr>
              <a:t>TECH STACK</a:t>
            </a:r>
          </a:p>
        </p:txBody>
      </p:sp>
      <p:pic>
        <p:nvPicPr>
          <p:cNvPr id="3" name="Picture 2">
            <a:extLst>
              <a:ext uri="{FF2B5EF4-FFF2-40B4-BE49-F238E27FC236}">
                <a16:creationId xmlns:a16="http://schemas.microsoft.com/office/drawing/2014/main" id="{872512A8-8EC5-66AF-7A3F-60C9F82C006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89173" y="5252306"/>
            <a:ext cx="539130" cy="492868"/>
          </a:xfrm>
          <a:prstGeom prst="rect">
            <a:avLst/>
          </a:prstGeom>
        </p:spPr>
      </p:pic>
      <p:pic>
        <p:nvPicPr>
          <p:cNvPr id="8" name="Picture 7">
            <a:extLst>
              <a:ext uri="{FF2B5EF4-FFF2-40B4-BE49-F238E27FC236}">
                <a16:creationId xmlns:a16="http://schemas.microsoft.com/office/drawing/2014/main" id="{6D7E38FB-A525-6BFB-08F8-9A2AAE9555B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81235" y="5305323"/>
            <a:ext cx="502660" cy="497274"/>
          </a:xfrm>
          <a:prstGeom prst="rect">
            <a:avLst/>
          </a:prstGeom>
        </p:spPr>
      </p:pic>
      <p:pic>
        <p:nvPicPr>
          <p:cNvPr id="12" name="Picture 11">
            <a:extLst>
              <a:ext uri="{FF2B5EF4-FFF2-40B4-BE49-F238E27FC236}">
                <a16:creationId xmlns:a16="http://schemas.microsoft.com/office/drawing/2014/main" id="{2841D70B-CA64-D653-7E9E-640651C55A1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96606" y="5213881"/>
            <a:ext cx="688297" cy="748463"/>
          </a:xfrm>
          <a:prstGeom prst="rect">
            <a:avLst/>
          </a:prstGeom>
        </p:spPr>
      </p:pic>
      <p:pic>
        <p:nvPicPr>
          <p:cNvPr id="14" name="Picture 13">
            <a:extLst>
              <a:ext uri="{FF2B5EF4-FFF2-40B4-BE49-F238E27FC236}">
                <a16:creationId xmlns:a16="http://schemas.microsoft.com/office/drawing/2014/main" id="{1A65FE93-BB0E-8F29-78B4-9F143083782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59929" y="5198138"/>
            <a:ext cx="633689" cy="711643"/>
          </a:xfrm>
          <a:prstGeom prst="rect">
            <a:avLst/>
          </a:prstGeom>
        </p:spPr>
      </p:pic>
      <p:pic>
        <p:nvPicPr>
          <p:cNvPr id="16" name="Picture 15">
            <a:extLst>
              <a:ext uri="{FF2B5EF4-FFF2-40B4-BE49-F238E27FC236}">
                <a16:creationId xmlns:a16="http://schemas.microsoft.com/office/drawing/2014/main" id="{C45A760C-2682-D9B8-4CF8-A6A2F74A36A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056308" y="5310084"/>
            <a:ext cx="545805" cy="573591"/>
          </a:xfrm>
          <a:prstGeom prst="rect">
            <a:avLst/>
          </a:prstGeom>
        </p:spPr>
      </p:pic>
      <p:pic>
        <p:nvPicPr>
          <p:cNvPr id="18" name="Picture 17">
            <a:extLst>
              <a:ext uri="{FF2B5EF4-FFF2-40B4-BE49-F238E27FC236}">
                <a16:creationId xmlns:a16="http://schemas.microsoft.com/office/drawing/2014/main" id="{BFF2F779-C853-7C45-AB7A-0D61DBC88CF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34658" y="5146942"/>
            <a:ext cx="711602" cy="674272"/>
          </a:xfrm>
          <a:prstGeom prst="rect">
            <a:avLst/>
          </a:prstGeom>
        </p:spPr>
      </p:pic>
      <p:pic>
        <p:nvPicPr>
          <p:cNvPr id="20" name="Picture 19">
            <a:extLst>
              <a:ext uri="{FF2B5EF4-FFF2-40B4-BE49-F238E27FC236}">
                <a16:creationId xmlns:a16="http://schemas.microsoft.com/office/drawing/2014/main" id="{E2694752-DBFB-DEC5-9E69-AC5F4BA768E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878289" y="5291718"/>
            <a:ext cx="701506" cy="540898"/>
          </a:xfrm>
          <a:prstGeom prst="rect">
            <a:avLst/>
          </a:prstGeom>
        </p:spPr>
      </p:pic>
      <p:pic>
        <p:nvPicPr>
          <p:cNvPr id="22" name="Picture 21">
            <a:extLst>
              <a:ext uri="{FF2B5EF4-FFF2-40B4-BE49-F238E27FC236}">
                <a16:creationId xmlns:a16="http://schemas.microsoft.com/office/drawing/2014/main" id="{6B553F71-50FA-42A7-46DB-68EBFB68F3C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533393" y="5138114"/>
            <a:ext cx="869414" cy="697496"/>
          </a:xfrm>
          <a:prstGeom prst="rect">
            <a:avLst/>
          </a:prstGeom>
        </p:spPr>
      </p:pic>
      <p:pic>
        <p:nvPicPr>
          <p:cNvPr id="24" name="Picture 23">
            <a:extLst>
              <a:ext uri="{FF2B5EF4-FFF2-40B4-BE49-F238E27FC236}">
                <a16:creationId xmlns:a16="http://schemas.microsoft.com/office/drawing/2014/main" id="{2DBCA91F-DAFF-E363-E9FC-6BAE3275132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103918" y="5227421"/>
            <a:ext cx="490210" cy="497274"/>
          </a:xfrm>
          <a:prstGeom prst="rect">
            <a:avLst/>
          </a:prstGeom>
        </p:spPr>
      </p:pic>
      <p:sp>
        <p:nvSpPr>
          <p:cNvPr id="26" name="TextBox 25">
            <a:extLst>
              <a:ext uri="{FF2B5EF4-FFF2-40B4-BE49-F238E27FC236}">
                <a16:creationId xmlns:a16="http://schemas.microsoft.com/office/drawing/2014/main" id="{EFD3E687-643F-E9F8-093A-7C0BE1433512}"/>
              </a:ext>
            </a:extLst>
          </p:cNvPr>
          <p:cNvSpPr txBox="1"/>
          <p:nvPr/>
        </p:nvSpPr>
        <p:spPr>
          <a:xfrm>
            <a:off x="2907017" y="5734492"/>
            <a:ext cx="539131" cy="276999"/>
          </a:xfrm>
          <a:prstGeom prst="rect">
            <a:avLst/>
          </a:prstGeom>
          <a:noFill/>
        </p:spPr>
        <p:txBody>
          <a:bodyPr wrap="square">
            <a:spAutoFit/>
          </a:bodyPr>
          <a:lstStyle/>
          <a:p>
            <a:r>
              <a:rPr lang="en-IN" sz="1200" b="1" dirty="0">
                <a:solidFill>
                  <a:schemeClr val="accent4">
                    <a:lumMod val="50000"/>
                  </a:schemeClr>
                </a:solidFill>
              </a:rPr>
              <a:t>LoRa</a:t>
            </a:r>
            <a:endParaRPr lang="en-IN" dirty="0">
              <a:solidFill>
                <a:schemeClr val="accent4">
                  <a:lumMod val="50000"/>
                </a:schemeClr>
              </a:solidFill>
            </a:endParaRPr>
          </a:p>
        </p:txBody>
      </p:sp>
      <p:sp>
        <p:nvSpPr>
          <p:cNvPr id="28" name="TextBox 27">
            <a:extLst>
              <a:ext uri="{FF2B5EF4-FFF2-40B4-BE49-F238E27FC236}">
                <a16:creationId xmlns:a16="http://schemas.microsoft.com/office/drawing/2014/main" id="{58E1E893-B523-0131-53C1-07F640D90A83}"/>
              </a:ext>
            </a:extLst>
          </p:cNvPr>
          <p:cNvSpPr txBox="1"/>
          <p:nvPr/>
        </p:nvSpPr>
        <p:spPr>
          <a:xfrm>
            <a:off x="5188275" y="5674936"/>
            <a:ext cx="788055" cy="276999"/>
          </a:xfrm>
          <a:prstGeom prst="rect">
            <a:avLst/>
          </a:prstGeom>
          <a:noFill/>
        </p:spPr>
        <p:txBody>
          <a:bodyPr wrap="square">
            <a:spAutoFit/>
          </a:bodyPr>
          <a:lstStyle/>
          <a:p>
            <a:r>
              <a:rPr lang="en-IN" sz="1200" b="1" dirty="0">
                <a:solidFill>
                  <a:schemeClr val="accent4">
                    <a:lumMod val="50000"/>
                  </a:schemeClr>
                </a:solidFill>
              </a:rPr>
              <a:t>QGIS/GIS</a:t>
            </a:r>
            <a:endParaRPr lang="en-IN" sz="1200" dirty="0">
              <a:solidFill>
                <a:schemeClr val="accent4">
                  <a:lumMod val="50000"/>
                </a:schemeClr>
              </a:solidFill>
            </a:endParaRPr>
          </a:p>
        </p:txBody>
      </p:sp>
      <p:sp>
        <p:nvSpPr>
          <p:cNvPr id="30" name="TextBox 29">
            <a:extLst>
              <a:ext uri="{FF2B5EF4-FFF2-40B4-BE49-F238E27FC236}">
                <a16:creationId xmlns:a16="http://schemas.microsoft.com/office/drawing/2014/main" id="{0AF75C4B-DEC1-98D0-8B9F-E312E2B28451}"/>
              </a:ext>
            </a:extLst>
          </p:cNvPr>
          <p:cNvSpPr txBox="1"/>
          <p:nvPr/>
        </p:nvSpPr>
        <p:spPr>
          <a:xfrm>
            <a:off x="2019887" y="5734491"/>
            <a:ext cx="788055" cy="276999"/>
          </a:xfrm>
          <a:prstGeom prst="rect">
            <a:avLst/>
          </a:prstGeom>
          <a:noFill/>
        </p:spPr>
        <p:txBody>
          <a:bodyPr wrap="square">
            <a:spAutoFit/>
          </a:bodyPr>
          <a:lstStyle/>
          <a:p>
            <a:pPr algn="ctr"/>
            <a:r>
              <a:rPr lang="en-IN" sz="1200" b="1" dirty="0">
                <a:solidFill>
                  <a:schemeClr val="accent4">
                    <a:lumMod val="50000"/>
                  </a:schemeClr>
                </a:solidFill>
              </a:rPr>
              <a:t>ESP32</a:t>
            </a:r>
            <a:endParaRPr lang="en-IN" dirty="0">
              <a:solidFill>
                <a:schemeClr val="accent4">
                  <a:lumMod val="50000"/>
                </a:schemeClr>
              </a:solidFill>
            </a:endParaRPr>
          </a:p>
        </p:txBody>
      </p:sp>
      <p:sp>
        <p:nvSpPr>
          <p:cNvPr id="32" name="TextBox 31">
            <a:extLst>
              <a:ext uri="{FF2B5EF4-FFF2-40B4-BE49-F238E27FC236}">
                <a16:creationId xmlns:a16="http://schemas.microsoft.com/office/drawing/2014/main" id="{1EFB9EAC-9324-8E62-5AD3-528A7F0D13F2}"/>
              </a:ext>
            </a:extLst>
          </p:cNvPr>
          <p:cNvSpPr txBox="1"/>
          <p:nvPr/>
        </p:nvSpPr>
        <p:spPr>
          <a:xfrm>
            <a:off x="1035898" y="5734492"/>
            <a:ext cx="1071998" cy="276999"/>
          </a:xfrm>
          <a:prstGeom prst="rect">
            <a:avLst/>
          </a:prstGeom>
          <a:noFill/>
        </p:spPr>
        <p:txBody>
          <a:bodyPr wrap="square">
            <a:spAutoFit/>
          </a:bodyPr>
          <a:lstStyle/>
          <a:p>
            <a:r>
              <a:rPr lang="en-IN" sz="1200" b="1" dirty="0">
                <a:solidFill>
                  <a:schemeClr val="accent4">
                    <a:lumMod val="50000"/>
                  </a:schemeClr>
                </a:solidFill>
              </a:rPr>
              <a:t>Raspberry Pi</a:t>
            </a:r>
            <a:endParaRPr lang="en-IN" dirty="0"/>
          </a:p>
        </p:txBody>
      </p:sp>
      <p:sp>
        <p:nvSpPr>
          <p:cNvPr id="34" name="TextBox 33">
            <a:extLst>
              <a:ext uri="{FF2B5EF4-FFF2-40B4-BE49-F238E27FC236}">
                <a16:creationId xmlns:a16="http://schemas.microsoft.com/office/drawing/2014/main" id="{B9A4C5FE-2FB6-FC66-8F5F-1B1BF589552D}"/>
              </a:ext>
            </a:extLst>
          </p:cNvPr>
          <p:cNvSpPr txBox="1"/>
          <p:nvPr/>
        </p:nvSpPr>
        <p:spPr>
          <a:xfrm>
            <a:off x="4507513" y="5704800"/>
            <a:ext cx="788055" cy="276999"/>
          </a:xfrm>
          <a:prstGeom prst="rect">
            <a:avLst/>
          </a:prstGeom>
          <a:noFill/>
        </p:spPr>
        <p:txBody>
          <a:bodyPr wrap="square">
            <a:spAutoFit/>
          </a:bodyPr>
          <a:lstStyle/>
          <a:p>
            <a:r>
              <a:rPr lang="en-IN" sz="1200" b="1" dirty="0" err="1">
                <a:solidFill>
                  <a:schemeClr val="accent4">
                    <a:lumMod val="50000"/>
                  </a:schemeClr>
                </a:solidFill>
              </a:rPr>
              <a:t>FastAPI</a:t>
            </a:r>
            <a:endParaRPr lang="en-IN" dirty="0">
              <a:solidFill>
                <a:schemeClr val="accent4">
                  <a:lumMod val="50000"/>
                </a:schemeClr>
              </a:solidFill>
            </a:endParaRPr>
          </a:p>
        </p:txBody>
      </p:sp>
      <p:sp>
        <p:nvSpPr>
          <p:cNvPr id="36" name="TextBox 35">
            <a:extLst>
              <a:ext uri="{FF2B5EF4-FFF2-40B4-BE49-F238E27FC236}">
                <a16:creationId xmlns:a16="http://schemas.microsoft.com/office/drawing/2014/main" id="{76D5690C-672C-7DBA-E58D-94D285BFAB0B}"/>
              </a:ext>
            </a:extLst>
          </p:cNvPr>
          <p:cNvSpPr txBox="1"/>
          <p:nvPr/>
        </p:nvSpPr>
        <p:spPr>
          <a:xfrm>
            <a:off x="7679233" y="5707794"/>
            <a:ext cx="991291" cy="276999"/>
          </a:xfrm>
          <a:prstGeom prst="rect">
            <a:avLst/>
          </a:prstGeom>
          <a:noFill/>
        </p:spPr>
        <p:txBody>
          <a:bodyPr wrap="square">
            <a:spAutoFit/>
          </a:bodyPr>
          <a:lstStyle/>
          <a:p>
            <a:r>
              <a:rPr lang="en-IN" sz="1200" b="1" dirty="0">
                <a:solidFill>
                  <a:schemeClr val="accent4">
                    <a:lumMod val="50000"/>
                  </a:schemeClr>
                </a:solidFill>
              </a:rPr>
              <a:t>PostgreSQL</a:t>
            </a:r>
          </a:p>
        </p:txBody>
      </p:sp>
      <p:sp>
        <p:nvSpPr>
          <p:cNvPr id="38" name="TextBox 37">
            <a:extLst>
              <a:ext uri="{FF2B5EF4-FFF2-40B4-BE49-F238E27FC236}">
                <a16:creationId xmlns:a16="http://schemas.microsoft.com/office/drawing/2014/main" id="{8E759036-3CBF-166E-86CF-EEF131701B54}"/>
              </a:ext>
            </a:extLst>
          </p:cNvPr>
          <p:cNvSpPr txBox="1"/>
          <p:nvPr/>
        </p:nvSpPr>
        <p:spPr>
          <a:xfrm>
            <a:off x="6972225" y="5698952"/>
            <a:ext cx="646096" cy="276999"/>
          </a:xfrm>
          <a:prstGeom prst="rect">
            <a:avLst/>
          </a:prstGeom>
          <a:noFill/>
        </p:spPr>
        <p:txBody>
          <a:bodyPr wrap="square">
            <a:spAutoFit/>
          </a:bodyPr>
          <a:lstStyle/>
          <a:p>
            <a:r>
              <a:rPr lang="en-IN" sz="1200" b="1" dirty="0">
                <a:solidFill>
                  <a:schemeClr val="accent4">
                    <a:lumMod val="50000"/>
                  </a:schemeClr>
                </a:solidFill>
              </a:rPr>
              <a:t>Python</a:t>
            </a:r>
            <a:endParaRPr lang="en-IN" dirty="0"/>
          </a:p>
        </p:txBody>
      </p:sp>
      <p:sp>
        <p:nvSpPr>
          <p:cNvPr id="42" name="TextBox 41">
            <a:extLst>
              <a:ext uri="{FF2B5EF4-FFF2-40B4-BE49-F238E27FC236}">
                <a16:creationId xmlns:a16="http://schemas.microsoft.com/office/drawing/2014/main" id="{6CF9F8D4-7E0C-0117-48C9-1BA2364074BC}"/>
              </a:ext>
            </a:extLst>
          </p:cNvPr>
          <p:cNvSpPr txBox="1"/>
          <p:nvPr/>
        </p:nvSpPr>
        <p:spPr>
          <a:xfrm>
            <a:off x="6023577" y="5707794"/>
            <a:ext cx="1071998" cy="276999"/>
          </a:xfrm>
          <a:prstGeom prst="rect">
            <a:avLst/>
          </a:prstGeom>
          <a:noFill/>
        </p:spPr>
        <p:txBody>
          <a:bodyPr wrap="square">
            <a:spAutoFit/>
          </a:bodyPr>
          <a:lstStyle/>
          <a:p>
            <a:r>
              <a:rPr lang="en-IN" sz="1200" b="1" dirty="0" err="1">
                <a:solidFill>
                  <a:schemeClr val="accent4">
                    <a:lumMod val="50000"/>
                  </a:schemeClr>
                </a:solidFill>
              </a:rPr>
              <a:t>TimeScaleDB</a:t>
            </a:r>
            <a:endParaRPr lang="en-IN" dirty="0"/>
          </a:p>
        </p:txBody>
      </p:sp>
      <p:sp>
        <p:nvSpPr>
          <p:cNvPr id="58" name="TextBox 57">
            <a:extLst>
              <a:ext uri="{FF2B5EF4-FFF2-40B4-BE49-F238E27FC236}">
                <a16:creationId xmlns:a16="http://schemas.microsoft.com/office/drawing/2014/main" id="{BB01217C-EE6E-AE14-6C95-2D231BEB3CA1}"/>
              </a:ext>
            </a:extLst>
          </p:cNvPr>
          <p:cNvSpPr txBox="1"/>
          <p:nvPr/>
        </p:nvSpPr>
        <p:spPr>
          <a:xfrm>
            <a:off x="3721719" y="5742099"/>
            <a:ext cx="492761" cy="276999"/>
          </a:xfrm>
          <a:prstGeom prst="rect">
            <a:avLst/>
          </a:prstGeom>
          <a:noFill/>
        </p:spPr>
        <p:txBody>
          <a:bodyPr wrap="square">
            <a:spAutoFit/>
          </a:bodyPr>
          <a:lstStyle/>
          <a:p>
            <a:r>
              <a:rPr lang="en-IN" sz="1200" b="1" dirty="0">
                <a:solidFill>
                  <a:schemeClr val="accent4">
                    <a:lumMod val="50000"/>
                  </a:schemeClr>
                </a:solidFill>
              </a:rPr>
              <a:t>RTC</a:t>
            </a:r>
            <a:endParaRPr lang="en-IN" sz="1800" b="1" dirty="0">
              <a:solidFill>
                <a:schemeClr val="accent4">
                  <a:lumMod val="50000"/>
                </a:schemeClr>
              </a:solidFill>
            </a:endParaRPr>
          </a:p>
        </p:txBody>
      </p:sp>
      <p:sp>
        <p:nvSpPr>
          <p:cNvPr id="6" name="TextBox 5">
            <a:extLst>
              <a:ext uri="{FF2B5EF4-FFF2-40B4-BE49-F238E27FC236}">
                <a16:creationId xmlns:a16="http://schemas.microsoft.com/office/drawing/2014/main" id="{44E5868F-6C08-CF16-1FD1-808876F18A45}"/>
              </a:ext>
            </a:extLst>
          </p:cNvPr>
          <p:cNvSpPr txBox="1"/>
          <p:nvPr/>
        </p:nvSpPr>
        <p:spPr>
          <a:xfrm>
            <a:off x="320040" y="1115568"/>
            <a:ext cx="2670048" cy="1664208"/>
          </a:xfrm>
          <a:prstGeom prst="rect">
            <a:avLst/>
          </a:prstGeom>
          <a:noFill/>
          <a:ln>
            <a:solidFill>
              <a:schemeClr val="tx2"/>
            </a:solidFill>
            <a:prstDash val="lgDashDot"/>
          </a:ln>
        </p:spPr>
        <p:txBody>
          <a:bodyPr wrap="square" lIns="73152" tIns="36576" rIns="54864" bIns="18288" rtlCol="0"/>
          <a:lstStyle/>
          <a:p>
            <a:pPr algn="l">
              <a:spcAft>
                <a:spcPts val="400"/>
              </a:spcAft>
            </a:pPr>
            <a:r>
              <a:rPr sz="1200" b="1" u="none" dirty="0">
                <a:solidFill>
                  <a:srgbClr val="0B4A66"/>
                </a:solidFill>
                <a:latin typeface="Calibri"/>
              </a:rPr>
              <a:t>1.  DATA COLLECTION</a:t>
            </a:r>
          </a:p>
          <a:p>
            <a:pPr algn="l">
              <a:spcAft>
                <a:spcPts val="200"/>
              </a:spcAft>
            </a:pPr>
            <a:r>
              <a:rPr sz="950" b="0" u="none" dirty="0">
                <a:solidFill>
                  <a:srgbClr val="1E2A2E"/>
                </a:solidFill>
                <a:latin typeface="Calibri"/>
              </a:rPr>
              <a:t>•  Rainfall measured using a rain gauge.</a:t>
            </a:r>
          </a:p>
          <a:p>
            <a:pPr algn="l">
              <a:spcAft>
                <a:spcPts val="200"/>
              </a:spcAft>
            </a:pPr>
            <a:r>
              <a:rPr sz="950" b="0" u="none" dirty="0">
                <a:solidFill>
                  <a:srgbClr val="1E2A2E"/>
                </a:solidFill>
                <a:latin typeface="Calibri"/>
              </a:rPr>
              <a:t>•  Water level measured at selected river / stream points.</a:t>
            </a:r>
          </a:p>
          <a:p>
            <a:pPr algn="l">
              <a:spcAft>
                <a:spcPts val="200"/>
              </a:spcAft>
            </a:pPr>
            <a:r>
              <a:rPr sz="950" b="0" u="none" dirty="0">
                <a:solidFill>
                  <a:srgbClr val="1E2A2E"/>
                </a:solidFill>
                <a:latin typeface="Calibri"/>
              </a:rPr>
              <a:t>•  Camera nodes watch strategic points (bridges, culverts, narrow channels).</a:t>
            </a:r>
          </a:p>
          <a:p>
            <a:pPr algn="l">
              <a:spcAft>
                <a:spcPts val="200"/>
              </a:spcAft>
            </a:pPr>
            <a:r>
              <a:rPr sz="950" b="0" u="none" dirty="0">
                <a:solidFill>
                  <a:srgbClr val="1E2A2E"/>
                </a:solidFill>
                <a:latin typeface="Calibri"/>
              </a:rPr>
              <a:t>•  Vibration / frequency sensors detect approaching flash floods.</a:t>
            </a:r>
          </a:p>
          <a:p>
            <a:pPr algn="l">
              <a:spcAft>
                <a:spcPts val="200"/>
              </a:spcAft>
            </a:pPr>
            <a:r>
              <a:rPr sz="950" b="0" u="none" dirty="0">
                <a:solidFill>
                  <a:srgbClr val="1E2A2E"/>
                </a:solidFill>
                <a:latin typeface="Calibri"/>
              </a:rPr>
              <a:t>•  Government weather data used when available.</a:t>
            </a:r>
          </a:p>
        </p:txBody>
      </p:sp>
      <p:sp>
        <p:nvSpPr>
          <p:cNvPr id="11" name="TextBox 10">
            <a:extLst>
              <a:ext uri="{FF2B5EF4-FFF2-40B4-BE49-F238E27FC236}">
                <a16:creationId xmlns:a16="http://schemas.microsoft.com/office/drawing/2014/main" id="{645BE861-A223-97D6-AF2C-C3874AE2248C}"/>
              </a:ext>
            </a:extLst>
          </p:cNvPr>
          <p:cNvSpPr txBox="1"/>
          <p:nvPr/>
        </p:nvSpPr>
        <p:spPr>
          <a:xfrm>
            <a:off x="3154680" y="1115568"/>
            <a:ext cx="2670048" cy="1664208"/>
          </a:xfrm>
          <a:prstGeom prst="rect">
            <a:avLst/>
          </a:prstGeom>
          <a:noFill/>
          <a:ln>
            <a:solidFill>
              <a:schemeClr val="tx2"/>
            </a:solidFill>
            <a:prstDash val="lgDashDot"/>
          </a:ln>
        </p:spPr>
        <p:txBody>
          <a:bodyPr wrap="square" lIns="73152" tIns="36576" rIns="54864" bIns="18288" rtlCol="0"/>
          <a:lstStyle/>
          <a:p>
            <a:pPr algn="l">
              <a:spcAft>
                <a:spcPts val="400"/>
              </a:spcAft>
            </a:pPr>
            <a:r>
              <a:rPr sz="1200" b="1" u="none" dirty="0">
                <a:solidFill>
                  <a:srgbClr val="0B4A66"/>
                </a:solidFill>
                <a:latin typeface="Calibri"/>
              </a:rPr>
              <a:t>2.  COMMUNICATION</a:t>
            </a:r>
          </a:p>
          <a:p>
            <a:pPr algn="l">
              <a:spcAft>
                <a:spcPts val="200"/>
              </a:spcAft>
            </a:pPr>
            <a:r>
              <a:rPr sz="950" b="0" u="none" dirty="0">
                <a:solidFill>
                  <a:srgbClr val="1E2A2E"/>
                </a:solidFill>
                <a:latin typeface="Calibri"/>
              </a:rPr>
              <a:t>•  ESP32 collects the readings.</a:t>
            </a:r>
          </a:p>
          <a:p>
            <a:pPr>
              <a:spcAft>
                <a:spcPts val="200"/>
              </a:spcAft>
            </a:pPr>
            <a:r>
              <a:rPr sz="950" b="0" u="none" dirty="0">
                <a:solidFill>
                  <a:srgbClr val="1E2A2E"/>
                </a:solidFill>
                <a:latin typeface="Calibri"/>
              </a:rPr>
              <a:t>•  to the</a:t>
            </a:r>
            <a:r>
              <a:rPr lang="en-US" sz="950" dirty="0">
                <a:solidFill>
                  <a:srgbClr val="1E2A2E"/>
                </a:solidFill>
                <a:latin typeface="Calibri"/>
              </a:rPr>
              <a:t>SX1262 LoRa sends the data </a:t>
            </a:r>
            <a:r>
              <a:rPr sz="950" b="0" u="none" dirty="0">
                <a:solidFill>
                  <a:srgbClr val="1E2A2E"/>
                </a:solidFill>
                <a:latin typeface="Calibri"/>
              </a:rPr>
              <a:t> zone gateway.</a:t>
            </a:r>
          </a:p>
          <a:p>
            <a:pPr algn="l">
              <a:spcAft>
                <a:spcPts val="200"/>
              </a:spcAft>
            </a:pPr>
            <a:r>
              <a:rPr sz="950" b="0" u="none" dirty="0">
                <a:solidFill>
                  <a:srgbClr val="1E2A2E"/>
                </a:solidFill>
                <a:latin typeface="Calibri"/>
              </a:rPr>
              <a:t>•  Camera sends only the detection result and its confidence — never video.</a:t>
            </a:r>
          </a:p>
          <a:p>
            <a:pPr algn="l">
              <a:spcAft>
                <a:spcPts val="200"/>
              </a:spcAft>
            </a:pPr>
            <a:r>
              <a:rPr sz="950" b="0" u="none" dirty="0">
                <a:solidFill>
                  <a:srgbClr val="1E2A2E"/>
                </a:solidFill>
                <a:latin typeface="Calibri"/>
              </a:rPr>
              <a:t>•  Gateway-to-gateway links share important risk information.</a:t>
            </a:r>
          </a:p>
        </p:txBody>
      </p:sp>
      <p:sp>
        <p:nvSpPr>
          <p:cNvPr id="31" name="TextBox 30">
            <a:extLst>
              <a:ext uri="{FF2B5EF4-FFF2-40B4-BE49-F238E27FC236}">
                <a16:creationId xmlns:a16="http://schemas.microsoft.com/office/drawing/2014/main" id="{C5F54DC1-ABDC-02A9-348A-FDFE2CE5EED6}"/>
              </a:ext>
            </a:extLst>
          </p:cNvPr>
          <p:cNvSpPr txBox="1"/>
          <p:nvPr/>
        </p:nvSpPr>
        <p:spPr>
          <a:xfrm>
            <a:off x="320040" y="2907792"/>
            <a:ext cx="2670048" cy="1664208"/>
          </a:xfrm>
          <a:prstGeom prst="rect">
            <a:avLst/>
          </a:prstGeom>
          <a:noFill/>
          <a:ln>
            <a:solidFill>
              <a:schemeClr val="tx2"/>
            </a:solidFill>
            <a:prstDash val="lgDashDot"/>
          </a:ln>
        </p:spPr>
        <p:txBody>
          <a:bodyPr wrap="square" lIns="73152" tIns="36576" rIns="54864" bIns="18288" rtlCol="0"/>
          <a:lstStyle/>
          <a:p>
            <a:pPr algn="l">
              <a:spcAft>
                <a:spcPts val="400"/>
              </a:spcAft>
            </a:pPr>
            <a:r>
              <a:rPr sz="1200" b="1" u="none" dirty="0">
                <a:solidFill>
                  <a:srgbClr val="0B4A66"/>
                </a:solidFill>
                <a:latin typeface="Calibri"/>
              </a:rPr>
              <a:t>3.  PROCESSING</a:t>
            </a:r>
          </a:p>
          <a:p>
            <a:pPr algn="l">
              <a:spcAft>
                <a:spcPts val="200"/>
              </a:spcAft>
            </a:pPr>
            <a:r>
              <a:rPr sz="950" b="0" u="none" dirty="0">
                <a:solidFill>
                  <a:srgbClr val="1E2A2E"/>
                </a:solidFill>
                <a:latin typeface="Calibri"/>
              </a:rPr>
              <a:t>•  Check incoming sensor data.</a:t>
            </a:r>
          </a:p>
          <a:p>
            <a:pPr algn="l">
              <a:spcAft>
                <a:spcPts val="200"/>
              </a:spcAft>
            </a:pPr>
            <a:r>
              <a:rPr sz="950" b="0" u="none" dirty="0">
                <a:solidFill>
                  <a:srgbClr val="1E2A2E"/>
                </a:solidFill>
                <a:latin typeface="Calibri"/>
              </a:rPr>
              <a:t>•  Calculate rate of rise from water-level readings.</a:t>
            </a:r>
          </a:p>
          <a:p>
            <a:pPr algn="l">
              <a:spcAft>
                <a:spcPts val="200"/>
              </a:spcAft>
            </a:pPr>
            <a:r>
              <a:rPr sz="950" b="0" u="none" dirty="0">
                <a:solidFill>
                  <a:srgbClr val="1E2A2E"/>
                </a:solidFill>
                <a:latin typeface="Calibri"/>
              </a:rPr>
              <a:t>•  Fuse rainfall, water level, vibration signature and camera result.</a:t>
            </a:r>
          </a:p>
          <a:p>
            <a:pPr algn="l">
              <a:spcAft>
                <a:spcPts val="200"/>
              </a:spcAft>
            </a:pPr>
            <a:r>
              <a:rPr sz="950" b="0" u="none" dirty="0">
                <a:solidFill>
                  <a:srgbClr val="1E2A2E"/>
                </a:solidFill>
                <a:latin typeface="Calibri"/>
              </a:rPr>
              <a:t>•  Each result carries a high / medium / low confidence.</a:t>
            </a:r>
          </a:p>
          <a:p>
            <a:pPr algn="l">
              <a:spcAft>
                <a:spcPts val="200"/>
              </a:spcAft>
            </a:pPr>
            <a:r>
              <a:rPr sz="950" b="0" u="none" dirty="0">
                <a:solidFill>
                  <a:srgbClr val="1E2A2E"/>
                </a:solidFill>
                <a:latin typeface="Calibri"/>
              </a:rPr>
              <a:t>•  Assign a local risk level.</a:t>
            </a:r>
          </a:p>
        </p:txBody>
      </p:sp>
      <p:sp>
        <p:nvSpPr>
          <p:cNvPr id="35" name="TextBox 34">
            <a:extLst>
              <a:ext uri="{FF2B5EF4-FFF2-40B4-BE49-F238E27FC236}">
                <a16:creationId xmlns:a16="http://schemas.microsoft.com/office/drawing/2014/main" id="{B670C64F-686B-B7C4-F68A-8A902A02E91E}"/>
              </a:ext>
            </a:extLst>
          </p:cNvPr>
          <p:cNvSpPr txBox="1"/>
          <p:nvPr/>
        </p:nvSpPr>
        <p:spPr>
          <a:xfrm>
            <a:off x="3154680" y="2907792"/>
            <a:ext cx="2670048" cy="1664208"/>
          </a:xfrm>
          <a:prstGeom prst="rect">
            <a:avLst/>
          </a:prstGeom>
          <a:noFill/>
          <a:ln>
            <a:solidFill>
              <a:schemeClr val="tx2"/>
            </a:solidFill>
            <a:prstDash val="lgDashDot"/>
          </a:ln>
        </p:spPr>
        <p:txBody>
          <a:bodyPr wrap="square" lIns="73152" tIns="36576" rIns="54864" bIns="18288" rtlCol="0"/>
          <a:lstStyle/>
          <a:p>
            <a:pPr algn="l">
              <a:spcAft>
                <a:spcPts val="400"/>
              </a:spcAft>
            </a:pPr>
            <a:r>
              <a:rPr sz="1200" b="1" u="none" dirty="0">
                <a:solidFill>
                  <a:srgbClr val="0B4A66"/>
                </a:solidFill>
                <a:latin typeface="Calibri"/>
              </a:rPr>
              <a:t>4.  RESPONSE</a:t>
            </a:r>
          </a:p>
          <a:p>
            <a:pPr algn="l">
              <a:spcAft>
                <a:spcPts val="200"/>
              </a:spcAft>
            </a:pPr>
            <a:r>
              <a:rPr sz="950" b="0" u="none" dirty="0">
                <a:solidFill>
                  <a:srgbClr val="1E2A2E"/>
                </a:solidFill>
                <a:latin typeface="Calibri"/>
              </a:rPr>
              <a:t>•  Rising risk → sampling frequency increases.</a:t>
            </a:r>
          </a:p>
          <a:p>
            <a:pPr algn="l">
              <a:spcAft>
                <a:spcPts val="200"/>
              </a:spcAft>
            </a:pPr>
            <a:r>
              <a:rPr sz="950" b="0" u="none" dirty="0">
                <a:solidFill>
                  <a:srgbClr val="1E2A2E"/>
                </a:solidFill>
                <a:latin typeface="Calibri"/>
              </a:rPr>
              <a:t>•  Vibration or camera flag → level and camera checks increase.</a:t>
            </a:r>
          </a:p>
          <a:p>
            <a:pPr algn="l">
              <a:spcAft>
                <a:spcPts val="200"/>
              </a:spcAft>
            </a:pPr>
            <a:r>
              <a:rPr sz="950" b="0" u="none" dirty="0">
                <a:solidFill>
                  <a:srgbClr val="1E2A2E"/>
                </a:solidFill>
                <a:latin typeface="Calibri"/>
              </a:rPr>
              <a:t>•  Upstream alert → downstream zone checks more often.</a:t>
            </a:r>
          </a:p>
          <a:p>
            <a:pPr algn="l">
              <a:spcAft>
                <a:spcPts val="200"/>
              </a:spcAft>
            </a:pPr>
            <a:r>
              <a:rPr sz="950" b="0" u="none" dirty="0">
                <a:solidFill>
                  <a:srgbClr val="1E2A2E"/>
                </a:solidFill>
                <a:latin typeface="Calibri"/>
              </a:rPr>
              <a:t>•  Confirmed high-confidence risk → local siren and dashboard alert.</a:t>
            </a:r>
          </a:p>
        </p:txBody>
      </p:sp>
      <p:sp>
        <p:nvSpPr>
          <p:cNvPr id="59" name="Rounded Rectangle 58"/>
          <p:cNvSpPr/>
          <p:nvPr/>
        </p:nvSpPr>
        <p:spPr>
          <a:xfrm>
            <a:off x="6035040" y="3913632"/>
            <a:ext cx="5806440" cy="694944"/>
          </a:xfrm>
          <a:prstGeom prst="roundRect">
            <a:avLst>
              <a:gd name="adj" fmla="val 8000"/>
            </a:avLst>
          </a:prstGeom>
          <a:solidFill>
            <a:srgbClr val="F5F9FA"/>
          </a:solidFill>
          <a:ln w="15240">
            <a:solidFill>
              <a:srgbClr val="D6E2E6"/>
            </a:solidFill>
          </a:ln>
          <a:effectLst/>
        </p:spPr>
        <p:style>
          <a:lnRef idx="1">
            <a:schemeClr val="accent1"/>
          </a:lnRef>
          <a:fillRef idx="3">
            <a:schemeClr val="accent1"/>
          </a:fillRef>
          <a:effectRef idx="2">
            <a:schemeClr val="accent1"/>
          </a:effectRef>
          <a:fontRef idx="minor">
            <a:schemeClr val="lt1"/>
          </a:fontRef>
        </p:style>
        <p:txBody>
          <a:bodyPr wrap="square" lIns="109728" bIns="27432" rtlCol="0" anchor="ctr"/>
          <a:lstStyle/>
          <a:p>
            <a:pPr algn="l">
              <a:spcAft>
                <a:spcPts val="300"/>
              </a:spcAft>
            </a:pPr>
            <a:r>
              <a:rPr sz="1200" b="1" u="none" dirty="0">
                <a:solidFill>
                  <a:srgbClr val="0B4A66"/>
                </a:solidFill>
                <a:latin typeface="Calibri"/>
              </a:rPr>
              <a:t>OFFLINE MODE</a:t>
            </a:r>
            <a:endParaRPr lang="en-IN" sz="1200" b="1" u="none" dirty="0">
              <a:solidFill>
                <a:srgbClr val="0B4A66"/>
              </a:solidFill>
              <a:latin typeface="Calibri"/>
            </a:endParaRPr>
          </a:p>
          <a:p>
            <a:pPr algn="l">
              <a:spcAft>
                <a:spcPts val="300"/>
              </a:spcAft>
            </a:pPr>
            <a:r>
              <a:rPr lang="en-US" sz="1000" b="0" u="none" dirty="0">
                <a:solidFill>
                  <a:srgbClr val="1E2A2E"/>
                </a:solidFill>
                <a:latin typeface="Calibri"/>
              </a:rPr>
              <a:t>LoRa Gateway, Authorities Dashboard, Sirens and Pi 5/ Jetson Nano  keeps working without Internet — data is stored locally, local alerts continue, and stored data syncs when Internet returns.</a:t>
            </a:r>
          </a:p>
        </p:txBody>
      </p:sp>
      <p:pic>
        <p:nvPicPr>
          <p:cNvPr id="60" name="Picture 59" descr="camera.png"/>
          <p:cNvPicPr>
            <a:picLocks noChangeAspect="1"/>
          </p:cNvPicPr>
          <p:nvPr/>
        </p:nvPicPr>
        <p:blipFill>
          <a:blip r:embed="rId14"/>
          <a:stretch>
            <a:fillRect/>
          </a:stretch>
        </p:blipFill>
        <p:spPr>
          <a:xfrm>
            <a:off x="8668512" y="5212080"/>
            <a:ext cx="566928" cy="566928"/>
          </a:xfrm>
          <a:prstGeom prst="rect">
            <a:avLst/>
          </a:prstGeom>
        </p:spPr>
      </p:pic>
      <p:pic>
        <p:nvPicPr>
          <p:cNvPr id="61" name="Picture 60" descr="vibration.png"/>
          <p:cNvPicPr>
            <a:picLocks noChangeAspect="1"/>
          </p:cNvPicPr>
          <p:nvPr/>
        </p:nvPicPr>
        <p:blipFill>
          <a:blip r:embed="rId15"/>
          <a:stretch>
            <a:fillRect/>
          </a:stretch>
        </p:blipFill>
        <p:spPr>
          <a:xfrm>
            <a:off x="9491472" y="5212080"/>
            <a:ext cx="566928" cy="566928"/>
          </a:xfrm>
          <a:prstGeom prst="rect">
            <a:avLst/>
          </a:prstGeom>
        </p:spPr>
      </p:pic>
      <p:sp>
        <p:nvSpPr>
          <p:cNvPr id="62" name="TextBox 61"/>
          <p:cNvSpPr txBox="1"/>
          <p:nvPr/>
        </p:nvSpPr>
        <p:spPr>
          <a:xfrm>
            <a:off x="8540496" y="5815584"/>
            <a:ext cx="822960" cy="256032"/>
          </a:xfrm>
          <a:prstGeom prst="rect">
            <a:avLst/>
          </a:prstGeom>
          <a:noFill/>
        </p:spPr>
        <p:txBody>
          <a:bodyPr wrap="square" lIns="0" tIns="0" rIns="0" bIns="0"/>
          <a:lstStyle/>
          <a:p>
            <a:pPr algn="ctr">
              <a:spcAft>
                <a:spcPts val="300"/>
              </a:spcAft>
            </a:pPr>
            <a:r>
              <a:rPr sz="1050" b="1" u="none">
                <a:solidFill>
                  <a:srgbClr val="1E2A2E"/>
                </a:solidFill>
                <a:latin typeface="Calibri"/>
              </a:rPr>
              <a:t>Camera</a:t>
            </a:r>
          </a:p>
        </p:txBody>
      </p:sp>
      <p:sp>
        <p:nvSpPr>
          <p:cNvPr id="63" name="TextBox 62"/>
          <p:cNvSpPr txBox="1"/>
          <p:nvPr/>
        </p:nvSpPr>
        <p:spPr>
          <a:xfrm>
            <a:off x="9208008" y="5815584"/>
            <a:ext cx="1143000" cy="256032"/>
          </a:xfrm>
          <a:prstGeom prst="rect">
            <a:avLst/>
          </a:prstGeom>
          <a:noFill/>
        </p:spPr>
        <p:txBody>
          <a:bodyPr wrap="square" lIns="0" tIns="0" rIns="0" bIns="0"/>
          <a:lstStyle/>
          <a:p>
            <a:pPr algn="ctr">
              <a:spcAft>
                <a:spcPts val="300"/>
              </a:spcAft>
            </a:pPr>
            <a:r>
              <a:rPr sz="1050" b="1" u="none">
                <a:solidFill>
                  <a:srgbClr val="1E2A2E"/>
                </a:solidFill>
                <a:latin typeface="Calibri"/>
              </a:rPr>
              <a:t>Vibration</a:t>
            </a:r>
          </a:p>
        </p:txBody>
      </p:sp>
    </p:spTree>
    <p:extLst>
      <p:ext uri="{BB962C8B-B14F-4D97-AF65-F5344CB8AC3E}">
        <p14:creationId xmlns:p14="http://schemas.microsoft.com/office/powerpoint/2010/main" val="2117778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51"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eaLnBrk="1" hangingPunct="1">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ＭＳ Ｐゴシック" pitchFamily="1" charset="-128"/>
                <a:cs typeface="Times New Roman" pitchFamily="18" charset="0"/>
              </a:rPr>
              <a:t>FEASIBILITY AND VIABILITY</a:t>
            </a:r>
            <a:endParaRPr lang="zh-CN" altLang="en-US" sz="36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5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4</a:t>
            </a:r>
          </a:p>
        </p:txBody>
      </p:sp>
      <p:sp>
        <p:nvSpPr>
          <p:cNvPr id="5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55" name="Oval" descr="Your startup LOGO"/>
          <p:cNvSpPr>
            <a:spLocks/>
          </p:cNvSpPr>
          <p:nvPr/>
        </p:nvSpPr>
        <p:spPr>
          <a:xfrm>
            <a:off x="329773" y="25224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56" name="Image"/>
          <p:cNvPicPr>
            <a:picLocks noChangeAspect="1"/>
          </p:cNvPicPr>
          <p:nvPr/>
        </p:nvPicPr>
        <p:blipFill>
          <a:blip r:embed="rId3" cstate="print"/>
          <a:stretch>
            <a:fillRect/>
          </a:stretch>
        </p:blipFill>
        <p:spPr>
          <a:xfrm>
            <a:off x="9780086" y="1500"/>
            <a:ext cx="2249850" cy="1062337"/>
          </a:xfrm>
          <a:prstGeom prst="rect">
            <a:avLst/>
          </a:prstGeom>
          <a:noFill/>
          <a:ln w="12700" cap="flat" cmpd="sng">
            <a:noFill/>
            <a:prstDash val="solid"/>
            <a:miter/>
          </a:ln>
        </p:spPr>
      </p:pic>
      <p:sp>
        <p:nvSpPr>
          <p:cNvPr id="57" name="TextBox 56"/>
          <p:cNvSpPr txBox="1"/>
          <p:nvPr/>
        </p:nvSpPr>
        <p:spPr>
          <a:xfrm>
            <a:off x="594360" y="1115568"/>
            <a:ext cx="4572000" cy="320040"/>
          </a:xfrm>
          <a:prstGeom prst="rect">
            <a:avLst/>
          </a:prstGeom>
          <a:noFill/>
        </p:spPr>
        <p:txBody>
          <a:bodyPr wrap="square">
            <a:spAutoFit/>
          </a:bodyPr>
          <a:lstStyle/>
          <a:p>
            <a:pPr algn="l"/>
            <a:r>
              <a:rPr sz="1100" b="1">
                <a:solidFill>
                  <a:srgbClr val="224F87"/>
                </a:solidFill>
                <a:latin typeface="Aptos"/>
              </a:rPr>
              <a:t>FEASIBILITY: ENGINEERING RISKS → MITIGATION</a:t>
            </a:r>
          </a:p>
        </p:txBody>
      </p:sp>
      <p:sp>
        <p:nvSpPr>
          <p:cNvPr id="58" name="Rounded Rectangle 57"/>
          <p:cNvSpPr/>
          <p:nvPr/>
        </p:nvSpPr>
        <p:spPr>
          <a:xfrm>
            <a:off x="594360" y="1444752"/>
            <a:ext cx="2788920" cy="438912"/>
          </a:xfrm>
          <a:prstGeom prst="roundRect">
            <a:avLst/>
          </a:prstGeom>
          <a:solidFill>
            <a:srgbClr val="0B4A66"/>
          </a:solidFill>
          <a:ln w="15240">
            <a:solidFill>
              <a:srgbClr val="0B4A6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PROBLEM</a:t>
            </a:r>
          </a:p>
        </p:txBody>
      </p:sp>
      <p:sp>
        <p:nvSpPr>
          <p:cNvPr id="59" name="Rounded Rectangle 58"/>
          <p:cNvSpPr/>
          <p:nvPr/>
        </p:nvSpPr>
        <p:spPr>
          <a:xfrm>
            <a:off x="3493008" y="1444752"/>
            <a:ext cx="3703320" cy="438912"/>
          </a:xfrm>
          <a:prstGeom prst="roundRect">
            <a:avLst/>
          </a:prstGeom>
          <a:solidFill>
            <a:srgbClr val="3E6B75"/>
          </a:solidFill>
          <a:ln w="15240">
            <a:solidFill>
              <a:srgbClr val="3E6B7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SOLUTION</a:t>
            </a:r>
          </a:p>
        </p:txBody>
      </p:sp>
      <p:sp>
        <p:nvSpPr>
          <p:cNvPr id="60" name="Rounded Rectangle 59"/>
          <p:cNvSpPr/>
          <p:nvPr/>
        </p:nvSpPr>
        <p:spPr>
          <a:xfrm>
            <a:off x="7306056" y="1444752"/>
            <a:ext cx="4069080" cy="438912"/>
          </a:xfrm>
          <a:prstGeom prst="roundRect">
            <a:avLst/>
          </a:prstGeom>
          <a:solidFill>
            <a:srgbClr val="C97A1A"/>
          </a:solidFill>
          <a:ln w="15240">
            <a:solidFill>
              <a:srgbClr val="C97A1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WHY IT IS VIABLE</a:t>
            </a:r>
          </a:p>
        </p:txBody>
      </p:sp>
      <p:sp>
        <p:nvSpPr>
          <p:cNvPr id="61" name="Rounded Rectangle 60"/>
          <p:cNvSpPr/>
          <p:nvPr/>
        </p:nvSpPr>
        <p:spPr>
          <a:xfrm>
            <a:off x="594360" y="1956816"/>
            <a:ext cx="27889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50" b="1">
                <a:solidFill>
                  <a:srgbClr val="232D37"/>
                </a:solidFill>
                <a:latin typeface="Aptos"/>
              </a:rPr>
              <a:t>Remote power</a:t>
            </a:r>
          </a:p>
        </p:txBody>
      </p:sp>
      <p:sp>
        <p:nvSpPr>
          <p:cNvPr id="62" name="Rounded Rectangle 61"/>
          <p:cNvSpPr/>
          <p:nvPr/>
        </p:nvSpPr>
        <p:spPr>
          <a:xfrm>
            <a:off x="3493008" y="1956816"/>
            <a:ext cx="37033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Solar + LiFePO₄ + deep sleep + RTC scheduling</a:t>
            </a:r>
          </a:p>
        </p:txBody>
      </p:sp>
      <p:sp>
        <p:nvSpPr>
          <p:cNvPr id="63" name="Rounded Rectangle 62"/>
          <p:cNvSpPr/>
          <p:nvPr/>
        </p:nvSpPr>
        <p:spPr>
          <a:xfrm>
            <a:off x="7306056" y="1956816"/>
            <a:ext cx="406908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Low-power operation reduces maintenance.</a:t>
            </a:r>
          </a:p>
        </p:txBody>
      </p:sp>
      <p:sp>
        <p:nvSpPr>
          <p:cNvPr id="64" name="Rounded Rectangle 63"/>
          <p:cNvSpPr/>
          <p:nvPr/>
        </p:nvSpPr>
        <p:spPr>
          <a:xfrm>
            <a:off x="594360" y="2523744"/>
            <a:ext cx="278892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50" b="1">
                <a:solidFill>
                  <a:srgbClr val="232D37"/>
                </a:solidFill>
                <a:latin typeface="Aptos"/>
              </a:rPr>
              <a:t>Internet failure</a:t>
            </a:r>
          </a:p>
        </p:txBody>
      </p:sp>
      <p:sp>
        <p:nvSpPr>
          <p:cNvPr id="65" name="Rounded Rectangle 64"/>
          <p:cNvSpPr/>
          <p:nvPr/>
        </p:nvSpPr>
        <p:spPr>
          <a:xfrm>
            <a:off x="3493008" y="2523744"/>
            <a:ext cx="370332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Gateway processes and stores data locally</a:t>
            </a:r>
          </a:p>
        </p:txBody>
      </p:sp>
      <p:sp>
        <p:nvSpPr>
          <p:cNvPr id="66" name="Rounded Rectangle 65"/>
          <p:cNvSpPr/>
          <p:nvPr/>
        </p:nvSpPr>
        <p:spPr>
          <a:xfrm>
            <a:off x="7306056" y="2523744"/>
            <a:ext cx="406908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Detection and local alerts do not depend on the Internet.</a:t>
            </a:r>
          </a:p>
        </p:txBody>
      </p:sp>
      <p:sp>
        <p:nvSpPr>
          <p:cNvPr id="67" name="Rounded Rectangle 66"/>
          <p:cNvSpPr/>
          <p:nvPr/>
        </p:nvSpPr>
        <p:spPr>
          <a:xfrm>
            <a:off x="594360" y="3090672"/>
            <a:ext cx="27889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50" b="1">
                <a:solidFill>
                  <a:srgbClr val="232D37"/>
                </a:solidFill>
                <a:latin typeface="Aptos"/>
              </a:rPr>
              <a:t>Video is too heavy for LoRa</a:t>
            </a:r>
          </a:p>
        </p:txBody>
      </p:sp>
      <p:sp>
        <p:nvSpPr>
          <p:cNvPr id="68" name="Rounded Rectangle 67"/>
          <p:cNvSpPr/>
          <p:nvPr/>
        </p:nvSpPr>
        <p:spPr>
          <a:xfrm>
            <a:off x="3493008" y="3090672"/>
            <a:ext cx="37033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Camera frame processed on the node; only result + confidence sent</a:t>
            </a:r>
          </a:p>
        </p:txBody>
      </p:sp>
      <p:sp>
        <p:nvSpPr>
          <p:cNvPr id="69" name="Rounded Rectangle 68"/>
          <p:cNvSpPr/>
          <p:nvPr/>
        </p:nvSpPr>
        <p:spPr>
          <a:xfrm>
            <a:off x="7306056" y="3090672"/>
            <a:ext cx="406908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Keeps the LoRa link light and the node low-power.</a:t>
            </a:r>
          </a:p>
        </p:txBody>
      </p:sp>
      <p:sp>
        <p:nvSpPr>
          <p:cNvPr id="70" name="Rounded Rectangle 69"/>
          <p:cNvSpPr/>
          <p:nvPr/>
        </p:nvSpPr>
        <p:spPr>
          <a:xfrm>
            <a:off x="594360" y="3657600"/>
            <a:ext cx="278892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50" b="1">
                <a:solidFill>
                  <a:srgbClr val="232D37"/>
                </a:solidFill>
                <a:latin typeface="Aptos"/>
              </a:rPr>
              <a:t>False alarms from a single sensor</a:t>
            </a:r>
          </a:p>
        </p:txBody>
      </p:sp>
      <p:sp>
        <p:nvSpPr>
          <p:cNvPr id="71" name="Rounded Rectangle 70"/>
          <p:cNvSpPr/>
          <p:nvPr/>
        </p:nvSpPr>
        <p:spPr>
          <a:xfrm>
            <a:off x="3493008" y="3657600"/>
            <a:ext cx="370332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Vibration, camera, rainfall and level cross-checked with confidence levels</a:t>
            </a:r>
          </a:p>
        </p:txBody>
      </p:sp>
      <p:sp>
        <p:nvSpPr>
          <p:cNvPr id="72" name="Rounded Rectangle 71"/>
          <p:cNvSpPr/>
          <p:nvPr/>
        </p:nvSpPr>
        <p:spPr>
          <a:xfrm>
            <a:off x="7306056" y="3657600"/>
            <a:ext cx="406908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A siren fires only on agreeing, high-confidence signals.</a:t>
            </a:r>
          </a:p>
        </p:txBody>
      </p:sp>
      <p:sp>
        <p:nvSpPr>
          <p:cNvPr id="73" name="Rounded Rectangle 72"/>
          <p:cNvSpPr/>
          <p:nvPr/>
        </p:nvSpPr>
        <p:spPr>
          <a:xfrm>
            <a:off x="594360" y="4224528"/>
            <a:ext cx="27889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50" b="1">
                <a:solidFill>
                  <a:srgbClr val="232D37"/>
                </a:solidFill>
                <a:latin typeface="Aptos"/>
              </a:rPr>
              <a:t>Fast changing conditions</a:t>
            </a:r>
          </a:p>
        </p:txBody>
      </p:sp>
      <p:sp>
        <p:nvSpPr>
          <p:cNvPr id="74" name="Rounded Rectangle 73"/>
          <p:cNvSpPr/>
          <p:nvPr/>
        </p:nvSpPr>
        <p:spPr>
          <a:xfrm>
            <a:off x="3493008" y="4224528"/>
            <a:ext cx="37033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Rate of rise + adaptive sampling</a:t>
            </a:r>
          </a:p>
        </p:txBody>
      </p:sp>
      <p:sp>
        <p:nvSpPr>
          <p:cNvPr id="75" name="Rounded Rectangle 74"/>
          <p:cNvSpPr/>
          <p:nvPr/>
        </p:nvSpPr>
        <p:spPr>
          <a:xfrm>
            <a:off x="7306056" y="4224528"/>
            <a:ext cx="406908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More readings are taken when conditions change.</a:t>
            </a:r>
          </a:p>
        </p:txBody>
      </p:sp>
      <p:sp>
        <p:nvSpPr>
          <p:cNvPr id="76" name="TextBox 75"/>
          <p:cNvSpPr txBox="1"/>
          <p:nvPr/>
        </p:nvSpPr>
        <p:spPr>
          <a:xfrm>
            <a:off x="594360" y="5413248"/>
            <a:ext cx="3657600" cy="320040"/>
          </a:xfrm>
          <a:prstGeom prst="rect">
            <a:avLst/>
          </a:prstGeom>
          <a:noFill/>
        </p:spPr>
        <p:txBody>
          <a:bodyPr wrap="square">
            <a:spAutoFit/>
          </a:bodyPr>
          <a:lstStyle/>
          <a:p>
            <a:pPr algn="l"/>
            <a:r>
              <a:rPr sz="1100" b="1">
                <a:solidFill>
                  <a:srgbClr val="224F87"/>
                </a:solidFill>
                <a:latin typeface="Aptos"/>
              </a:rPr>
              <a:t>IMPLEMENTATION PATH</a:t>
            </a:r>
          </a:p>
        </p:txBody>
      </p:sp>
      <p:sp>
        <p:nvSpPr>
          <p:cNvPr id="77" name="Rounded Rectangle 76"/>
          <p:cNvSpPr/>
          <p:nvPr/>
        </p:nvSpPr>
        <p:spPr>
          <a:xfrm>
            <a:off x="594360" y="5687568"/>
            <a:ext cx="2487168" cy="475488"/>
          </a:xfrm>
          <a:prstGeom prst="roundRect">
            <a:avLst/>
          </a:prstGeom>
          <a:solidFill>
            <a:srgbClr val="FFFFFF"/>
          </a:solidFill>
          <a:ln w="15240">
            <a:solidFill>
              <a:srgbClr val="224F8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224F87"/>
                </a:solidFill>
                <a:latin typeface="Aptos"/>
              </a:rPr>
              <a:t>1  BENCH TEST</a:t>
            </a:r>
          </a:p>
        </p:txBody>
      </p:sp>
      <p:cxnSp>
        <p:nvCxnSpPr>
          <p:cNvPr id="78" name="Connector 77"/>
          <p:cNvCxnSpPr/>
          <p:nvPr/>
        </p:nvCxnSpPr>
        <p:spPr>
          <a:xfrm>
            <a:off x="3081528" y="5925312"/>
            <a:ext cx="182880" cy="0"/>
          </a:xfrm>
          <a:prstGeom prst="line">
            <a:avLst/>
          </a:prstGeom>
          <a:ln w="15240">
            <a:solidFill>
              <a:srgbClr val="586670"/>
            </a:solidFill>
          </a:ln>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3337560" y="5687568"/>
            <a:ext cx="2487168" cy="475488"/>
          </a:xfrm>
          <a:prstGeom prst="roundRect">
            <a:avLst/>
          </a:prstGeom>
          <a:solidFill>
            <a:srgbClr val="FFFFFF"/>
          </a:solidFill>
          <a:ln w="15240">
            <a:solidFill>
              <a:srgbClr val="277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277E49"/>
                </a:solidFill>
                <a:latin typeface="Aptos"/>
              </a:rPr>
              <a:t>2  FIELD NODE</a:t>
            </a:r>
          </a:p>
        </p:txBody>
      </p:sp>
      <p:cxnSp>
        <p:nvCxnSpPr>
          <p:cNvPr id="80" name="Connector 79"/>
          <p:cNvCxnSpPr/>
          <p:nvPr/>
        </p:nvCxnSpPr>
        <p:spPr>
          <a:xfrm>
            <a:off x="5824728" y="5925312"/>
            <a:ext cx="182880" cy="0"/>
          </a:xfrm>
          <a:prstGeom prst="line">
            <a:avLst/>
          </a:prstGeom>
          <a:ln w="15240">
            <a:solidFill>
              <a:srgbClr val="586670"/>
            </a:solidFill>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6080760" y="5687568"/>
            <a:ext cx="2487168" cy="475488"/>
          </a:xfrm>
          <a:prstGeom prst="roundRect">
            <a:avLst/>
          </a:prstGeom>
          <a:solidFill>
            <a:srgbClr val="FFFFFF"/>
          </a:solidFill>
          <a:ln w="15240">
            <a:solidFill>
              <a:srgbClr val="F28B2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28B27"/>
                </a:solidFill>
                <a:latin typeface="Aptos"/>
              </a:rPr>
              <a:t>3  MULTI-NODE PILOT</a:t>
            </a:r>
          </a:p>
        </p:txBody>
      </p:sp>
      <p:cxnSp>
        <p:nvCxnSpPr>
          <p:cNvPr id="82" name="Connector 81"/>
          <p:cNvCxnSpPr/>
          <p:nvPr/>
        </p:nvCxnSpPr>
        <p:spPr>
          <a:xfrm>
            <a:off x="8567928" y="5925312"/>
            <a:ext cx="182880" cy="0"/>
          </a:xfrm>
          <a:prstGeom prst="line">
            <a:avLst/>
          </a:prstGeom>
          <a:ln w="15240">
            <a:solidFill>
              <a:srgbClr val="586670"/>
            </a:solidFill>
          </a:ln>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8823960" y="5687568"/>
            <a:ext cx="2487168" cy="475488"/>
          </a:xfrm>
          <a:prstGeom prst="roundRect">
            <a:avLst/>
          </a:prstGeom>
          <a:solidFill>
            <a:srgbClr val="FFFFFF"/>
          </a:solidFill>
          <a:ln w="15240">
            <a:solidFill>
              <a:srgbClr val="BE37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BE3737"/>
                </a:solidFill>
                <a:latin typeface="Aptos"/>
              </a:rPr>
              <a:t>4  VALIDATE + SCALE</a:t>
            </a:r>
          </a:p>
        </p:txBody>
      </p:sp>
      <p:sp>
        <p:nvSpPr>
          <p:cNvPr id="200" name="Cloned 200"/>
          <p:cNvSpPr/>
          <p:nvPr/>
        </p:nvSpPr>
        <p:spPr>
          <a:xfrm>
            <a:off x="594360" y="4791456"/>
            <a:ext cx="27889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50" b="1">
                <a:solidFill>
                  <a:srgbClr val="232D37"/>
                </a:solidFill>
                <a:latin typeface="Aptos"/>
              </a:rPr>
              <a:t>Different conditions at different locations</a:t>
            </a:r>
          </a:p>
        </p:txBody>
      </p:sp>
      <p:sp>
        <p:nvSpPr>
          <p:cNvPr id="201" name="Cloned 201"/>
          <p:cNvSpPr/>
          <p:nvPr/>
        </p:nvSpPr>
        <p:spPr>
          <a:xfrm>
            <a:off x="3493008" y="4791456"/>
            <a:ext cx="37033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Multiple nodes at important locations</a:t>
            </a:r>
          </a:p>
        </p:txBody>
      </p:sp>
      <p:sp>
        <p:nvSpPr>
          <p:cNvPr id="202" name="Cloned 202"/>
          <p:cNvSpPr/>
          <p:nvPr/>
        </p:nvSpPr>
        <p:spPr>
          <a:xfrm>
            <a:off x="7306056" y="4791456"/>
            <a:ext cx="406908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Risk can be checked zone by zone.</a:t>
            </a:r>
          </a:p>
        </p:txBody>
      </p:sp>
    </p:spTree>
    <p:extLst>
      <p:ext uri="{BB962C8B-B14F-4D97-AF65-F5344CB8AC3E}">
        <p14:creationId xmlns:p14="http://schemas.microsoft.com/office/powerpoint/2010/main" val="617942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61"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eaLnBrk="1" hangingPunct="1">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ＭＳ Ｐゴシック" pitchFamily="1" charset="-128"/>
                <a:cs typeface="Times New Roman" pitchFamily="18" charset="0"/>
              </a:rPr>
              <a:t>IMPACT AND BENEFITS</a:t>
            </a:r>
            <a:endParaRPr lang="zh-CN" altLang="en-US" sz="36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6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5</a:t>
            </a:r>
          </a:p>
        </p:txBody>
      </p:sp>
      <p:sp>
        <p:nvSpPr>
          <p:cNvPr id="6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65" name="Oval" descr="Your startup LOGO"/>
          <p:cNvSpPr>
            <a:spLocks/>
          </p:cNvSpPr>
          <p:nvPr/>
        </p:nvSpPr>
        <p:spPr>
          <a:xfrm>
            <a:off x="329773" y="25224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66" name="Image"/>
          <p:cNvPicPr>
            <a:picLocks noChangeAspect="1"/>
          </p:cNvPicPr>
          <p:nvPr/>
        </p:nvPicPr>
        <p:blipFill>
          <a:blip r:embed="rId3" cstate="print"/>
          <a:stretch>
            <a:fillRect/>
          </a:stretch>
        </p:blipFill>
        <p:spPr>
          <a:xfrm>
            <a:off x="9780086" y="1500"/>
            <a:ext cx="2249850" cy="1062337"/>
          </a:xfrm>
          <a:prstGeom prst="rect">
            <a:avLst/>
          </a:prstGeom>
          <a:noFill/>
          <a:ln w="12700" cap="flat" cmpd="sng">
            <a:noFill/>
            <a:prstDash val="solid"/>
            <a:miter/>
          </a:ln>
        </p:spPr>
      </p:pic>
      <p:sp>
        <p:nvSpPr>
          <p:cNvPr id="67" name="TextBox 66"/>
          <p:cNvSpPr txBox="1"/>
          <p:nvPr/>
        </p:nvSpPr>
        <p:spPr>
          <a:xfrm>
            <a:off x="3170412" y="955983"/>
            <a:ext cx="6162138" cy="461665"/>
          </a:xfrm>
          <a:prstGeom prst="rect">
            <a:avLst/>
          </a:prstGeom>
          <a:noFill/>
        </p:spPr>
        <p:txBody>
          <a:bodyPr wrap="square">
            <a:spAutoFit/>
          </a:bodyPr>
          <a:lstStyle/>
          <a:p>
            <a:pPr algn="l"/>
            <a:r>
              <a:rPr sz="2400" b="1" u="sng" dirty="0">
                <a:solidFill>
                  <a:srgbClr val="224F87"/>
                </a:solidFill>
                <a:latin typeface="Aptos"/>
              </a:rPr>
              <a:t>IMPACT ON DISASTER PREPAREDNESS</a:t>
            </a:r>
          </a:p>
        </p:txBody>
      </p:sp>
      <p:sp>
        <p:nvSpPr>
          <p:cNvPr id="75" name="Rounded Rectangle 74"/>
          <p:cNvSpPr/>
          <p:nvPr/>
        </p:nvSpPr>
        <p:spPr>
          <a:xfrm>
            <a:off x="594360" y="1536192"/>
            <a:ext cx="3401568" cy="1554480"/>
          </a:xfrm>
          <a:prstGeom prst="roundRect">
            <a:avLst/>
          </a:prstGeom>
          <a:solidFill>
            <a:srgbClr val="FFFFFF"/>
          </a:solidFill>
          <a:ln w="15240">
            <a:solidFill>
              <a:srgbClr val="224F87"/>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76" name="TextBox 75"/>
          <p:cNvSpPr txBox="1"/>
          <p:nvPr/>
        </p:nvSpPr>
        <p:spPr>
          <a:xfrm>
            <a:off x="758952" y="1664207"/>
            <a:ext cx="3108960" cy="256032"/>
          </a:xfrm>
          <a:prstGeom prst="rect">
            <a:avLst/>
          </a:prstGeom>
          <a:noFill/>
        </p:spPr>
        <p:txBody>
          <a:bodyPr wrap="square">
            <a:spAutoFit/>
          </a:bodyPr>
          <a:lstStyle/>
          <a:p>
            <a:pPr algn="l"/>
            <a:r>
              <a:rPr sz="980" b="1">
                <a:solidFill>
                  <a:srgbClr val="224F87"/>
                </a:solidFill>
                <a:latin typeface="Aptos"/>
              </a:rPr>
              <a:t>EARLIER LOCAL WARNING</a:t>
            </a:r>
          </a:p>
        </p:txBody>
      </p:sp>
      <p:sp>
        <p:nvSpPr>
          <p:cNvPr id="77" name="TextBox 76"/>
          <p:cNvSpPr txBox="1"/>
          <p:nvPr/>
        </p:nvSpPr>
        <p:spPr>
          <a:xfrm>
            <a:off x="758952" y="2011680"/>
            <a:ext cx="3090672" cy="1005840"/>
          </a:xfrm>
          <a:prstGeom prst="rect">
            <a:avLst/>
          </a:prstGeom>
          <a:noFill/>
        </p:spPr>
        <p:txBody>
          <a:bodyPr wrap="square" lIns="0" tIns="0" rIns="36576" bIns="0"/>
          <a:lstStyle/>
          <a:p>
            <a:pPr algn="l">
              <a:spcAft>
                <a:spcPts val="300"/>
              </a:spcAft>
            </a:pPr>
            <a:r>
              <a:rPr sz="1100" b="0" u="none" dirty="0">
                <a:solidFill>
                  <a:srgbClr val="1E2A2E"/>
                </a:solidFill>
                <a:latin typeface="Calibri"/>
              </a:rPr>
              <a:t>•  Rain, water level, vibration and camera watched together.</a:t>
            </a:r>
          </a:p>
          <a:p>
            <a:pPr algn="l">
              <a:spcAft>
                <a:spcPts val="300"/>
              </a:spcAft>
            </a:pPr>
            <a:r>
              <a:rPr sz="1100" b="0" u="none" dirty="0">
                <a:solidFill>
                  <a:srgbClr val="1E2A2E"/>
                </a:solidFill>
                <a:latin typeface="Calibri"/>
              </a:rPr>
              <a:t>•  Flash-flood signs can be caught before the water arrives.</a:t>
            </a:r>
          </a:p>
        </p:txBody>
      </p:sp>
      <p:sp>
        <p:nvSpPr>
          <p:cNvPr id="78" name="Rounded Rectangle 77"/>
          <p:cNvSpPr/>
          <p:nvPr/>
        </p:nvSpPr>
        <p:spPr>
          <a:xfrm>
            <a:off x="4251960" y="1536192"/>
            <a:ext cx="3401568" cy="1554480"/>
          </a:xfrm>
          <a:prstGeom prst="roundRect">
            <a:avLst/>
          </a:prstGeom>
          <a:solidFill>
            <a:srgbClr val="FFFFFF"/>
          </a:solidFill>
          <a:ln w="15240">
            <a:solidFill>
              <a:srgbClr val="277E49"/>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79" name="TextBox 78"/>
          <p:cNvSpPr txBox="1"/>
          <p:nvPr/>
        </p:nvSpPr>
        <p:spPr>
          <a:xfrm>
            <a:off x="4416552" y="1664207"/>
            <a:ext cx="3108960" cy="256032"/>
          </a:xfrm>
          <a:prstGeom prst="rect">
            <a:avLst/>
          </a:prstGeom>
          <a:noFill/>
        </p:spPr>
        <p:txBody>
          <a:bodyPr wrap="square">
            <a:spAutoFit/>
          </a:bodyPr>
          <a:lstStyle/>
          <a:p>
            <a:pPr algn="l"/>
            <a:r>
              <a:rPr sz="980" b="1" dirty="0">
                <a:solidFill>
                  <a:srgbClr val="277E49"/>
                </a:solidFill>
                <a:latin typeface="Aptos"/>
              </a:rPr>
              <a:t>ZONE-WISE RISK</a:t>
            </a:r>
          </a:p>
        </p:txBody>
      </p:sp>
      <p:sp>
        <p:nvSpPr>
          <p:cNvPr id="80" name="TextBox 79"/>
          <p:cNvSpPr txBox="1"/>
          <p:nvPr/>
        </p:nvSpPr>
        <p:spPr>
          <a:xfrm>
            <a:off x="4416552" y="2011680"/>
            <a:ext cx="3090672" cy="1005840"/>
          </a:xfrm>
          <a:prstGeom prst="rect">
            <a:avLst/>
          </a:prstGeom>
          <a:noFill/>
        </p:spPr>
        <p:txBody>
          <a:bodyPr wrap="square" lIns="0" tIns="0" rIns="36576" bIns="0"/>
          <a:lstStyle/>
          <a:p>
            <a:pPr algn="l">
              <a:spcAft>
                <a:spcPts val="300"/>
              </a:spcAft>
            </a:pPr>
            <a:r>
              <a:rPr sz="1100" b="0" u="none" dirty="0">
                <a:solidFill>
                  <a:srgbClr val="1E2A2E"/>
                </a:solidFill>
                <a:latin typeface="Calibri"/>
              </a:rPr>
              <a:t>•  Shows where the risk is actually increasing.</a:t>
            </a:r>
          </a:p>
          <a:p>
            <a:pPr algn="l">
              <a:spcAft>
                <a:spcPts val="300"/>
              </a:spcAft>
            </a:pPr>
            <a:r>
              <a:rPr sz="1100" b="0" u="none" dirty="0">
                <a:solidFill>
                  <a:srgbClr val="1E2A2E"/>
                </a:solidFill>
                <a:latin typeface="Calibri"/>
              </a:rPr>
              <a:t>•  Avoids treating the whole region as one risk zone.</a:t>
            </a:r>
          </a:p>
        </p:txBody>
      </p:sp>
      <p:sp>
        <p:nvSpPr>
          <p:cNvPr id="81" name="Rounded Rectangle 80"/>
          <p:cNvSpPr/>
          <p:nvPr/>
        </p:nvSpPr>
        <p:spPr>
          <a:xfrm>
            <a:off x="7909560" y="1536192"/>
            <a:ext cx="3401568" cy="1554480"/>
          </a:xfrm>
          <a:prstGeom prst="roundRect">
            <a:avLst/>
          </a:prstGeom>
          <a:solidFill>
            <a:srgbClr val="FFFFFF"/>
          </a:solidFill>
          <a:ln w="15240">
            <a:solidFill>
              <a:srgbClr val="F28B27"/>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82" name="TextBox 81"/>
          <p:cNvSpPr txBox="1"/>
          <p:nvPr/>
        </p:nvSpPr>
        <p:spPr>
          <a:xfrm>
            <a:off x="8074152" y="1664207"/>
            <a:ext cx="3108960" cy="256032"/>
          </a:xfrm>
          <a:prstGeom prst="rect">
            <a:avLst/>
          </a:prstGeom>
          <a:noFill/>
        </p:spPr>
        <p:txBody>
          <a:bodyPr wrap="square">
            <a:spAutoFit/>
          </a:bodyPr>
          <a:lstStyle/>
          <a:p>
            <a:pPr algn="l"/>
            <a:r>
              <a:rPr sz="980" b="1">
                <a:solidFill>
                  <a:srgbClr val="F28B27"/>
                </a:solidFill>
                <a:latin typeface="Aptos"/>
              </a:rPr>
              <a:t>COOPERATIVE ALERTS</a:t>
            </a:r>
          </a:p>
        </p:txBody>
      </p:sp>
      <p:sp>
        <p:nvSpPr>
          <p:cNvPr id="83" name="TextBox 82"/>
          <p:cNvSpPr txBox="1"/>
          <p:nvPr/>
        </p:nvSpPr>
        <p:spPr>
          <a:xfrm>
            <a:off x="8074152" y="2011680"/>
            <a:ext cx="3090672" cy="1005840"/>
          </a:xfrm>
          <a:prstGeom prst="rect">
            <a:avLst/>
          </a:prstGeom>
          <a:noFill/>
        </p:spPr>
        <p:txBody>
          <a:bodyPr wrap="square" lIns="0" tIns="0" rIns="36576" bIns="0"/>
          <a:lstStyle/>
          <a:p>
            <a:pPr algn="l">
              <a:spcAft>
                <a:spcPts val="300"/>
              </a:spcAft>
            </a:pPr>
            <a:r>
              <a:rPr sz="1100" b="0" u="none" dirty="0">
                <a:solidFill>
                  <a:srgbClr val="1E2A2E"/>
                </a:solidFill>
                <a:latin typeface="Calibri"/>
              </a:rPr>
              <a:t>•  Upstream risk triggers increased monitoring downstream.</a:t>
            </a:r>
          </a:p>
          <a:p>
            <a:pPr algn="l">
              <a:spcAft>
                <a:spcPts val="300"/>
              </a:spcAft>
            </a:pPr>
            <a:r>
              <a:rPr sz="1100" b="0" u="none" dirty="0">
                <a:solidFill>
                  <a:srgbClr val="1E2A2E"/>
                </a:solidFill>
                <a:latin typeface="Calibri"/>
              </a:rPr>
              <a:t>•  Confirmed risk is passed on to the next zone.</a:t>
            </a:r>
          </a:p>
        </p:txBody>
      </p:sp>
      <p:sp>
        <p:nvSpPr>
          <p:cNvPr id="84" name="Rounded Rectangle 83"/>
          <p:cNvSpPr/>
          <p:nvPr/>
        </p:nvSpPr>
        <p:spPr>
          <a:xfrm>
            <a:off x="594360" y="3547872"/>
            <a:ext cx="3401568" cy="1554480"/>
          </a:xfrm>
          <a:prstGeom prst="roundRect">
            <a:avLst/>
          </a:prstGeom>
          <a:solidFill>
            <a:srgbClr val="FFFFFF"/>
          </a:solidFill>
          <a:ln w="15240">
            <a:solidFill>
              <a:srgbClr val="224F87"/>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85" name="TextBox 84"/>
          <p:cNvSpPr txBox="1"/>
          <p:nvPr/>
        </p:nvSpPr>
        <p:spPr>
          <a:xfrm>
            <a:off x="758952" y="3675887"/>
            <a:ext cx="3108960" cy="256032"/>
          </a:xfrm>
          <a:prstGeom prst="rect">
            <a:avLst/>
          </a:prstGeom>
          <a:noFill/>
        </p:spPr>
        <p:txBody>
          <a:bodyPr wrap="square">
            <a:spAutoFit/>
          </a:bodyPr>
          <a:lstStyle/>
          <a:p>
            <a:pPr algn="l"/>
            <a:r>
              <a:rPr sz="980" b="1">
                <a:solidFill>
                  <a:srgbClr val="224F87"/>
                </a:solidFill>
                <a:latin typeface="Aptos"/>
              </a:rPr>
              <a:t>WORKS WITHOUT INTERNET</a:t>
            </a:r>
          </a:p>
        </p:txBody>
      </p:sp>
      <p:sp>
        <p:nvSpPr>
          <p:cNvPr id="86" name="TextBox 85"/>
          <p:cNvSpPr txBox="1"/>
          <p:nvPr/>
        </p:nvSpPr>
        <p:spPr>
          <a:xfrm>
            <a:off x="758952" y="4023360"/>
            <a:ext cx="3090672" cy="1005840"/>
          </a:xfrm>
          <a:prstGeom prst="rect">
            <a:avLst/>
          </a:prstGeom>
          <a:noFill/>
        </p:spPr>
        <p:txBody>
          <a:bodyPr wrap="square" lIns="0" tIns="0" rIns="36576" bIns="0"/>
          <a:lstStyle/>
          <a:p>
            <a:pPr algn="l">
              <a:spcAft>
                <a:spcPts val="300"/>
              </a:spcAft>
            </a:pPr>
            <a:r>
              <a:rPr sz="1100" b="0" u="none" dirty="0">
                <a:solidFill>
                  <a:srgbClr val="1E2A2E"/>
                </a:solidFill>
                <a:latin typeface="Calibri"/>
              </a:rPr>
              <a:t>•  Gateway continues local monitoring.</a:t>
            </a:r>
          </a:p>
          <a:p>
            <a:pPr algn="l">
              <a:spcAft>
                <a:spcPts val="300"/>
              </a:spcAft>
            </a:pPr>
            <a:r>
              <a:rPr sz="1100" b="0" u="none" dirty="0">
                <a:solidFill>
                  <a:srgbClr val="1E2A2E"/>
                </a:solidFill>
                <a:latin typeface="Calibri"/>
              </a:rPr>
              <a:t>•  Camera inference runs on the node, not in the cloud.</a:t>
            </a:r>
          </a:p>
        </p:txBody>
      </p:sp>
      <p:sp>
        <p:nvSpPr>
          <p:cNvPr id="87" name="Rounded Rectangle 86"/>
          <p:cNvSpPr/>
          <p:nvPr/>
        </p:nvSpPr>
        <p:spPr>
          <a:xfrm>
            <a:off x="4251960" y="3547872"/>
            <a:ext cx="3401568" cy="1554480"/>
          </a:xfrm>
          <a:prstGeom prst="roundRect">
            <a:avLst/>
          </a:prstGeom>
          <a:solidFill>
            <a:srgbClr val="FFFFFF"/>
          </a:solidFill>
          <a:ln w="15240">
            <a:solidFill>
              <a:srgbClr val="277E49"/>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88" name="TextBox 87"/>
          <p:cNvSpPr txBox="1"/>
          <p:nvPr/>
        </p:nvSpPr>
        <p:spPr>
          <a:xfrm>
            <a:off x="4416552" y="3675887"/>
            <a:ext cx="3108960" cy="256032"/>
          </a:xfrm>
          <a:prstGeom prst="rect">
            <a:avLst/>
          </a:prstGeom>
          <a:noFill/>
        </p:spPr>
        <p:txBody>
          <a:bodyPr wrap="square">
            <a:spAutoFit/>
          </a:bodyPr>
          <a:lstStyle/>
          <a:p>
            <a:pPr algn="l"/>
            <a:r>
              <a:rPr sz="980" b="1">
                <a:solidFill>
                  <a:srgbClr val="277E49"/>
                </a:solidFill>
                <a:latin typeface="Aptos"/>
              </a:rPr>
              <a:t>FEWER FALSE ALARMS</a:t>
            </a:r>
          </a:p>
        </p:txBody>
      </p:sp>
      <p:sp>
        <p:nvSpPr>
          <p:cNvPr id="89" name="TextBox 88"/>
          <p:cNvSpPr txBox="1"/>
          <p:nvPr/>
        </p:nvSpPr>
        <p:spPr>
          <a:xfrm>
            <a:off x="4416552" y="4023360"/>
            <a:ext cx="3090672" cy="1005840"/>
          </a:xfrm>
          <a:prstGeom prst="rect">
            <a:avLst/>
          </a:prstGeom>
          <a:noFill/>
        </p:spPr>
        <p:txBody>
          <a:bodyPr wrap="square" lIns="0" tIns="0" rIns="36576" bIns="0"/>
          <a:lstStyle/>
          <a:p>
            <a:pPr algn="l">
              <a:spcAft>
                <a:spcPts val="300"/>
              </a:spcAft>
            </a:pPr>
            <a:r>
              <a:rPr sz="1100" b="0" u="none" dirty="0">
                <a:solidFill>
                  <a:srgbClr val="1E2A2E"/>
                </a:solidFill>
                <a:latin typeface="Calibri"/>
              </a:rPr>
              <a:t>•  Every result carries a high / medium / low confidence.</a:t>
            </a:r>
          </a:p>
          <a:p>
            <a:pPr algn="l">
              <a:spcAft>
                <a:spcPts val="300"/>
              </a:spcAft>
            </a:pPr>
            <a:r>
              <a:rPr sz="1100" b="0" u="none" dirty="0">
                <a:solidFill>
                  <a:srgbClr val="1E2A2E"/>
                </a:solidFill>
                <a:latin typeface="Calibri"/>
              </a:rPr>
              <a:t>•  Sirens fire only when signals agree.</a:t>
            </a:r>
          </a:p>
        </p:txBody>
      </p:sp>
      <p:sp>
        <p:nvSpPr>
          <p:cNvPr id="90" name="Rounded Rectangle 89"/>
          <p:cNvSpPr/>
          <p:nvPr/>
        </p:nvSpPr>
        <p:spPr>
          <a:xfrm>
            <a:off x="7909560" y="3547872"/>
            <a:ext cx="3401568" cy="1554480"/>
          </a:xfrm>
          <a:prstGeom prst="roundRect">
            <a:avLst/>
          </a:prstGeom>
          <a:solidFill>
            <a:srgbClr val="FFFFFF"/>
          </a:solidFill>
          <a:ln w="15240">
            <a:solidFill>
              <a:srgbClr val="F28B27"/>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91" name="TextBox 90"/>
          <p:cNvSpPr txBox="1"/>
          <p:nvPr/>
        </p:nvSpPr>
        <p:spPr>
          <a:xfrm>
            <a:off x="8074152" y="3675887"/>
            <a:ext cx="3108960" cy="256032"/>
          </a:xfrm>
          <a:prstGeom prst="rect">
            <a:avLst/>
          </a:prstGeom>
          <a:noFill/>
        </p:spPr>
        <p:txBody>
          <a:bodyPr wrap="square">
            <a:spAutoFit/>
          </a:bodyPr>
          <a:lstStyle/>
          <a:p>
            <a:pPr algn="l"/>
            <a:r>
              <a:rPr sz="980" b="1">
                <a:solidFill>
                  <a:srgbClr val="F28B27"/>
                </a:solidFill>
                <a:latin typeface="Aptos"/>
              </a:rPr>
              <a:t>BETTER RESPONSE</a:t>
            </a:r>
          </a:p>
        </p:txBody>
      </p:sp>
      <p:sp>
        <p:nvSpPr>
          <p:cNvPr id="92" name="TextBox 91"/>
          <p:cNvSpPr txBox="1"/>
          <p:nvPr/>
        </p:nvSpPr>
        <p:spPr>
          <a:xfrm>
            <a:off x="8074152" y="4023360"/>
            <a:ext cx="3090672" cy="1005840"/>
          </a:xfrm>
          <a:prstGeom prst="rect">
            <a:avLst/>
          </a:prstGeom>
          <a:noFill/>
        </p:spPr>
        <p:txBody>
          <a:bodyPr wrap="square" lIns="0" tIns="0" rIns="36576" bIns="0"/>
          <a:lstStyle/>
          <a:p>
            <a:pPr algn="l">
              <a:spcAft>
                <a:spcPts val="300"/>
              </a:spcAft>
            </a:pPr>
            <a:r>
              <a:rPr sz="1100" b="0" u="none" dirty="0">
                <a:solidFill>
                  <a:srgbClr val="1E2A2E"/>
                </a:solidFill>
                <a:latin typeface="Calibri"/>
              </a:rPr>
              <a:t>•  Sensor status, zone risk and siren control in one place</a:t>
            </a:r>
            <a:r>
              <a:rPr lang="en-IN" sz="1100" b="0" u="none" dirty="0">
                <a:solidFill>
                  <a:srgbClr val="1E2A2E"/>
                </a:solidFill>
                <a:latin typeface="Calibri"/>
              </a:rPr>
              <a:t> at Authorities Dashboard</a:t>
            </a:r>
            <a:r>
              <a:rPr sz="1100" b="0" u="none" dirty="0">
                <a:solidFill>
                  <a:srgbClr val="1E2A2E"/>
                </a:solidFill>
                <a:latin typeface="Calibri"/>
              </a:rPr>
              <a:t>.</a:t>
            </a:r>
          </a:p>
          <a:p>
            <a:pPr algn="l">
              <a:spcAft>
                <a:spcPts val="300"/>
              </a:spcAft>
            </a:pPr>
            <a:r>
              <a:rPr sz="1100" b="0" u="none" dirty="0">
                <a:solidFill>
                  <a:srgbClr val="1E2A2E"/>
                </a:solidFill>
                <a:latin typeface="Calibri"/>
              </a:rPr>
              <a:t>•  Authorities can act on what is happening in each zone</a:t>
            </a:r>
            <a:r>
              <a:rPr lang="en-IN" sz="1100" b="0" u="none" dirty="0">
                <a:solidFill>
                  <a:srgbClr val="1E2A2E"/>
                </a:solidFill>
                <a:latin typeface="Calibri"/>
              </a:rPr>
              <a:t> based on data shown on their dashboard</a:t>
            </a:r>
            <a:r>
              <a:rPr sz="1100" b="0" u="none" dirty="0">
                <a:solidFill>
                  <a:srgbClr val="1E2A2E"/>
                </a:solidFill>
                <a:latin typeface="Calibri"/>
              </a:rPr>
              <a:t>.</a:t>
            </a:r>
            <a:endParaRPr lang="en-IN" sz="1100" b="0" u="none" dirty="0">
              <a:solidFill>
                <a:srgbClr val="1E2A2E"/>
              </a:solidFill>
              <a:latin typeface="Calibri"/>
            </a:endParaRPr>
          </a:p>
          <a:p>
            <a:pPr algn="l">
              <a:spcAft>
                <a:spcPts val="300"/>
              </a:spcAft>
            </a:pPr>
            <a:endParaRPr sz="1100" b="0" u="none" dirty="0">
              <a:solidFill>
                <a:srgbClr val="1E2A2E"/>
              </a:solidFill>
              <a:latin typeface="Calibri"/>
            </a:endParaRPr>
          </a:p>
        </p:txBody>
      </p:sp>
      <p:sp>
        <p:nvSpPr>
          <p:cNvPr id="93" name="Rounded Rectangle 92"/>
          <p:cNvSpPr/>
          <p:nvPr/>
        </p:nvSpPr>
        <p:spPr>
          <a:xfrm>
            <a:off x="594360" y="5504688"/>
            <a:ext cx="10716768" cy="566928"/>
          </a:xfrm>
          <a:prstGeom prst="roundRect">
            <a:avLst>
              <a:gd name="adj" fmla="val 8000"/>
            </a:avLst>
          </a:prstGeom>
          <a:solidFill>
            <a:srgbClr val="C97A1A"/>
          </a:solidFill>
          <a:ln w="15240">
            <a:solidFill>
              <a:srgbClr val="C97A1A"/>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spcAft>
                <a:spcPts val="300"/>
              </a:spcAft>
            </a:pPr>
            <a:r>
              <a:rPr sz="1400" b="1" u="none">
                <a:solidFill>
                  <a:srgbClr val="FFFFFF"/>
                </a:solidFill>
                <a:latin typeface="Calibri"/>
              </a:rPr>
              <a:t>Rainfall + Level + Vibration + Camera  →  Rate of Rise  →  Local Risk  →  Downstream Warning  →  Local Action</a:t>
            </a:r>
          </a:p>
        </p:txBody>
      </p:sp>
    </p:spTree>
    <p:extLst>
      <p:ext uri="{BB962C8B-B14F-4D97-AF65-F5344CB8AC3E}">
        <p14:creationId xmlns:p14="http://schemas.microsoft.com/office/powerpoint/2010/main" val="47601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71"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eaLnBrk="1" hangingPunct="1">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ＭＳ Ｐゴシック" pitchFamily="1" charset="-128"/>
                <a:cs typeface="Times New Roman" pitchFamily="18" charset="0"/>
              </a:rPr>
              <a:t>RESEARCH  AND REFERENCES</a:t>
            </a:r>
            <a:endParaRPr lang="zh-CN" altLang="en-US" sz="36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7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6</a:t>
            </a:r>
          </a:p>
        </p:txBody>
      </p:sp>
      <p:sp>
        <p:nvSpPr>
          <p:cNvPr id="7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75" name="Oval" descr="Your startup LOGO"/>
          <p:cNvSpPr>
            <a:spLocks/>
          </p:cNvSpPr>
          <p:nvPr/>
        </p:nvSpPr>
        <p:spPr>
          <a:xfrm>
            <a:off x="329773" y="25224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76" name="Image"/>
          <p:cNvPicPr>
            <a:picLocks noChangeAspect="1"/>
          </p:cNvPicPr>
          <p:nvPr/>
        </p:nvPicPr>
        <p:blipFill>
          <a:blip r:embed="rId3" cstate="print"/>
          <a:stretch>
            <a:fillRect/>
          </a:stretch>
        </p:blipFill>
        <p:spPr>
          <a:xfrm>
            <a:off x="9780086" y="1500"/>
            <a:ext cx="2249850" cy="1062337"/>
          </a:xfrm>
          <a:prstGeom prst="rect">
            <a:avLst/>
          </a:prstGeom>
          <a:noFill/>
          <a:ln w="12700" cap="flat" cmpd="sng">
            <a:noFill/>
            <a:prstDash val="solid"/>
            <a:miter/>
          </a:ln>
        </p:spPr>
      </p:pic>
      <p:sp>
        <p:nvSpPr>
          <p:cNvPr id="93" name="TextBox 92"/>
          <p:cNvSpPr txBox="1"/>
          <p:nvPr/>
        </p:nvSpPr>
        <p:spPr>
          <a:xfrm>
            <a:off x="667512" y="5833872"/>
            <a:ext cx="11009376" cy="378565"/>
          </a:xfrm>
          <a:prstGeom prst="rect">
            <a:avLst/>
          </a:prstGeom>
          <a:noFill/>
        </p:spPr>
        <p:txBody>
          <a:bodyPr wrap="square">
            <a:spAutoFit/>
          </a:bodyPr>
          <a:lstStyle/>
          <a:p>
            <a:pPr algn="ctr"/>
            <a:r>
              <a:rPr lang="en-US" sz="930" b="1" dirty="0">
                <a:solidFill>
                  <a:srgbClr val="586670"/>
                </a:solidFill>
                <a:latin typeface="Aptos"/>
              </a:rPr>
              <a:t>The research sources provide the basis for flood monitoring and early warning.</a:t>
            </a:r>
          </a:p>
          <a:p>
            <a:pPr algn="ctr"/>
            <a:r>
              <a:rPr lang="en-US" sz="930" b="1" dirty="0">
                <a:solidFill>
                  <a:srgbClr val="586670"/>
                </a:solidFill>
                <a:latin typeface="Aptos"/>
              </a:rPr>
              <a:t>Zone coordination, adaptive sampling, on-node camera inference and local risk logic are proposed VE GA features.</a:t>
            </a:r>
          </a:p>
        </p:txBody>
      </p:sp>
      <p:sp>
        <p:nvSpPr>
          <p:cNvPr id="94" name="TextBox 93"/>
          <p:cNvSpPr txBox="1"/>
          <p:nvPr/>
        </p:nvSpPr>
        <p:spPr>
          <a:xfrm>
            <a:off x="594360" y="927523"/>
            <a:ext cx="11155680" cy="320040"/>
          </a:xfrm>
          <a:prstGeom prst="rect">
            <a:avLst/>
          </a:prstGeom>
          <a:noFill/>
        </p:spPr>
        <p:txBody>
          <a:bodyPr wrap="square">
            <a:spAutoFit/>
          </a:bodyPr>
          <a:lstStyle/>
          <a:p>
            <a:pPr algn="ctr"/>
            <a:r>
              <a:rPr sz="1400" b="1" dirty="0">
                <a:solidFill>
                  <a:srgbClr val="23466E"/>
                </a:solidFill>
                <a:latin typeface="Arial"/>
              </a:rPr>
              <a:t>SOURCE LINKS — RESEARCH, ARCHITECTURE &amp; COMPONENT REFERENCES</a:t>
            </a:r>
          </a:p>
        </p:txBody>
      </p:sp>
      <p:sp>
        <p:nvSpPr>
          <p:cNvPr id="95" name="TextBox 94"/>
          <p:cNvSpPr txBox="1"/>
          <p:nvPr/>
        </p:nvSpPr>
        <p:spPr>
          <a:xfrm>
            <a:off x="850392" y="1389888"/>
            <a:ext cx="4663440" cy="3498394"/>
          </a:xfrm>
          <a:prstGeom prst="rect">
            <a:avLst/>
          </a:prstGeom>
          <a:noFill/>
        </p:spPr>
        <p:txBody>
          <a:bodyPr wrap="square">
            <a:spAutoFit/>
          </a:bodyPr>
          <a:lstStyle/>
          <a:p>
            <a:pPr algn="ctr"/>
            <a:r>
              <a:rPr sz="1400" b="1" dirty="0">
                <a:solidFill>
                  <a:srgbClr val="23466E"/>
                </a:solidFill>
                <a:latin typeface="Arial"/>
              </a:rPr>
              <a:t>RESEARCH / SYSTEM BASIS</a:t>
            </a:r>
            <a:endParaRPr lang="en-US" sz="1400" u="sng" dirty="0">
              <a:solidFill>
                <a:srgbClr val="1E5AA0"/>
              </a:solidFill>
              <a:latin typeface="Arial"/>
              <a:hlinkClick r:id="rId4"/>
            </a:endParaRPr>
          </a:p>
          <a:p>
            <a:pPr lvl="1">
              <a:spcBef>
                <a:spcPts val="200"/>
              </a:spcBef>
            </a:pPr>
            <a:endParaRPr lang="en-US" sz="1000" dirty="0">
              <a:solidFill>
                <a:srgbClr val="1E5AA0"/>
              </a:solidFill>
              <a:latin typeface="Aptos Display" panose="020B0004020202020204" pitchFamily="34" charset="0"/>
              <a:hlinkClick r:id="rId4"/>
            </a:endParaRP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WMO — Flash Flood Guidance System (FFGS)</a:t>
            </a: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Flash-flood monitoring and rainfall-based guidance</a:t>
            </a:r>
          </a:p>
          <a:p>
            <a:pPr lvl="2">
              <a:spcBef>
                <a:spcPts val="200"/>
              </a:spcBef>
            </a:pPr>
            <a:r>
              <a:rPr lang="en-US" sz="800" dirty="0">
                <a:solidFill>
                  <a:srgbClr val="5E8CC3"/>
                </a:solidFill>
                <a:latin typeface="Aptos Display" panose="020B0004020202020204" pitchFamily="34" charset="0"/>
                <a:hlinkClick r:id="rId4">
                  <a:extLst>
                    <a:ext uri="{A12FA001-AC4F-418D-AE19-62706E023703}">
                      <ahyp:hlinkClr xmlns:ahyp="http://schemas.microsoft.com/office/drawing/2018/hyperlinkcolor" val="tx"/>
                    </a:ext>
                  </a:extLst>
                </a:hlinkClick>
              </a:rPr>
              <a:t>  https://wmo.int/projects/ffgs</a:t>
            </a:r>
          </a:p>
          <a:p>
            <a:pPr lvl="2">
              <a:spcBef>
                <a:spcPts val="200"/>
              </a:spcBef>
            </a:pPr>
            <a:endParaRPr lang="en-US" sz="1000" dirty="0">
              <a:solidFill>
                <a:srgbClr val="1E5AA0"/>
              </a:solidFill>
              <a:latin typeface="Aptos Display" panose="020B0004020202020204" pitchFamily="34" charset="0"/>
              <a:hlinkClick r:id="rId4"/>
            </a:endParaRP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WMO — Early Warnings for All</a:t>
            </a: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Early warning and response framework</a:t>
            </a:r>
          </a:p>
          <a:p>
            <a:pPr lvl="2">
              <a:spcBef>
                <a:spcPts val="200"/>
              </a:spcBef>
            </a:pPr>
            <a:r>
              <a:rPr lang="en-US" sz="800" dirty="0">
                <a:solidFill>
                  <a:srgbClr val="0000FF"/>
                </a:solidFill>
                <a:latin typeface="Aptos Display" panose="020B0004020202020204" pitchFamily="34" charset="0"/>
                <a:hlinkClick r:id="rId4">
                  <a:extLst>
                    <a:ext uri="{A12FA001-AC4F-418D-AE19-62706E023703}">
                      <ahyp:hlinkClr xmlns:ahyp="http://schemas.microsoft.com/office/drawing/2018/hyperlinkcolor" val="tx"/>
                    </a:ext>
                  </a:extLst>
                </a:hlinkClick>
              </a:rPr>
              <a:t>  </a:t>
            </a:r>
            <a:r>
              <a:rPr lang="en-US" sz="800" dirty="0">
                <a:solidFill>
                  <a:srgbClr val="5E8CC3"/>
                </a:solidFill>
                <a:latin typeface="Aptos Display" panose="020B0004020202020204" pitchFamily="34" charset="0"/>
                <a:hlinkClick r:id="rId4">
                  <a:extLst>
                    <a:ext uri="{A12FA001-AC4F-418D-AE19-62706E023703}">
                      <ahyp:hlinkClr xmlns:ahyp="http://schemas.microsoft.com/office/drawing/2018/hyperlinkcolor" val="tx"/>
                    </a:ext>
                  </a:extLst>
                </a:hlinkClick>
              </a:rPr>
              <a:t>https://wmo.int/all-activities/build-resilience/early-warnings-all</a:t>
            </a:r>
          </a:p>
          <a:p>
            <a:pPr lvl="2">
              <a:spcBef>
                <a:spcPts val="200"/>
              </a:spcBef>
            </a:pPr>
            <a:endParaRPr lang="en-US" sz="1000" dirty="0">
              <a:solidFill>
                <a:srgbClr val="1E5AA0"/>
              </a:solidFill>
              <a:latin typeface="Aptos Display" panose="020B0004020202020204" pitchFamily="34" charset="0"/>
              <a:hlinkClick r:id="rId4"/>
            </a:endParaRP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Central Water Commission (CWC)</a:t>
            </a: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Hydrological observation and river monitoring</a:t>
            </a:r>
          </a:p>
          <a:p>
            <a:pPr lvl="2">
              <a:spcBef>
                <a:spcPts val="200"/>
              </a:spcBef>
            </a:pPr>
            <a:r>
              <a:rPr lang="en-US" sz="800" dirty="0">
                <a:solidFill>
                  <a:srgbClr val="0000FF"/>
                </a:solidFill>
                <a:latin typeface="Aptos Display" panose="020B0004020202020204" pitchFamily="34" charset="0"/>
                <a:hlinkClick r:id="rId4">
                  <a:extLst>
                    <a:ext uri="{A12FA001-AC4F-418D-AE19-62706E023703}">
                      <ahyp:hlinkClr xmlns:ahyp="http://schemas.microsoft.com/office/drawing/2018/hyperlinkcolor" val="tx"/>
                    </a:ext>
                  </a:extLst>
                </a:hlinkClick>
              </a:rPr>
              <a:t>  </a:t>
            </a:r>
            <a:r>
              <a:rPr lang="en-US" sz="800" dirty="0">
                <a:solidFill>
                  <a:srgbClr val="5E8CC3"/>
                </a:solidFill>
                <a:latin typeface="Aptos Display" panose="020B0004020202020204" pitchFamily="34" charset="0"/>
                <a:hlinkClick r:id="rId4">
                  <a:extLst>
                    <a:ext uri="{A12FA001-AC4F-418D-AE19-62706E023703}">
                      <ahyp:hlinkClr xmlns:ahyp="http://schemas.microsoft.com/office/drawing/2018/hyperlinkcolor" val="tx"/>
                    </a:ext>
                  </a:extLst>
                </a:hlinkClick>
              </a:rPr>
              <a:t>https://cwc.gov.in/hydro-meteorological-observation</a:t>
            </a:r>
          </a:p>
          <a:p>
            <a:pPr lvl="2">
              <a:spcBef>
                <a:spcPts val="200"/>
              </a:spcBef>
            </a:pPr>
            <a:endParaRPr lang="en-US" sz="1000" dirty="0">
              <a:solidFill>
                <a:srgbClr val="1E5AA0"/>
              </a:solidFill>
              <a:latin typeface="Aptos Display" panose="020B0004020202020204" pitchFamily="34" charset="0"/>
              <a:hlinkClick r:id="rId4"/>
            </a:endParaRP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India Meteorological Department (IMD)</a:t>
            </a: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Rainfall monitoring and meteorological information</a:t>
            </a:r>
          </a:p>
          <a:p>
            <a:pPr lvl="2">
              <a:spcBef>
                <a:spcPts val="200"/>
              </a:spcBef>
            </a:pPr>
            <a:r>
              <a:rPr lang="en-US" sz="800" dirty="0">
                <a:solidFill>
                  <a:srgbClr val="5E8CC3"/>
                </a:solidFill>
                <a:latin typeface="Aptos Display" panose="020B0004020202020204" pitchFamily="34" charset="0"/>
                <a:hlinkClick r:id="rId4">
                  <a:extLst>
                    <a:ext uri="{A12FA001-AC4F-418D-AE19-62706E023703}">
                      <ahyp:hlinkClr xmlns:ahyp="http://schemas.microsoft.com/office/drawing/2018/hyperlinkcolor" val="tx"/>
                    </a:ext>
                  </a:extLst>
                </a:hlinkClick>
              </a:rPr>
              <a:t>  https://mausam.imd.gov.in/responsive/rainfallinformation.php</a:t>
            </a:r>
          </a:p>
          <a:p>
            <a:pPr lvl="2">
              <a:spcBef>
                <a:spcPts val="200"/>
              </a:spcBef>
            </a:pPr>
            <a:endParaRPr lang="en-US" sz="1000" dirty="0">
              <a:solidFill>
                <a:srgbClr val="1E5AA0"/>
              </a:solidFill>
              <a:latin typeface="Aptos Display" panose="020B0004020202020204" pitchFamily="34" charset="0"/>
              <a:hlinkClick r:id="rId4"/>
            </a:endParaRP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Uttarakhand SDMA (USDMA)</a:t>
            </a:r>
          </a:p>
          <a:p>
            <a:pPr lvl="2">
              <a:spcBef>
                <a:spcPts val="200"/>
              </a:spcBef>
            </a:pPr>
            <a:r>
              <a:rPr lang="en-US" sz="800" b="1" dirty="0">
                <a:solidFill>
                  <a:schemeClr val="accent1">
                    <a:lumMod val="50000"/>
                  </a:schemeClr>
                </a:solidFill>
                <a:latin typeface="Aptos Display" panose="020B0004020202020204" pitchFamily="34" charset="0"/>
                <a:hlinkClick r:id="rId4">
                  <a:extLst>
                    <a:ext uri="{A12FA001-AC4F-418D-AE19-62706E023703}">
                      <ahyp:hlinkClr xmlns:ahyp="http://schemas.microsoft.com/office/drawing/2018/hyperlinkcolor" val="tx"/>
                    </a:ext>
                  </a:extLst>
                </a:hlinkClick>
              </a:rPr>
              <a:t>  State and district disaster-management information</a:t>
            </a:r>
          </a:p>
          <a:p>
            <a:pPr lvl="2">
              <a:spcBef>
                <a:spcPts val="200"/>
              </a:spcBef>
            </a:pPr>
            <a:r>
              <a:rPr lang="en-US" sz="800" dirty="0">
                <a:solidFill>
                  <a:srgbClr val="5E8CC3"/>
                </a:solidFill>
                <a:latin typeface="Aptos Display" panose="020B0004020202020204" pitchFamily="34" charset="0"/>
                <a:hlinkClick r:id="rId4">
                  <a:extLst>
                    <a:ext uri="{A12FA001-AC4F-418D-AE19-62706E023703}">
                      <ahyp:hlinkClr xmlns:ahyp="http://schemas.microsoft.com/office/drawing/2018/hyperlinkcolor" val="tx"/>
                    </a:ext>
                  </a:extLst>
                </a:hlinkClick>
              </a:rPr>
              <a:t>  https://usdma.uk.gov.in/documents/</a:t>
            </a:r>
          </a:p>
        </p:txBody>
      </p:sp>
      <p:sp>
        <p:nvSpPr>
          <p:cNvPr id="96" name="TextBox 95"/>
          <p:cNvSpPr txBox="1"/>
          <p:nvPr/>
        </p:nvSpPr>
        <p:spPr>
          <a:xfrm>
            <a:off x="6172200" y="1389888"/>
            <a:ext cx="5440680" cy="2769989"/>
          </a:xfrm>
          <a:prstGeom prst="rect">
            <a:avLst/>
          </a:prstGeom>
          <a:noFill/>
        </p:spPr>
        <p:txBody>
          <a:bodyPr wrap="square">
            <a:spAutoFit/>
          </a:bodyPr>
          <a:lstStyle/>
          <a:p>
            <a:pPr algn="ctr"/>
            <a:r>
              <a:rPr lang="en-IN" sz="1400" b="1" dirty="0">
                <a:solidFill>
                  <a:srgbClr val="23466E"/>
                </a:solidFill>
                <a:latin typeface="Arial"/>
              </a:rPr>
              <a:t>HARDWARE / SENSING</a:t>
            </a:r>
          </a:p>
          <a:p>
            <a:pPr lvl="1" algn="ctr"/>
            <a:endParaRPr lang="en-IN" sz="800" b="1" u="sng" dirty="0">
              <a:solidFill>
                <a:srgbClr val="23466E"/>
              </a:solidFill>
              <a:latin typeface="Arial"/>
            </a:endParaRPr>
          </a:p>
          <a:p>
            <a:pPr lvl="3"/>
            <a:r>
              <a:rPr lang="en-IN" sz="800" b="1" u="sng" dirty="0">
                <a:solidFill>
                  <a:srgbClr val="23466E"/>
                </a:solidFill>
                <a:latin typeface="Arial"/>
              </a:rPr>
              <a:t>• Espressif — ESP32</a:t>
            </a:r>
          </a:p>
          <a:p>
            <a:pPr lvl="3"/>
            <a:r>
              <a:rPr lang="en-IN" sz="800" b="1" u="sng" dirty="0">
                <a:solidFill>
                  <a:srgbClr val="23466E"/>
                </a:solidFill>
                <a:latin typeface="Arial"/>
              </a:rPr>
              <a:t>  Low-power MCU with wireless connectivity</a:t>
            </a:r>
          </a:p>
          <a:p>
            <a:pPr lvl="3"/>
            <a:r>
              <a:rPr lang="en-IN" sz="800" u="sng" dirty="0">
                <a:solidFill>
                  <a:schemeClr val="accent1"/>
                </a:solidFill>
                <a:latin typeface="Arial"/>
              </a:rPr>
              <a:t>  https://documentation.espressif.com/esp32_datasheet_en.html</a:t>
            </a:r>
          </a:p>
          <a:p>
            <a:pPr lvl="1" algn="ctr"/>
            <a:endParaRPr lang="en-IN" sz="800" b="1" u="sng" dirty="0">
              <a:solidFill>
                <a:srgbClr val="23466E"/>
              </a:solidFill>
              <a:latin typeface="Arial"/>
            </a:endParaRPr>
          </a:p>
          <a:p>
            <a:pPr lvl="3"/>
            <a:r>
              <a:rPr lang="en-IN" sz="800" b="1" u="sng" dirty="0">
                <a:solidFill>
                  <a:srgbClr val="23466E"/>
                </a:solidFill>
                <a:latin typeface="Arial"/>
              </a:rPr>
              <a:t>• Semtech — SX1262 LoRa transceiver</a:t>
            </a:r>
          </a:p>
          <a:p>
            <a:pPr lvl="3"/>
            <a:r>
              <a:rPr lang="en-IN" sz="800" b="1" u="sng" dirty="0">
                <a:solidFill>
                  <a:srgbClr val="23466E"/>
                </a:solidFill>
                <a:latin typeface="Arial"/>
              </a:rPr>
              <a:t>  Long-range, low-power link between nodes and gateway</a:t>
            </a:r>
          </a:p>
          <a:p>
            <a:pPr lvl="3"/>
            <a:r>
              <a:rPr lang="en-IN" sz="800" u="sng" dirty="0">
                <a:solidFill>
                  <a:schemeClr val="accent1"/>
                </a:solidFill>
                <a:latin typeface="Arial"/>
              </a:rPr>
              <a:t>  https://www.semtech.com/products/wireless-rf/lora-connect/sx1262</a:t>
            </a:r>
          </a:p>
          <a:p>
            <a:pPr lvl="1" algn="ctr"/>
            <a:endParaRPr lang="en-IN" sz="800" b="1" u="sng" dirty="0">
              <a:solidFill>
                <a:srgbClr val="23466E"/>
              </a:solidFill>
              <a:latin typeface="Arial"/>
            </a:endParaRPr>
          </a:p>
          <a:p>
            <a:pPr lvl="3"/>
            <a:r>
              <a:rPr lang="en-IN" sz="800" b="1" u="sng" dirty="0">
                <a:solidFill>
                  <a:srgbClr val="23466E"/>
                </a:solidFill>
                <a:latin typeface="Arial"/>
              </a:rPr>
              <a:t>• Analog Devices — ADXL345 accelerometer</a:t>
            </a:r>
          </a:p>
          <a:p>
            <a:pPr lvl="3"/>
            <a:r>
              <a:rPr lang="en-IN" sz="800" b="1" u="sng" dirty="0">
                <a:solidFill>
                  <a:srgbClr val="23466E"/>
                </a:solidFill>
                <a:latin typeface="Arial"/>
              </a:rPr>
              <a:t>  Vibration / frequency sensing for flash-flood signatures</a:t>
            </a:r>
          </a:p>
          <a:p>
            <a:pPr lvl="3"/>
            <a:r>
              <a:rPr lang="en-IN" sz="800" u="sng" dirty="0">
                <a:solidFill>
                  <a:schemeClr val="accent1"/>
                </a:solidFill>
                <a:latin typeface="Arial"/>
              </a:rPr>
              <a:t>  https://www.analog.com/en/products/adxl345.html</a:t>
            </a:r>
          </a:p>
          <a:p>
            <a:pPr lvl="1" algn="ctr"/>
            <a:endParaRPr lang="en-IN" sz="800" b="1" u="sng" dirty="0">
              <a:solidFill>
                <a:srgbClr val="23466E"/>
              </a:solidFill>
              <a:latin typeface="Arial"/>
            </a:endParaRPr>
          </a:p>
          <a:p>
            <a:pPr lvl="3"/>
            <a:r>
              <a:rPr lang="en-IN" sz="800" b="1" u="sng" dirty="0">
                <a:solidFill>
                  <a:schemeClr val="accent1">
                    <a:lumMod val="50000"/>
                  </a:schemeClr>
                </a:solidFill>
                <a:latin typeface="Arial"/>
              </a:rPr>
              <a:t>• OpenCV</a:t>
            </a:r>
          </a:p>
          <a:p>
            <a:pPr lvl="3"/>
            <a:r>
              <a:rPr lang="en-IN" sz="800" b="1" u="sng" dirty="0">
                <a:solidFill>
                  <a:schemeClr val="accent1">
                    <a:lumMod val="50000"/>
                  </a:schemeClr>
                </a:solidFill>
                <a:latin typeface="Arial"/>
              </a:rPr>
              <a:t>  On-node camera processing — result and confidence only</a:t>
            </a:r>
          </a:p>
          <a:p>
            <a:pPr lvl="3"/>
            <a:r>
              <a:rPr lang="en-IN" sz="800" u="sng" dirty="0">
                <a:solidFill>
                  <a:schemeClr val="accent1"/>
                </a:solidFill>
                <a:latin typeface="Arial"/>
              </a:rPr>
              <a:t>  https://opencv.org/</a:t>
            </a:r>
          </a:p>
          <a:p>
            <a:pPr lvl="1" algn="ctr"/>
            <a:endParaRPr lang="en-IN" sz="800" b="1" u="sng" dirty="0">
              <a:solidFill>
                <a:srgbClr val="23466E"/>
              </a:solidFill>
              <a:latin typeface="Arial"/>
            </a:endParaRPr>
          </a:p>
          <a:p>
            <a:pPr lvl="3"/>
            <a:r>
              <a:rPr lang="en-IN" sz="800" b="1" u="sng" dirty="0">
                <a:solidFill>
                  <a:schemeClr val="accent1">
                    <a:lumMod val="50000"/>
                  </a:schemeClr>
                </a:solidFill>
                <a:latin typeface="Arial"/>
              </a:rPr>
              <a:t>• Analog Devices — DS3231 RTC</a:t>
            </a:r>
          </a:p>
          <a:p>
            <a:pPr lvl="3"/>
            <a:r>
              <a:rPr lang="en-IN" sz="800" b="1" u="sng" dirty="0">
                <a:solidFill>
                  <a:schemeClr val="accent1">
                    <a:lumMod val="50000"/>
                  </a:schemeClr>
                </a:solidFill>
                <a:latin typeface="Arial"/>
              </a:rPr>
              <a:t>  High-accuracy real-time clock for timestamping</a:t>
            </a:r>
          </a:p>
          <a:p>
            <a:pPr lvl="3"/>
            <a:r>
              <a:rPr lang="en-IN" sz="800" u="sng" dirty="0">
                <a:solidFill>
                  <a:schemeClr val="accent1"/>
                </a:solidFill>
                <a:latin typeface="Arial"/>
              </a:rPr>
              <a:t>  https://www.analog.com/en/products/ds3231.html</a:t>
            </a:r>
          </a:p>
        </p:txBody>
      </p:sp>
      <p:sp>
        <p:nvSpPr>
          <p:cNvPr id="3" name="TextBox 2">
            <a:extLst>
              <a:ext uri="{FF2B5EF4-FFF2-40B4-BE49-F238E27FC236}">
                <a16:creationId xmlns:a16="http://schemas.microsoft.com/office/drawing/2014/main" id="{99DAFA8E-7F66-9808-048D-CD26173274B8}"/>
              </a:ext>
            </a:extLst>
          </p:cNvPr>
          <p:cNvSpPr txBox="1"/>
          <p:nvPr/>
        </p:nvSpPr>
        <p:spPr>
          <a:xfrm>
            <a:off x="6172200" y="4526280"/>
            <a:ext cx="5440680" cy="1292662"/>
          </a:xfrm>
          <a:prstGeom prst="rect">
            <a:avLst/>
          </a:prstGeom>
          <a:noFill/>
        </p:spPr>
        <p:txBody>
          <a:bodyPr wrap="square">
            <a:spAutoFit/>
          </a:bodyPr>
          <a:lstStyle/>
          <a:p>
            <a:pPr algn="ctr"/>
            <a:r>
              <a:rPr lang="en-IN" sz="1400" b="1" dirty="0">
                <a:solidFill>
                  <a:srgbClr val="23466E"/>
                </a:solidFill>
                <a:latin typeface="Arial"/>
              </a:rPr>
              <a:t>PRIOR IMPLEMENTATION</a:t>
            </a:r>
          </a:p>
          <a:p>
            <a:pPr lvl="1" algn="ctr"/>
            <a:endParaRPr lang="en-IN" sz="800" b="1" u="sng" dirty="0">
              <a:solidFill>
                <a:srgbClr val="23466E"/>
              </a:solidFill>
              <a:latin typeface="Arial"/>
            </a:endParaRPr>
          </a:p>
          <a:p>
            <a:pPr lvl="3"/>
            <a:r>
              <a:rPr lang="en-IN" sz="800" b="1" u="sng" dirty="0">
                <a:solidFill>
                  <a:srgbClr val="23466E"/>
                </a:solidFill>
                <a:latin typeface="Arial"/>
              </a:rPr>
              <a:t>• CrashLink — Previous LoRa prototype by Team VE GA</a:t>
            </a:r>
          </a:p>
          <a:p>
            <a:pPr lvl="3"/>
            <a:r>
              <a:rPr lang="en-IN" sz="800" b="1" u="sng" dirty="0">
                <a:solidFill>
                  <a:srgbClr val="23466E"/>
                </a:solidFill>
                <a:latin typeface="Arial"/>
              </a:rPr>
              <a:t>  ESP32 + LoRa distributed alert communication</a:t>
            </a:r>
          </a:p>
          <a:p>
            <a:pPr lvl="3"/>
            <a:r>
              <a:rPr lang="en-IN" sz="800" u="sng" dirty="0">
                <a:solidFill>
                  <a:schemeClr val="accent1"/>
                </a:solidFill>
                <a:latin typeface="Arial"/>
              </a:rPr>
              <a:t>  </a:t>
            </a:r>
            <a:r>
              <a:rPr lang="en-IN" sz="800" u="sng" dirty="0">
                <a:solidFill>
                  <a:schemeClr val="accent1"/>
                </a:solidFill>
                <a:latin typeface="Arial"/>
                <a:hlinkClick r:id="rId5"/>
              </a:rPr>
              <a:t>https://github.com/surajjha0622/CrashLink</a:t>
            </a:r>
            <a:br>
              <a:rPr lang="en-IN" sz="800" u="sng" dirty="0">
                <a:solidFill>
                  <a:schemeClr val="accent1"/>
                </a:solidFill>
                <a:latin typeface="Arial"/>
              </a:rPr>
            </a:br>
            <a:br>
              <a:rPr lang="en-IN" sz="800" u="sng" dirty="0">
                <a:solidFill>
                  <a:schemeClr val="accent1"/>
                </a:solidFill>
                <a:latin typeface="Arial"/>
              </a:rPr>
            </a:br>
            <a:br>
              <a:rPr lang="en-IN" sz="800" u="sng" dirty="0">
                <a:solidFill>
                  <a:schemeClr val="accent1"/>
                </a:solidFill>
                <a:latin typeface="Arial"/>
              </a:rPr>
            </a:br>
            <a:r>
              <a:rPr lang="en-IN" sz="800" b="1" u="sng" dirty="0">
                <a:solidFill>
                  <a:srgbClr val="23466E"/>
                </a:solidFill>
                <a:latin typeface="Arial"/>
              </a:rPr>
              <a:t>• https://cdn.hackclub.com/01a0ede5-a87b-7dbc-aa6c-1d46db80e490/WhatsApp%20Video%202026-09-29%20at%206.24.38%20PM.mp4</a:t>
            </a:r>
            <a:endParaRPr lang="en-IN" sz="800" u="sng" dirty="0">
              <a:solidFill>
                <a:schemeClr val="accent1"/>
              </a:solidFill>
              <a:latin typeface="Arial"/>
            </a:endParaRPr>
          </a:p>
        </p:txBody>
      </p:sp>
    </p:spTree>
    <p:extLst>
      <p:ext uri="{BB962C8B-B14F-4D97-AF65-F5344CB8AC3E}">
        <p14:creationId xmlns:p14="http://schemas.microsoft.com/office/powerpoint/2010/main" val="772826554"/>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9188</TotalTime>
  <Words>1475</Words>
  <Application>Microsoft Office PowerPoint</Application>
  <PresentationFormat>Widescreen</PresentationFormat>
  <Paragraphs>190</Paragraphs>
  <Slides>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Aptos</vt:lpstr>
      <vt:lpstr>Aptos Display</vt:lpstr>
      <vt:lpstr>Arial</vt:lpstr>
      <vt:lpstr>Calibri</vt:lpstr>
      <vt:lpstr>Garamond</vt:lpstr>
      <vt:lpstr>Georgia</vt:lpstr>
      <vt:lpstr>Times New Roman</vt:lpstr>
      <vt:lpstr>TradeGothic</vt:lpstr>
      <vt:lpstr>Office Theme</vt:lpstr>
      <vt:lpstr>SMART INDIA HACKATHON 2026</vt:lpstr>
      <vt:lpstr>SUCHAK — FLOOD EARLY-WARNING SYSTEM</vt:lpstr>
      <vt:lpstr>TECHNICAL APPROACH</vt:lpstr>
      <vt:lpstr>FEASIBILITY AND VIABILITY</vt:lpstr>
      <vt:lpstr>IMPACT AND BENEFITS</vt:lpstr>
      <vt:lpstr>RESEARCH  AND REFERENCES</vt:lpstr>
    </vt:vector>
  </TitlesOfParts>
  <Company>Crowdfunder,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Suraj Jha</cp:lastModifiedBy>
  <cp:revision>172</cp:revision>
  <dcterms:created xsi:type="dcterms:W3CDTF">2013-12-12T18:46:50Z</dcterms:created>
  <dcterms:modified xsi:type="dcterms:W3CDTF">2026-09-29T17:08:15Z</dcterms:modified>
</cp:coreProperties>
</file>